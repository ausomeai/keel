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A6472"/>
                </a:solidFill>
                <a:latin typeface="Calibri"/>
              </a:defRPr>
            </a:pPr>
            <a:r>
              <a:rPr sz="1200" b="0" i="0" u="none" strike="noStrike">
                <a:solidFill>
                  <a:srgbClr val="5A6472"/>
                </a:solidFill>
                <a:latin typeface="Calibri"/>
              </a:rPr>
              <a:t>ARR ($M)</a:t>
            </a:r>
          </a:p>
        </c:rich>
      </c:tx>
      <c:layout/>
      <c:overlay val="0"/>
    </c:title>
    <c:autoTitleDeleted val="0"/>
    <c:plotArea>
      <c:layout/>
      <c:barChart>
        <c:barDir val="col"/>
        <c:grouping val="stacked"/>
        <c:varyColors val="0"/>
        <c:ser>
          <c:idx val="0"/>
          <c:order val="0"/>
          <c:tx>
            <c:strRef>
              <c:f>Sheet1!$B$1</c:f>
              <c:strCache>
                <c:ptCount val="1"/>
                <c:pt idx="0">
                  <c:v>Deterministic Core</c:v>
                </c:pt>
              </c:strCache>
            </c:strRef>
          </c:tx>
          <c:spPr>
            <a:solidFill>
              <a:srgbClr val="1E276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1.8</c:v>
                </c:pt>
                <c:pt idx="1">
                  <c:v>8.4</c:v>
                </c:pt>
                <c:pt idx="2">
                  <c:v>24</c:v>
                </c:pt>
                <c:pt idx="3">
                  <c:v>49</c:v>
                </c:pt>
                <c:pt idx="4">
                  <c:v>82</c:v>
                </c:pt>
              </c:numCache>
            </c:numRef>
          </c:val>
        </c:ser>
        <c:ser>
          <c:idx val="1"/>
          <c:order val="1"/>
          <c:tx>
            <c:strRef>
              <c:f>Sheet1!$C$1</c:f>
              <c:strCache>
                <c:ptCount val="1"/>
                <c:pt idx="0">
                  <c:v>Agent Plane</c:v>
                </c:pt>
              </c:strCache>
            </c:strRef>
          </c:tx>
          <c:spPr>
            <a:solidFill>
              <a:srgbClr val="F5A62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0.2</c:v>
                </c:pt>
                <c:pt idx="1">
                  <c:v>3.1</c:v>
                </c:pt>
                <c:pt idx="2">
                  <c:v>12</c:v>
                </c:pt>
                <c:pt idx="3">
                  <c:v>27</c:v>
                </c:pt>
                <c:pt idx="4">
                  <c:v>48</c:v>
                </c:pt>
              </c:numCache>
            </c:numRef>
          </c:val>
        </c:ser>
        <c:ser>
          <c:idx val="2"/>
          <c:order val="2"/>
          <c:tx>
            <c:strRef>
              <c:f>Sheet1!$D$1</c:f>
              <c:strCache>
                <c:ptCount val="1"/>
                <c:pt idx="0">
                  <c:v>Jurisdiction Packs</c:v>
                </c:pt>
              </c:strCache>
            </c:strRef>
          </c:tx>
          <c:spPr>
            <a:solidFill>
              <a:srgbClr val="8C97A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Sheet1!$D$2:$D$6</c:f>
              <c:numCache>
                <c:formatCode>General</c:formatCode>
                <c:ptCount val="5"/>
                <c:pt idx="0">
                  <c:v>0.1</c:v>
                </c:pt>
                <c:pt idx="1">
                  <c:v>0.9</c:v>
                </c:pt>
                <c:pt idx="2">
                  <c:v>3.4</c:v>
                </c:pt>
                <c:pt idx="3">
                  <c:v>8</c:v>
                </c:pt>
                <c:pt idx="4">
                  <c:v>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472"/>
                </a:solidFill>
                <a:latin typeface="Calibri"/>
              </a:defRPr>
            </a:pPr>
            <a:endParaRPr lang="en-US"/>
          </a:p>
        </c:txPr>
        <c:crossAx val="2094734552"/>
        <c:crosses val="autoZero"/>
        <c:auto val="1"/>
        <c:lblAlgn val="ctr"/>
        <c:noMultiLvlLbl val="1"/>
      </c:catAx>
      <c:valAx>
        <c:axId val="2094734552"/>
        <c:scaling>
          <c:orientation val="minMax"/>
          <c:max val="160"/>
        </c:scaling>
        <c:delete val="0"/>
        <c:axPos val="l"/>
        <c:majorGridlines>
          <c:spPr>
            <a:ln w="12700" cap="flat">
              <a:solidFill>
                <a:srgbClr val="EDF1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A6472"/>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line, not the market. Every HR vendor is racing to add agents to systems that were never built to be audited or safely automated. We inverted the order: deterministic core first, governed agents on top. The result is the only HR system you can safely give autonomy to, because it is the only one you can safely take autonomy away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beats. The fourth is the one to land on — it is the gap we build the company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this land as AI pessimism. The point is precise: the failure mode is governance, and governance is architecture. That is exactly what we 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whole pitch. If they remember one thing, it is the two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of the design: if you deleted the entire agent plane, the Control Gate would still be the correct API for the manual UI. It is not an AI safety wrapper. It is the transaction boundary that agents happen to also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investor pushes on defensibility, this is the slide. Workday spent ~$3B and years on ASOR and it still governs agents from outside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commercial expression: a Continuity SLA per level, annual third-party attestation, and a contract clause that says if you disable AI permanently the platform stays fully warranted at the same core price. A vendor whose payroll engine needs an inference layer cannot sign that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module-by-module detail — manual path, agent capability, autonomy ceiling, L3 behaviour, build horizon — is in the Module &amp; Continuity Matrix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Workday's Agent System of Record is the closest thing in market and it is a register beside the HR system. Ours is inside it, using the same lifecycle machinery — so an agent's cost lands in the same cost centre report as a contractor's.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regulatory clock is the one that creates budget. The architectural clock is the one that creates the moat. The commercial clock is the one that creates urgency for the investor.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the incumbents are bad. Claim they are optimising a different variable. Every one of them is racing on autonomy; nobody is racing on reversibility.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variance report is the single most persuasive document you can put in front of a CFO. It costs us real money to produce, which is why we charge it to CAC and not to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not starting in the US is a decision, not a limitation. ADP's payroll compliance moat is the deepest in the industry and the sales cycle is the most crowded.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the LTV:CAC in the model (~10x), answer honestly: a ratio that high usually means under-investment in distribution. We would treat it as a signal to spend more, and we expect it to compress toward 4-5x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sequencing question investors ask is 'why not ship agents first for the demo?' Answer: because the manual-first rule is the product. Breaking it once would make the continuity claim unprovable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this clearly as illustrative. The shape of the curve is the argument — deterministic core first, agents compounding on an installed base — not the specific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we can make the customer's data fully exportable and still hold the position — what they would lose by leaving is the replayability, not the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this slide. An investor who doesn't hear the risk list from the founder assumes it hasn't been thought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milestone, not the money. It is the only milestone in HR tech that a competitor cannot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here. Do not add a thank-you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686800" y="-1737360"/>
            <a:ext cx="5852160" cy="5852160"/>
          </a:xfrm>
          <a:prstGeom prst="ellipse">
            <a:avLst/>
          </a:prstGeom>
          <a:solidFill>
            <a:srgbClr val="141B45"/>
          </a:solidFill>
          <a:ln/>
        </p:spPr>
      </p:sp>
      <p:sp>
        <p:nvSpPr>
          <p:cNvPr id="3" name="Shape 1"/>
          <p:cNvSpPr/>
          <p:nvPr/>
        </p:nvSpPr>
        <p:spPr>
          <a:xfrm>
            <a:off x="9966960" y="3566160"/>
            <a:ext cx="3291840" cy="3291840"/>
          </a:xfrm>
          <a:prstGeom prst="ellipse">
            <a:avLst/>
          </a:prstGeom>
          <a:solidFill>
            <a:srgbClr val="263070"/>
          </a:solidFill>
          <a:ln/>
        </p:spPr>
      </p:sp>
      <p:sp>
        <p:nvSpPr>
          <p:cNvPr id="4" name="Text 2"/>
          <p:cNvSpPr txBox="1"/>
          <p:nvPr/>
        </p:nvSpPr>
        <p:spPr>
          <a:xfrm>
            <a:off x="640080" y="1600200"/>
            <a:ext cx="7315200" cy="1051560"/>
          </a:xfrm>
          <a:prstGeom prst="rect">
            <a:avLst/>
          </a:prstGeom>
          <a:noFill/>
          <a:ln/>
        </p:spPr>
        <p:txBody>
          <a:bodyPr wrap="square" lIns="0" tIns="0" rIns="0" bIns="0" rtlCol="0" anchor="ctr"/>
          <a:lstStyle/>
          <a:p>
            <a:pPr indent="0" marL="0">
              <a:buNone/>
            </a:pPr>
            <a:r>
              <a:rPr lang="en-US" sz="6800" b="1" spc="600" kern="0" dirty="0">
                <a:solidFill>
                  <a:srgbClr val="FFFFFF"/>
                </a:solidFill>
                <a:latin typeface="Cambria" pitchFamily="34" charset="0"/>
                <a:ea typeface="Cambria" pitchFamily="34" charset="-122"/>
                <a:cs typeface="Cambria" pitchFamily="34" charset="-120"/>
              </a:rPr>
              <a:t>KEEL</a:t>
            </a:r>
            <a:endParaRPr lang="en-US" sz="6800" dirty="0"/>
          </a:p>
        </p:txBody>
      </p:sp>
      <p:sp>
        <p:nvSpPr>
          <p:cNvPr id="5" name="Text 3"/>
          <p:cNvSpPr txBox="1"/>
          <p:nvPr/>
        </p:nvSpPr>
        <p:spPr>
          <a:xfrm>
            <a:off x="640080" y="2697480"/>
            <a:ext cx="7680960" cy="502920"/>
          </a:xfrm>
          <a:prstGeom prst="rect">
            <a:avLst/>
          </a:prstGeom>
          <a:noFill/>
          <a:ln/>
        </p:spPr>
        <p:txBody>
          <a:bodyPr wrap="square" lIns="0" tIns="0" rIns="0" bIns="0" rtlCol="0" anchor="ctr"/>
          <a:lstStyle/>
          <a:p>
            <a:pPr indent="0" marL="0">
              <a:buNone/>
            </a:pPr>
            <a:r>
              <a:rPr lang="en-US" sz="2500" dirty="0">
                <a:solidFill>
                  <a:srgbClr val="CADCFC"/>
                </a:solidFill>
                <a:latin typeface="Cambria" pitchFamily="34" charset="0"/>
                <a:ea typeface="Cambria" pitchFamily="34" charset="-122"/>
                <a:cs typeface="Cambria" pitchFamily="34" charset="-120"/>
              </a:rPr>
              <a:t>The Agentic HR Operating System</a:t>
            </a:r>
            <a:endParaRPr lang="en-US" sz="2500" dirty="0"/>
          </a:p>
        </p:txBody>
      </p:sp>
      <p:sp>
        <p:nvSpPr>
          <p:cNvPr id="6" name="Shape 4"/>
          <p:cNvSpPr/>
          <p:nvPr/>
        </p:nvSpPr>
        <p:spPr>
          <a:xfrm>
            <a:off x="640080" y="3401568"/>
            <a:ext cx="1371600" cy="32004"/>
          </a:xfrm>
          <a:prstGeom prst="rect">
            <a:avLst/>
          </a:prstGeom>
          <a:solidFill>
            <a:srgbClr val="F5A623"/>
          </a:solidFill>
          <a:ln/>
        </p:spPr>
      </p:sp>
      <p:sp>
        <p:nvSpPr>
          <p:cNvPr id="7" name="Text 5"/>
          <p:cNvSpPr txBox="1"/>
          <p:nvPr/>
        </p:nvSpPr>
        <p:spPr>
          <a:xfrm>
            <a:off x="640080" y="3657600"/>
            <a:ext cx="6766560" cy="914400"/>
          </a:xfrm>
          <a:prstGeom prst="rect">
            <a:avLst/>
          </a:prstGeom>
          <a:noFill/>
          <a:ln/>
        </p:spPr>
        <p:txBody>
          <a:bodyPr wrap="square" lIns="0" tIns="0" rIns="0" bIns="0" rtlCol="0" anchor="ctr"/>
          <a:lstStyle/>
          <a:p>
            <a:pPr indent="0" marL="0">
              <a:lnSpc>
                <a:spcPts val="2700"/>
              </a:lnSpc>
              <a:buNone/>
            </a:pPr>
            <a:r>
              <a:rPr lang="en-US" sz="1900" i="1" dirty="0">
                <a:solidFill>
                  <a:srgbClr val="FFFFFF"/>
                </a:solidFill>
                <a:latin typeface="Calibri" pitchFamily="34" charset="0"/>
                <a:ea typeface="Calibri" pitchFamily="34" charset="-122"/>
                <a:cs typeface="Calibri" pitchFamily="34" charset="-120"/>
              </a:rPr>
              <a:t>Agents on top.</a:t>
            </a:r>
            <a:endParaRPr lang="en-US" sz="1900" dirty="0"/>
          </a:p>
          <a:p>
            <a:pPr indent="0" marL="0">
              <a:lnSpc>
                <a:spcPts val="2700"/>
              </a:lnSpc>
              <a:buNone/>
            </a:pPr>
            <a:r>
              <a:rPr lang="en-US" sz="1900" i="1" dirty="0">
                <a:solidFill>
                  <a:srgbClr val="FFFFFF"/>
                </a:solidFill>
                <a:latin typeface="Calibri" pitchFamily="34" charset="0"/>
                <a:ea typeface="Calibri" pitchFamily="34" charset="-122"/>
                <a:cs typeface="Calibri" pitchFamily="34" charset="-120"/>
              </a:rPr>
              <a:t>Deterministic core underneath.</a:t>
            </a:r>
            <a:endParaRPr lang="en-US" sz="1900" dirty="0"/>
          </a:p>
        </p:txBody>
      </p:sp>
      <p:sp>
        <p:nvSpPr>
          <p:cNvPr id="8" name="Text 6"/>
          <p:cNvSpPr txBox="1"/>
          <p:nvPr/>
        </p:nvSpPr>
        <p:spPr>
          <a:xfrm>
            <a:off x="640080" y="5852160"/>
            <a:ext cx="7315200" cy="29260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Series A  ·  August 2026  ·  Confidential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8229600" cy="256032"/>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THE PROBLEM</a:t>
            </a:r>
            <a:endParaRPr lang="en-US" sz="10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Everyone is bolting agents onto a batch-era core</a:t>
            </a:r>
            <a:endParaRPr lang="en-US" sz="3200" dirty="0"/>
          </a:p>
        </p:txBody>
      </p:sp>
      <p:sp>
        <p:nvSpPr>
          <p:cNvPr id="4" name="Shape 2"/>
          <p:cNvSpPr/>
          <p:nvPr/>
        </p:nvSpPr>
        <p:spPr>
          <a:xfrm>
            <a:off x="640080" y="1737360"/>
            <a:ext cx="384048" cy="384048"/>
          </a:xfrm>
          <a:prstGeom prst="ellipse">
            <a:avLst/>
          </a:prstGeom>
          <a:solidFill>
            <a:srgbClr val="F5A623"/>
          </a:solidFill>
          <a:ln/>
        </p:spPr>
      </p:sp>
      <p:sp>
        <p:nvSpPr>
          <p:cNvPr id="5" name="Text 3"/>
          <p:cNvSpPr txBox="1"/>
          <p:nvPr/>
        </p:nvSpPr>
        <p:spPr>
          <a:xfrm>
            <a:off x="640080" y="1737360"/>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243584" y="1691640"/>
            <a:ext cx="10241280" cy="292608"/>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The substrate never changed</a:t>
            </a:r>
            <a:endParaRPr lang="en-US" sz="1650" dirty="0"/>
          </a:p>
        </p:txBody>
      </p:sp>
      <p:sp>
        <p:nvSpPr>
          <p:cNvPr id="7" name="Text 5"/>
          <p:cNvSpPr txBox="1"/>
          <p:nvPr/>
        </p:nvSpPr>
        <p:spPr>
          <a:xfrm>
            <a:off x="1243584" y="2002536"/>
            <a:ext cx="10241280" cy="566928"/>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Workday, SAP, Oracle, UKG and Dayforce all shipped HR agents in the last four quarters. Not one replaced the record store underneath. Their agents are smarter API clients on systems that cannot be replayed.</a:t>
            </a:r>
            <a:endParaRPr lang="en-US" sz="1250" dirty="0"/>
          </a:p>
        </p:txBody>
      </p:sp>
      <p:sp>
        <p:nvSpPr>
          <p:cNvPr id="8" name="Shape 6"/>
          <p:cNvSpPr/>
          <p:nvPr/>
        </p:nvSpPr>
        <p:spPr>
          <a:xfrm>
            <a:off x="640080" y="2798064"/>
            <a:ext cx="384048" cy="384048"/>
          </a:xfrm>
          <a:prstGeom prst="ellipse">
            <a:avLst/>
          </a:prstGeom>
          <a:solidFill>
            <a:srgbClr val="F5A623"/>
          </a:solidFill>
          <a:ln/>
        </p:spPr>
      </p:sp>
      <p:sp>
        <p:nvSpPr>
          <p:cNvPr id="9" name="Text 7"/>
          <p:cNvSpPr txBox="1"/>
          <p:nvPr/>
        </p:nvSpPr>
        <p:spPr>
          <a:xfrm>
            <a:off x="640080" y="2798064"/>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1243584" y="2752344"/>
            <a:ext cx="10241280" cy="292608"/>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The market already ran the experiment</a:t>
            </a:r>
            <a:endParaRPr lang="en-US" sz="1650" dirty="0"/>
          </a:p>
        </p:txBody>
      </p:sp>
      <p:sp>
        <p:nvSpPr>
          <p:cNvPr id="11" name="Text 9"/>
          <p:cNvSpPr txBox="1"/>
          <p:nvPr/>
        </p:nvSpPr>
        <p:spPr>
          <a:xfrm>
            <a:off x="1243584" y="3063240"/>
            <a:ext cx="10241280" cy="566928"/>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Gartner: over 40% of agentic AI projects will be cancelled by end-2027 — for escalating cost, unclear value and inadequate risk controls. Adoption is near 80%; production deployment sits at 10–15%.</a:t>
            </a:r>
            <a:endParaRPr lang="en-US" sz="1250" dirty="0"/>
          </a:p>
        </p:txBody>
      </p:sp>
      <p:sp>
        <p:nvSpPr>
          <p:cNvPr id="12" name="Shape 10"/>
          <p:cNvSpPr/>
          <p:nvPr/>
        </p:nvSpPr>
        <p:spPr>
          <a:xfrm>
            <a:off x="640080" y="3858768"/>
            <a:ext cx="384048" cy="384048"/>
          </a:xfrm>
          <a:prstGeom prst="ellipse">
            <a:avLst/>
          </a:prstGeom>
          <a:solidFill>
            <a:srgbClr val="F5A623"/>
          </a:solidFill>
          <a:ln/>
        </p:spPr>
      </p:sp>
      <p:sp>
        <p:nvSpPr>
          <p:cNvPr id="13" name="Text 11"/>
          <p:cNvSpPr txBox="1"/>
          <p:nvPr/>
        </p:nvSpPr>
        <p:spPr>
          <a:xfrm>
            <a:off x="640080" y="3858768"/>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1243584" y="3813048"/>
            <a:ext cx="10241280" cy="292608"/>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HR is the worst place to be wrong</a:t>
            </a:r>
            <a:endParaRPr lang="en-US" sz="1650" dirty="0"/>
          </a:p>
        </p:txBody>
      </p:sp>
      <p:sp>
        <p:nvSpPr>
          <p:cNvPr id="15" name="Text 13"/>
          <p:cNvSpPr txBox="1"/>
          <p:nvPr/>
        </p:nvSpPr>
        <p:spPr>
          <a:xfrm>
            <a:off x="1243584" y="4123944"/>
            <a:ext cx="10241280" cy="566928"/>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Pay. Promotion. Discipline. Termination. A hallucination here is a wage claim, a discrimination suit or a works-council dispute — not a bad summary.</a:t>
            </a:r>
            <a:endParaRPr lang="en-US" sz="1250" dirty="0"/>
          </a:p>
        </p:txBody>
      </p:sp>
      <p:sp>
        <p:nvSpPr>
          <p:cNvPr id="16" name="Shape 14"/>
          <p:cNvSpPr/>
          <p:nvPr/>
        </p:nvSpPr>
        <p:spPr>
          <a:xfrm>
            <a:off x="640080" y="4919472"/>
            <a:ext cx="384048" cy="384048"/>
          </a:xfrm>
          <a:prstGeom prst="ellipse">
            <a:avLst/>
          </a:prstGeom>
          <a:solidFill>
            <a:srgbClr val="F5A623"/>
          </a:solidFill>
          <a:ln/>
        </p:spPr>
      </p:sp>
      <p:sp>
        <p:nvSpPr>
          <p:cNvPr id="17" name="Text 15"/>
          <p:cNvSpPr txBox="1"/>
          <p:nvPr/>
        </p:nvSpPr>
        <p:spPr>
          <a:xfrm>
            <a:off x="640080" y="4919472"/>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243584" y="4873752"/>
            <a:ext cx="10241280" cy="292608"/>
          </a:xfrm>
          <a:prstGeom prst="rect">
            <a:avLst/>
          </a:prstGeom>
          <a:noFill/>
          <a:ln/>
        </p:spPr>
        <p:txBody>
          <a:bodyPr wrap="square" lIns="0" tIns="0" rIns="0" bIns="0" rtlCol="0" anchor="ctr"/>
          <a:lstStyle/>
          <a:p>
            <a:pPr indent="0" marL="0">
              <a:buNone/>
            </a:pPr>
            <a:r>
              <a:rPr lang="en-US" sz="1650" b="1" dirty="0">
                <a:solidFill>
                  <a:srgbClr val="1E2761"/>
                </a:solidFill>
                <a:latin typeface="Calibri" pitchFamily="34" charset="0"/>
                <a:ea typeface="Calibri" pitchFamily="34" charset="-122"/>
                <a:cs typeface="Calibri" pitchFamily="34" charset="-120"/>
              </a:rPr>
              <a:t>Nobody publishes what happens when it breaks</a:t>
            </a:r>
            <a:endParaRPr lang="en-US" sz="1650" dirty="0"/>
          </a:p>
        </p:txBody>
      </p:sp>
      <p:sp>
        <p:nvSpPr>
          <p:cNvPr id="19" name="Text 17"/>
          <p:cNvSpPr txBox="1"/>
          <p:nvPr/>
        </p:nvSpPr>
        <p:spPr>
          <a:xfrm>
            <a:off x="1243584" y="5184648"/>
            <a:ext cx="10241280" cy="566928"/>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Not one vendor states what their HRIS does when the model provider is down, the agent budget is exhausted, or counsel orders AI disabled pending an investigation.</a:t>
            </a:r>
            <a:endParaRPr lang="en-US" sz="1250" dirty="0"/>
          </a:p>
        </p:txBody>
      </p:sp>
      <p:sp>
        <p:nvSpPr>
          <p:cNvPr id="20" name="Text 18"/>
          <p:cNvSpPr txBox="1"/>
          <p:nvPr/>
        </p:nvSpPr>
        <p:spPr>
          <a:xfrm>
            <a:off x="640080" y="6400800"/>
            <a:ext cx="10908792" cy="237744"/>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Sources: Gartner agentic AI forecast (Jun 2025, reaffirmed Jul 2026); vendor product announcements Sep 2025 – Aug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alibri" pitchFamily="34" charset="0"/>
                <a:ea typeface="Calibri" pitchFamily="34" charset="-122"/>
                <a:cs typeface="Calibri" pitchFamily="34" charset="-120"/>
              </a:rPr>
              <a:t>THE EVIDENCE</a:t>
            </a:r>
            <a:endParaRPr lang="en-US" sz="1100" dirty="0"/>
          </a:p>
        </p:txBody>
      </p:sp>
      <p:sp>
        <p:nvSpPr>
          <p:cNvPr id="3" name="Text 1"/>
          <p:cNvSpPr txBox="1"/>
          <p:nvPr/>
        </p:nvSpPr>
        <p:spPr>
          <a:xfrm>
            <a:off x="640080" y="777240"/>
            <a:ext cx="108813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Agents work. Ungoverned agents don't.</a:t>
            </a:r>
            <a:endParaRPr lang="en-US" sz="3400" dirty="0"/>
          </a:p>
        </p:txBody>
      </p:sp>
      <p:sp>
        <p:nvSpPr>
          <p:cNvPr id="4" name="Shape 2"/>
          <p:cNvSpPr/>
          <p:nvPr/>
        </p:nvSpPr>
        <p:spPr>
          <a:xfrm>
            <a:off x="640080" y="1874520"/>
            <a:ext cx="3520440" cy="1600200"/>
          </a:xfrm>
          <a:prstGeom prst="roundRect">
            <a:avLst>
              <a:gd name="adj" fmla="val 4571"/>
            </a:avLst>
          </a:prstGeom>
          <a:solidFill>
            <a:srgbClr val="141B45"/>
          </a:solidFill>
          <a:ln w="9525">
            <a:solidFill>
              <a:srgbClr val="35407C"/>
            </a:solidFill>
            <a:prstDash val="solid"/>
          </a:ln>
        </p:spPr>
      </p:sp>
      <p:sp>
        <p:nvSpPr>
          <p:cNvPr id="5" name="Text 3"/>
          <p:cNvSpPr txBox="1"/>
          <p:nvPr/>
        </p:nvSpPr>
        <p:spPr>
          <a:xfrm>
            <a:off x="896112" y="2020824"/>
            <a:ext cx="3017520" cy="658368"/>
          </a:xfrm>
          <a:prstGeom prst="rect">
            <a:avLst/>
          </a:prstGeom>
          <a:noFill/>
          <a:ln/>
        </p:spPr>
        <p:txBody>
          <a:bodyPr wrap="square" lIns="0" tIns="0" rIns="0" bIns="0" rtlCol="0" anchor="ctr"/>
          <a:lstStyle/>
          <a:p>
            <a:pPr indent="0" marL="0">
              <a:buNone/>
            </a:pPr>
            <a:r>
              <a:rPr lang="en-US" sz="4000" b="1" dirty="0">
                <a:solidFill>
                  <a:srgbClr val="F5A623"/>
                </a:solidFill>
                <a:latin typeface="Cambria" pitchFamily="34" charset="0"/>
                <a:ea typeface="Cambria" pitchFamily="34" charset="-122"/>
                <a:cs typeface="Cambria" pitchFamily="34" charset="-120"/>
              </a:rPr>
              <a:t>40%+</a:t>
            </a:r>
            <a:endParaRPr lang="en-US" sz="4000" dirty="0"/>
          </a:p>
        </p:txBody>
      </p:sp>
      <p:sp>
        <p:nvSpPr>
          <p:cNvPr id="6" name="Text 4"/>
          <p:cNvSpPr txBox="1"/>
          <p:nvPr/>
        </p:nvSpPr>
        <p:spPr>
          <a:xfrm>
            <a:off x="896112" y="2715768"/>
            <a:ext cx="3063240" cy="640080"/>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of agentic AI projects</a:t>
            </a:r>
            <a:endParaRPr lang="en-US" sz="1150" dirty="0"/>
          </a:p>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cancelled by end-2027</a:t>
            </a:r>
            <a:endParaRPr lang="en-US" sz="1150" dirty="0"/>
          </a:p>
        </p:txBody>
      </p:sp>
      <p:sp>
        <p:nvSpPr>
          <p:cNvPr id="7" name="Shape 5"/>
          <p:cNvSpPr/>
          <p:nvPr/>
        </p:nvSpPr>
        <p:spPr>
          <a:xfrm>
            <a:off x="4352544" y="1874520"/>
            <a:ext cx="3520440" cy="1600200"/>
          </a:xfrm>
          <a:prstGeom prst="roundRect">
            <a:avLst>
              <a:gd name="adj" fmla="val 4571"/>
            </a:avLst>
          </a:prstGeom>
          <a:solidFill>
            <a:srgbClr val="141B45"/>
          </a:solidFill>
          <a:ln w="9525">
            <a:solidFill>
              <a:srgbClr val="35407C"/>
            </a:solidFill>
            <a:prstDash val="solid"/>
          </a:ln>
        </p:spPr>
      </p:sp>
      <p:sp>
        <p:nvSpPr>
          <p:cNvPr id="8" name="Text 6"/>
          <p:cNvSpPr txBox="1"/>
          <p:nvPr/>
        </p:nvSpPr>
        <p:spPr>
          <a:xfrm>
            <a:off x="4608576" y="2020824"/>
            <a:ext cx="3017520" cy="658368"/>
          </a:xfrm>
          <a:prstGeom prst="rect">
            <a:avLst/>
          </a:prstGeom>
          <a:noFill/>
          <a:ln/>
        </p:spPr>
        <p:txBody>
          <a:bodyPr wrap="square" lIns="0" tIns="0" rIns="0" bIns="0" rtlCol="0" anchor="ctr"/>
          <a:lstStyle/>
          <a:p>
            <a:pPr indent="0" marL="0">
              <a:buNone/>
            </a:pPr>
            <a:r>
              <a:rPr lang="en-US" sz="4000" b="1" dirty="0">
                <a:solidFill>
                  <a:srgbClr val="F5A623"/>
                </a:solidFill>
                <a:latin typeface="Cambria" pitchFamily="34" charset="0"/>
                <a:ea typeface="Cambria" pitchFamily="34" charset="-122"/>
                <a:cs typeface="Cambria" pitchFamily="34" charset="-120"/>
              </a:rPr>
              <a:t>10–15%</a:t>
            </a:r>
            <a:endParaRPr lang="en-US" sz="4000" dirty="0"/>
          </a:p>
        </p:txBody>
      </p:sp>
      <p:sp>
        <p:nvSpPr>
          <p:cNvPr id="9" name="Text 7"/>
          <p:cNvSpPr txBox="1"/>
          <p:nvPr/>
        </p:nvSpPr>
        <p:spPr>
          <a:xfrm>
            <a:off x="4608576" y="2715768"/>
            <a:ext cx="3063240" cy="640080"/>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of agent deployments</a:t>
            </a:r>
            <a:endParaRPr lang="en-US" sz="1150" dirty="0"/>
          </a:p>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reach production</a:t>
            </a:r>
            <a:endParaRPr lang="en-US" sz="1150" dirty="0"/>
          </a:p>
        </p:txBody>
      </p:sp>
      <p:sp>
        <p:nvSpPr>
          <p:cNvPr id="10" name="Shape 8"/>
          <p:cNvSpPr/>
          <p:nvPr/>
        </p:nvSpPr>
        <p:spPr>
          <a:xfrm>
            <a:off x="8065008" y="1874520"/>
            <a:ext cx="3520440" cy="1600200"/>
          </a:xfrm>
          <a:prstGeom prst="roundRect">
            <a:avLst>
              <a:gd name="adj" fmla="val 4571"/>
            </a:avLst>
          </a:prstGeom>
          <a:solidFill>
            <a:srgbClr val="141B45"/>
          </a:solidFill>
          <a:ln w="9525">
            <a:solidFill>
              <a:srgbClr val="35407C"/>
            </a:solidFill>
            <a:prstDash val="solid"/>
          </a:ln>
        </p:spPr>
      </p:sp>
      <p:sp>
        <p:nvSpPr>
          <p:cNvPr id="11" name="Text 9"/>
          <p:cNvSpPr txBox="1"/>
          <p:nvPr/>
        </p:nvSpPr>
        <p:spPr>
          <a:xfrm>
            <a:off x="8321040" y="2020824"/>
            <a:ext cx="3017520" cy="658368"/>
          </a:xfrm>
          <a:prstGeom prst="rect">
            <a:avLst/>
          </a:prstGeom>
          <a:noFill/>
          <a:ln/>
        </p:spPr>
        <p:txBody>
          <a:bodyPr wrap="square" lIns="0" tIns="0" rIns="0" bIns="0" rtlCol="0" anchor="ctr"/>
          <a:lstStyle/>
          <a:p>
            <a:pPr indent="0" marL="0">
              <a:buNone/>
            </a:pPr>
            <a:r>
              <a:rPr lang="en-US" sz="4000" b="1" dirty="0">
                <a:solidFill>
                  <a:srgbClr val="F5A623"/>
                </a:solidFill>
                <a:latin typeface="Cambria" pitchFamily="34" charset="0"/>
                <a:ea typeface="Cambria" pitchFamily="34" charset="-122"/>
                <a:cs typeface="Cambria" pitchFamily="34" charset="-120"/>
              </a:rPr>
              <a:t>~6%</a:t>
            </a:r>
            <a:endParaRPr lang="en-US" sz="4000" dirty="0"/>
          </a:p>
        </p:txBody>
      </p:sp>
      <p:sp>
        <p:nvSpPr>
          <p:cNvPr id="12" name="Text 10"/>
          <p:cNvSpPr txBox="1"/>
          <p:nvPr/>
        </p:nvSpPr>
        <p:spPr>
          <a:xfrm>
            <a:off x="8321040" y="2715768"/>
            <a:ext cx="3063240" cy="640080"/>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of companies fully trust</a:t>
            </a:r>
            <a:endParaRPr lang="en-US" sz="1150" dirty="0"/>
          </a:p>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agents in core processes</a:t>
            </a:r>
            <a:endParaRPr lang="en-US" sz="1150" dirty="0"/>
          </a:p>
        </p:txBody>
      </p:sp>
      <p:sp>
        <p:nvSpPr>
          <p:cNvPr id="13" name="Shape 11"/>
          <p:cNvSpPr/>
          <p:nvPr/>
        </p:nvSpPr>
        <p:spPr>
          <a:xfrm>
            <a:off x="640080" y="3886200"/>
            <a:ext cx="3520440" cy="1600200"/>
          </a:xfrm>
          <a:prstGeom prst="roundRect">
            <a:avLst>
              <a:gd name="adj" fmla="val 4571"/>
            </a:avLst>
          </a:prstGeom>
          <a:solidFill>
            <a:srgbClr val="141B45"/>
          </a:solidFill>
          <a:ln w="9525">
            <a:solidFill>
              <a:srgbClr val="35407C"/>
            </a:solidFill>
            <a:prstDash val="solid"/>
          </a:ln>
        </p:spPr>
      </p:sp>
      <p:sp>
        <p:nvSpPr>
          <p:cNvPr id="14" name="Text 12"/>
          <p:cNvSpPr txBox="1"/>
          <p:nvPr/>
        </p:nvSpPr>
        <p:spPr>
          <a:xfrm>
            <a:off x="896112" y="4032504"/>
            <a:ext cx="3017520" cy="658368"/>
          </a:xfrm>
          <a:prstGeom prst="rect">
            <a:avLst/>
          </a:prstGeom>
          <a:noFill/>
          <a:ln/>
        </p:spPr>
        <p:txBody>
          <a:bodyPr wrap="square" lIns="0" tIns="0" rIns="0" bIns="0" rtlCol="0" anchor="ctr"/>
          <a:lstStyle/>
          <a:p>
            <a:pPr indent="0" marL="0">
              <a:buNone/>
            </a:pPr>
            <a:r>
              <a:rPr lang="en-US" sz="4000" b="1" dirty="0">
                <a:solidFill>
                  <a:srgbClr val="F5A623"/>
                </a:solidFill>
                <a:latin typeface="Cambria" pitchFamily="34" charset="0"/>
                <a:ea typeface="Cambria" pitchFamily="34" charset="-122"/>
                <a:cs typeface="Cambria" pitchFamily="34" charset="-120"/>
              </a:rPr>
              <a:t>88%</a:t>
            </a:r>
            <a:endParaRPr lang="en-US" sz="4000" dirty="0"/>
          </a:p>
        </p:txBody>
      </p:sp>
      <p:sp>
        <p:nvSpPr>
          <p:cNvPr id="15" name="Text 13"/>
          <p:cNvSpPr txBox="1"/>
          <p:nvPr/>
        </p:nvSpPr>
        <p:spPr>
          <a:xfrm>
            <a:off x="896112" y="4727448"/>
            <a:ext cx="3063240" cy="640080"/>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reported agent security</a:t>
            </a:r>
            <a:endParaRPr lang="en-US" sz="1150" dirty="0"/>
          </a:p>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incidents in the past year</a:t>
            </a:r>
            <a:endParaRPr lang="en-US" sz="1150" dirty="0"/>
          </a:p>
        </p:txBody>
      </p:sp>
      <p:sp>
        <p:nvSpPr>
          <p:cNvPr id="16" name="Shape 14"/>
          <p:cNvSpPr/>
          <p:nvPr/>
        </p:nvSpPr>
        <p:spPr>
          <a:xfrm>
            <a:off x="4352544" y="3886200"/>
            <a:ext cx="3520440" cy="1600200"/>
          </a:xfrm>
          <a:prstGeom prst="roundRect">
            <a:avLst>
              <a:gd name="adj" fmla="val 4571"/>
            </a:avLst>
          </a:prstGeom>
          <a:solidFill>
            <a:srgbClr val="141B45"/>
          </a:solidFill>
          <a:ln w="9525">
            <a:solidFill>
              <a:srgbClr val="35407C"/>
            </a:solidFill>
            <a:prstDash val="solid"/>
          </a:ln>
        </p:spPr>
      </p:sp>
      <p:sp>
        <p:nvSpPr>
          <p:cNvPr id="17" name="Text 15"/>
          <p:cNvSpPr txBox="1"/>
          <p:nvPr/>
        </p:nvSpPr>
        <p:spPr>
          <a:xfrm>
            <a:off x="4608576" y="4032504"/>
            <a:ext cx="3017520" cy="658368"/>
          </a:xfrm>
          <a:prstGeom prst="rect">
            <a:avLst/>
          </a:prstGeom>
          <a:noFill/>
          <a:ln/>
        </p:spPr>
        <p:txBody>
          <a:bodyPr wrap="square" lIns="0" tIns="0" rIns="0" bIns="0" rtlCol="0" anchor="ctr"/>
          <a:lstStyle/>
          <a:p>
            <a:pPr indent="0" marL="0">
              <a:buNone/>
            </a:pPr>
            <a:r>
              <a:rPr lang="en-US" sz="4000" b="1" dirty="0">
                <a:solidFill>
                  <a:srgbClr val="F5A623"/>
                </a:solidFill>
                <a:latin typeface="Cambria" pitchFamily="34" charset="0"/>
                <a:ea typeface="Cambria" pitchFamily="34" charset="-122"/>
                <a:cs typeface="Cambria" pitchFamily="34" charset="-120"/>
              </a:rPr>
              <a:t>~130</a:t>
            </a:r>
            <a:endParaRPr lang="en-US" sz="4000" dirty="0"/>
          </a:p>
        </p:txBody>
      </p:sp>
      <p:sp>
        <p:nvSpPr>
          <p:cNvPr id="18" name="Text 16"/>
          <p:cNvSpPr txBox="1"/>
          <p:nvPr/>
        </p:nvSpPr>
        <p:spPr>
          <a:xfrm>
            <a:off x="4608576" y="4727448"/>
            <a:ext cx="3063240" cy="640080"/>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of thousands of 'agentic'</a:t>
            </a:r>
            <a:endParaRPr lang="en-US" sz="1150" dirty="0"/>
          </a:p>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vendors judged real</a:t>
            </a:r>
            <a:endParaRPr lang="en-US" sz="1150" dirty="0"/>
          </a:p>
        </p:txBody>
      </p:sp>
      <p:sp>
        <p:nvSpPr>
          <p:cNvPr id="19" name="Shape 17"/>
          <p:cNvSpPr/>
          <p:nvPr/>
        </p:nvSpPr>
        <p:spPr>
          <a:xfrm>
            <a:off x="8065008" y="3886200"/>
            <a:ext cx="3520440" cy="1600200"/>
          </a:xfrm>
          <a:prstGeom prst="roundRect">
            <a:avLst>
              <a:gd name="adj" fmla="val 4571"/>
            </a:avLst>
          </a:prstGeom>
          <a:solidFill>
            <a:srgbClr val="141B45"/>
          </a:solidFill>
          <a:ln w="9525">
            <a:solidFill>
              <a:srgbClr val="35407C"/>
            </a:solidFill>
            <a:prstDash val="solid"/>
          </a:ln>
        </p:spPr>
      </p:sp>
      <p:sp>
        <p:nvSpPr>
          <p:cNvPr id="20" name="Text 18"/>
          <p:cNvSpPr txBox="1"/>
          <p:nvPr/>
        </p:nvSpPr>
        <p:spPr>
          <a:xfrm>
            <a:off x="8321040" y="4032504"/>
            <a:ext cx="3017520" cy="658368"/>
          </a:xfrm>
          <a:prstGeom prst="rect">
            <a:avLst/>
          </a:prstGeom>
          <a:noFill/>
          <a:ln/>
        </p:spPr>
        <p:txBody>
          <a:bodyPr wrap="square" lIns="0" tIns="0" rIns="0" bIns="0" rtlCol="0" anchor="ctr"/>
          <a:lstStyle/>
          <a:p>
            <a:pPr indent="0" marL="0">
              <a:buNone/>
            </a:pPr>
            <a:r>
              <a:rPr lang="en-US" sz="4000" b="1" dirty="0">
                <a:solidFill>
                  <a:srgbClr val="F5A623"/>
                </a:solidFill>
                <a:latin typeface="Cambria" pitchFamily="34" charset="0"/>
                <a:ea typeface="Cambria" pitchFamily="34" charset="-122"/>
                <a:cs typeface="Cambria" pitchFamily="34" charset="-120"/>
              </a:rPr>
              <a:t>1 in 4</a:t>
            </a:r>
            <a:endParaRPr lang="en-US" sz="4000" dirty="0"/>
          </a:p>
        </p:txBody>
      </p:sp>
      <p:sp>
        <p:nvSpPr>
          <p:cNvPr id="21" name="Text 19"/>
          <p:cNvSpPr txBox="1"/>
          <p:nvPr/>
        </p:nvSpPr>
        <p:spPr>
          <a:xfrm>
            <a:off x="8321040" y="4727448"/>
            <a:ext cx="3063240" cy="640080"/>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HR tech implementations</a:t>
            </a:r>
            <a:endParaRPr lang="en-US" sz="1150" dirty="0"/>
          </a:p>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fail to meet expectations</a:t>
            </a:r>
            <a:endParaRPr lang="en-US" sz="1150" dirty="0"/>
          </a:p>
        </p:txBody>
      </p:sp>
      <p:sp>
        <p:nvSpPr>
          <p:cNvPr id="22" name="Text 20"/>
          <p:cNvSpPr txBox="1"/>
          <p:nvPr/>
        </p:nvSpPr>
        <p:spPr>
          <a:xfrm>
            <a:off x="640080" y="5806440"/>
            <a:ext cx="10881360" cy="32004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The failures are governance failures, not model failures. That is a solvable problem — and an architectural one.</a:t>
            </a:r>
            <a:endParaRPr lang="en-US" sz="1400" dirty="0"/>
          </a:p>
        </p:txBody>
      </p:sp>
      <p:sp>
        <p:nvSpPr>
          <p:cNvPr id="23" name="Text 21"/>
          <p:cNvSpPr txBox="1"/>
          <p:nvPr/>
        </p:nvSpPr>
        <p:spPr>
          <a:xfrm>
            <a:off x="640080" y="6400800"/>
            <a:ext cx="10908792" cy="237744"/>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Sources: Gartner; HBR; 2026 agent identity research; SHRM. Figures paraphrased from published summaries.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8229600" cy="256032"/>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THE INSIGHT</a:t>
            </a:r>
            <a:endParaRPr lang="en-US" sz="10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winning architecture isn't the most autonomous one</a:t>
            </a:r>
            <a:endParaRPr lang="en-US" sz="3200" dirty="0"/>
          </a:p>
        </p:txBody>
      </p:sp>
      <p:sp>
        <p:nvSpPr>
          <p:cNvPr id="4" name="Shape 2"/>
          <p:cNvSpPr/>
          <p:nvPr/>
        </p:nvSpPr>
        <p:spPr>
          <a:xfrm>
            <a:off x="640080" y="1600200"/>
            <a:ext cx="10908792" cy="1371600"/>
          </a:xfrm>
          <a:prstGeom prst="roundRect">
            <a:avLst>
              <a:gd name="adj" fmla="val 6667"/>
            </a:avLst>
          </a:prstGeom>
          <a:solidFill>
            <a:srgbClr val="1E2761"/>
          </a:solidFill>
          <a:ln/>
        </p:spPr>
      </p:sp>
      <p:sp>
        <p:nvSpPr>
          <p:cNvPr id="5" name="Text 3"/>
          <p:cNvSpPr txBox="1"/>
          <p:nvPr/>
        </p:nvSpPr>
        <p:spPr>
          <a:xfrm>
            <a:off x="1097280" y="1783080"/>
            <a:ext cx="9994392" cy="1005840"/>
          </a:xfrm>
          <a:prstGeom prst="rect">
            <a:avLst/>
          </a:prstGeom>
          <a:noFill/>
          <a:ln/>
        </p:spPr>
        <p:txBody>
          <a:bodyPr wrap="square" lIns="0" tIns="0" rIns="0" bIns="0" rtlCol="0" anchor="ctr"/>
          <a:lstStyle/>
          <a:p>
            <a:pPr indent="0" marL="0">
              <a:lnSpc>
                <a:spcPts val="2800"/>
              </a:lnSpc>
              <a:buNone/>
            </a:pPr>
            <a:r>
              <a:rPr lang="en-US" sz="1900" dirty="0">
                <a:solidFill>
                  <a:srgbClr val="FFFFFF"/>
                </a:solidFill>
                <a:latin typeface="Cambria" pitchFamily="34" charset="0"/>
                <a:ea typeface="Cambria" pitchFamily="34" charset="-122"/>
                <a:cs typeface="Cambria" pitchFamily="34" charset="-120"/>
              </a:rPr>
              <a:t>It is the one where autonomy is bounded by construction — where the blast radius of any agent error is a reversible transaction, and where removing the agents entirely leaves a complete HRIS standing.</a:t>
            </a:r>
            <a:endParaRPr lang="en-US" sz="1900" dirty="0"/>
          </a:p>
        </p:txBody>
      </p:sp>
      <p:sp>
        <p:nvSpPr>
          <p:cNvPr id="6" name="Shape 4"/>
          <p:cNvSpPr/>
          <p:nvPr/>
        </p:nvSpPr>
        <p:spPr>
          <a:xfrm>
            <a:off x="640080" y="3246120"/>
            <a:ext cx="5303520" cy="2514600"/>
          </a:xfrm>
          <a:prstGeom prst="roundRect">
            <a:avLst>
              <a:gd name="adj" fmla="val 3636"/>
            </a:avLst>
          </a:prstGeom>
          <a:solidFill>
            <a:srgbClr val="E9EDF5"/>
          </a:solidFill>
          <a:ln w="9525">
            <a:solidFill>
              <a:srgbClr val="D6DEEC"/>
            </a:solidFill>
            <a:prstDash val="solid"/>
          </a:ln>
        </p:spPr>
      </p:sp>
      <p:sp>
        <p:nvSpPr>
          <p:cNvPr id="7" name="Text 5"/>
          <p:cNvSpPr txBox="1"/>
          <p:nvPr/>
        </p:nvSpPr>
        <p:spPr>
          <a:xfrm>
            <a:off x="1024128" y="3474720"/>
            <a:ext cx="4535424" cy="292608"/>
          </a:xfrm>
          <a:prstGeom prst="rect">
            <a:avLst/>
          </a:prstGeom>
          <a:noFill/>
          <a:ln/>
        </p:spPr>
        <p:txBody>
          <a:bodyPr wrap="square" lIns="0" tIns="0" rIns="0" bIns="0" rtlCol="0" anchor="ctr"/>
          <a:lstStyle/>
          <a:p>
            <a:pPr indent="0" marL="0">
              <a:buNone/>
            </a:pPr>
            <a:r>
              <a:rPr lang="en-US" sz="1300" b="1" spc="150" kern="0" dirty="0">
                <a:solidFill>
                  <a:srgbClr val="5A6472"/>
                </a:solidFill>
                <a:latin typeface="Calibri" pitchFamily="34" charset="0"/>
                <a:ea typeface="Calibri" pitchFamily="34" charset="-122"/>
                <a:cs typeface="Calibri" pitchFamily="34" charset="-120"/>
              </a:rPr>
              <a:t>Everyone else</a:t>
            </a:r>
            <a:endParaRPr lang="en-US" sz="1300" dirty="0"/>
          </a:p>
        </p:txBody>
      </p:sp>
      <p:sp>
        <p:nvSpPr>
          <p:cNvPr id="8" name="Text 6"/>
          <p:cNvSpPr txBox="1"/>
          <p:nvPr/>
        </p:nvSpPr>
        <p:spPr>
          <a:xfrm>
            <a:off x="1024128" y="3840480"/>
            <a:ext cx="4535424" cy="457200"/>
          </a:xfrm>
          <a:prstGeom prst="rect">
            <a:avLst/>
          </a:prstGeom>
          <a:noFill/>
          <a:ln/>
        </p:spPr>
        <p:txBody>
          <a:bodyPr wrap="square" lIns="0" tIns="0" rIns="0" bIns="0" rtlCol="0" anchor="ctr"/>
          <a:lstStyle/>
          <a:p>
            <a:pPr indent="0" marL="0">
              <a:buNone/>
            </a:pPr>
            <a:r>
              <a:rPr lang="en-US" sz="2100" b="1" i="1" dirty="0">
                <a:solidFill>
                  <a:srgbClr val="5A6472"/>
                </a:solidFill>
                <a:latin typeface="Cambria" pitchFamily="34" charset="0"/>
                <a:ea typeface="Cambria" pitchFamily="34" charset="-122"/>
                <a:cs typeface="Cambria" pitchFamily="34" charset="-120"/>
              </a:rPr>
              <a:t>"Our AI is very reliable."</a:t>
            </a:r>
            <a:endParaRPr lang="en-US" sz="2100" dirty="0"/>
          </a:p>
        </p:txBody>
      </p:sp>
      <p:sp>
        <p:nvSpPr>
          <p:cNvPr id="9" name="Text 7"/>
          <p:cNvSpPr txBox="1"/>
          <p:nvPr/>
        </p:nvSpPr>
        <p:spPr>
          <a:xfrm>
            <a:off x="1024128" y="4480560"/>
            <a:ext cx="4535424" cy="1097280"/>
          </a:xfrm>
          <a:prstGeom prst="rect">
            <a:avLst/>
          </a:prstGeom>
          <a:noFill/>
          <a:ln/>
        </p:spPr>
        <p:txBody>
          <a:bodyPr wrap="square" lIns="0" tIns="0" rIns="0" bIns="0" rtlCol="0" anchor="ctr"/>
          <a:lstStyle/>
          <a:p>
            <a:pPr indent="0" marL="0">
              <a:lnSpc>
                <a:spcPts val="1800"/>
              </a:lnSpc>
              <a:buNone/>
            </a:pPr>
            <a:r>
              <a:rPr lang="en-US" sz="1300" dirty="0">
                <a:solidFill>
                  <a:srgbClr val="5A6472"/>
                </a:solidFill>
                <a:latin typeface="Calibri" pitchFamily="34" charset="0"/>
                <a:ea typeface="Calibri" pitchFamily="34" charset="-122"/>
                <a:cs typeface="Calibri" pitchFamily="34" charset="-120"/>
              </a:rPr>
              <a:t>Agents call the transactional API directly. Governance sits beside the core. Continuity is a hope, not a specification.</a:t>
            </a:r>
            <a:endParaRPr lang="en-US" sz="1300" dirty="0"/>
          </a:p>
        </p:txBody>
      </p:sp>
      <p:sp>
        <p:nvSpPr>
          <p:cNvPr id="10" name="Shape 8"/>
          <p:cNvSpPr/>
          <p:nvPr/>
        </p:nvSpPr>
        <p:spPr>
          <a:xfrm>
            <a:off x="6245352" y="3246120"/>
            <a:ext cx="5303520" cy="2514600"/>
          </a:xfrm>
          <a:prstGeom prst="roundRect">
            <a:avLst>
              <a:gd name="adj" fmla="val 3636"/>
            </a:avLst>
          </a:prstGeom>
          <a:solidFill>
            <a:srgbClr val="1E2761"/>
          </a:solidFill>
          <a:ln w="9525">
            <a:solidFill>
              <a:srgbClr val="D6DEEC"/>
            </a:solidFill>
            <a:prstDash val="solid"/>
          </a:ln>
        </p:spPr>
      </p:sp>
      <p:sp>
        <p:nvSpPr>
          <p:cNvPr id="11" name="Text 9"/>
          <p:cNvSpPr txBox="1"/>
          <p:nvPr/>
        </p:nvSpPr>
        <p:spPr>
          <a:xfrm>
            <a:off x="6629400" y="3474720"/>
            <a:ext cx="4535424" cy="292608"/>
          </a:xfrm>
          <a:prstGeom prst="rect">
            <a:avLst/>
          </a:prstGeom>
          <a:noFill/>
          <a:ln/>
        </p:spPr>
        <p:txBody>
          <a:bodyPr wrap="square" lIns="0" tIns="0" rIns="0" bIns="0" rtlCol="0" anchor="ctr"/>
          <a:lstStyle/>
          <a:p>
            <a:pPr indent="0" marL="0">
              <a:buNone/>
            </a:pPr>
            <a:r>
              <a:rPr lang="en-US" sz="1300" b="1" spc="150" kern="0" dirty="0">
                <a:solidFill>
                  <a:srgbClr val="F5A623"/>
                </a:solidFill>
                <a:latin typeface="Calibri" pitchFamily="34" charset="0"/>
                <a:ea typeface="Calibri" pitchFamily="34" charset="-122"/>
                <a:cs typeface="Calibri" pitchFamily="34" charset="-120"/>
              </a:rPr>
              <a:t>KEEL</a:t>
            </a:r>
            <a:endParaRPr lang="en-US" sz="1300" dirty="0"/>
          </a:p>
        </p:txBody>
      </p:sp>
      <p:sp>
        <p:nvSpPr>
          <p:cNvPr id="12" name="Text 10"/>
          <p:cNvSpPr txBox="1"/>
          <p:nvPr/>
        </p:nvSpPr>
        <p:spPr>
          <a:xfrm>
            <a:off x="6629400" y="3840480"/>
            <a:ext cx="4535424" cy="457200"/>
          </a:xfrm>
          <a:prstGeom prst="rect">
            <a:avLst/>
          </a:prstGeom>
          <a:noFill/>
          <a:ln/>
        </p:spPr>
        <p:txBody>
          <a:bodyPr wrap="square" lIns="0" tIns="0" rIns="0" bIns="0" rtlCol="0" anchor="ctr"/>
          <a:lstStyle/>
          <a:p>
            <a:pPr indent="0" marL="0">
              <a:buNone/>
            </a:pPr>
            <a:r>
              <a:rPr lang="en-US" sz="2100" b="1" i="1" dirty="0">
                <a:solidFill>
                  <a:srgbClr val="FFFFFF"/>
                </a:solidFill>
                <a:latin typeface="Cambria" pitchFamily="34" charset="0"/>
                <a:ea typeface="Cambria" pitchFamily="34" charset="-122"/>
                <a:cs typeface="Cambria" pitchFamily="34" charset="-120"/>
              </a:rPr>
              <a:t>"Our AI is optional."</a:t>
            </a:r>
            <a:endParaRPr lang="en-US" sz="2100" dirty="0"/>
          </a:p>
        </p:txBody>
      </p:sp>
      <p:sp>
        <p:nvSpPr>
          <p:cNvPr id="13" name="Text 11"/>
          <p:cNvSpPr txBox="1"/>
          <p:nvPr/>
        </p:nvSpPr>
        <p:spPr>
          <a:xfrm>
            <a:off x="6629400" y="4480560"/>
            <a:ext cx="4535424" cy="1097280"/>
          </a:xfrm>
          <a:prstGeom prst="rect">
            <a:avLst/>
          </a:prstGeom>
          <a:noFill/>
          <a:ln/>
        </p:spPr>
        <p:txBody>
          <a:bodyPr wrap="square" lIns="0" tIns="0" rIns="0" bIns="0" rtlCol="0" anchor="ctr"/>
          <a:lstStyle/>
          <a:p>
            <a:pPr indent="0" marL="0">
              <a:lnSpc>
                <a:spcPts val="1800"/>
              </a:lnSpc>
              <a:buNone/>
            </a:pPr>
            <a:r>
              <a:rPr lang="en-US" sz="1300" dirty="0">
                <a:solidFill>
                  <a:srgbClr val="CADCFC"/>
                </a:solidFill>
                <a:latin typeface="Calibri" pitchFamily="34" charset="0"/>
                <a:ea typeface="Calibri" pitchFamily="34" charset="-122"/>
                <a:cs typeface="Calibri" pitchFamily="34" charset="-120"/>
              </a:rPr>
              <a:t>Agents propose typed intents to a Control Gate. The deterministic engine decides, executes and records. Continuity is a contract.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8229600" cy="256032"/>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THE ARCHITECTURE</a:t>
            </a:r>
            <a:endParaRPr lang="en-US" sz="10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Two planes, one hard boundary</a:t>
            </a:r>
            <a:endParaRPr lang="en-US" sz="3200" dirty="0"/>
          </a:p>
        </p:txBody>
      </p:sp>
      <p:sp>
        <p:nvSpPr>
          <p:cNvPr id="4" name="Shape 2"/>
          <p:cNvSpPr/>
          <p:nvPr/>
        </p:nvSpPr>
        <p:spPr>
          <a:xfrm>
            <a:off x="640080" y="1691640"/>
            <a:ext cx="10908792" cy="896112"/>
          </a:xfrm>
          <a:prstGeom prst="roundRect">
            <a:avLst>
              <a:gd name="adj" fmla="val 8163"/>
            </a:avLst>
          </a:prstGeom>
          <a:solidFill>
            <a:srgbClr val="F7F9FD"/>
          </a:solidFill>
          <a:ln w="12700">
            <a:solidFill>
              <a:srgbClr val="D6DEEC"/>
            </a:solidFill>
            <a:prstDash val="solid"/>
          </a:ln>
        </p:spPr>
      </p:sp>
      <p:sp>
        <p:nvSpPr>
          <p:cNvPr id="5" name="Text 3"/>
          <p:cNvSpPr txBox="1"/>
          <p:nvPr/>
        </p:nvSpPr>
        <p:spPr>
          <a:xfrm>
            <a:off x="1024128" y="1837944"/>
            <a:ext cx="5120640" cy="310896"/>
          </a:xfrm>
          <a:prstGeom prst="rect">
            <a:avLst/>
          </a:prstGeom>
          <a:noFill/>
          <a:ln/>
        </p:spPr>
        <p:txBody>
          <a:bodyPr wrap="square" lIns="0" tIns="0" rIns="0" bIns="0" rtlCol="0" anchor="ctr"/>
          <a:lstStyle/>
          <a:p>
            <a:pPr indent="0" marL="0">
              <a:buNone/>
            </a:pPr>
            <a:r>
              <a:rPr lang="en-US" sz="1500" b="1" spc="100" kern="0" dirty="0">
                <a:solidFill>
                  <a:srgbClr val="1E2761"/>
                </a:solidFill>
                <a:latin typeface="Calibri" pitchFamily="34" charset="0"/>
                <a:ea typeface="Calibri" pitchFamily="34" charset="-122"/>
                <a:cs typeface="Calibri" pitchFamily="34" charset="-120"/>
              </a:rPr>
              <a:t>EXPERIENCE PLANE</a:t>
            </a:r>
            <a:endParaRPr lang="en-US" sz="1500" dirty="0"/>
          </a:p>
        </p:txBody>
      </p:sp>
      <p:sp>
        <p:nvSpPr>
          <p:cNvPr id="6" name="Text 4"/>
          <p:cNvSpPr txBox="1"/>
          <p:nvPr/>
        </p:nvSpPr>
        <p:spPr>
          <a:xfrm>
            <a:off x="1024128" y="2167128"/>
            <a:ext cx="10085832" cy="566928"/>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Web · Mobile · Kiosk · Offline · Chat · Voice. Every function reachable through conventional UI. No AI-only paths.</a:t>
            </a:r>
            <a:endParaRPr lang="en-US" sz="1250" dirty="0"/>
          </a:p>
        </p:txBody>
      </p:sp>
      <p:sp>
        <p:nvSpPr>
          <p:cNvPr id="7" name="Shape 5"/>
          <p:cNvSpPr/>
          <p:nvPr/>
        </p:nvSpPr>
        <p:spPr>
          <a:xfrm>
            <a:off x="640080" y="2724912"/>
            <a:ext cx="10908792" cy="896112"/>
          </a:xfrm>
          <a:prstGeom prst="roundRect">
            <a:avLst>
              <a:gd name="adj" fmla="val 8163"/>
            </a:avLst>
          </a:prstGeom>
          <a:solidFill>
            <a:srgbClr val="E9EDF5"/>
          </a:solidFill>
          <a:ln w="12700">
            <a:solidFill>
              <a:srgbClr val="D6DEEC"/>
            </a:solidFill>
            <a:prstDash val="solid"/>
          </a:ln>
        </p:spPr>
      </p:sp>
      <p:sp>
        <p:nvSpPr>
          <p:cNvPr id="8" name="Text 6"/>
          <p:cNvSpPr txBox="1"/>
          <p:nvPr/>
        </p:nvSpPr>
        <p:spPr>
          <a:xfrm>
            <a:off x="1024128" y="2871216"/>
            <a:ext cx="5120640" cy="310896"/>
          </a:xfrm>
          <a:prstGeom prst="rect">
            <a:avLst/>
          </a:prstGeom>
          <a:noFill/>
          <a:ln/>
        </p:spPr>
        <p:txBody>
          <a:bodyPr wrap="square" lIns="0" tIns="0" rIns="0" bIns="0" rtlCol="0" anchor="ctr"/>
          <a:lstStyle/>
          <a:p>
            <a:pPr indent="0" marL="0">
              <a:buNone/>
            </a:pPr>
            <a:r>
              <a:rPr lang="en-US" sz="1500" b="1" spc="100" kern="0" dirty="0">
                <a:solidFill>
                  <a:srgbClr val="1E2761"/>
                </a:solidFill>
                <a:latin typeface="Calibri" pitchFamily="34" charset="0"/>
                <a:ea typeface="Calibri" pitchFamily="34" charset="-122"/>
                <a:cs typeface="Calibri" pitchFamily="34" charset="-120"/>
              </a:rPr>
              <a:t>AGENT PLANE</a:t>
            </a:r>
            <a:endParaRPr lang="en-US" sz="1500" dirty="0"/>
          </a:p>
        </p:txBody>
      </p:sp>
      <p:sp>
        <p:nvSpPr>
          <p:cNvPr id="9" name="Text 7"/>
          <p:cNvSpPr txBox="1"/>
          <p:nvPr/>
        </p:nvSpPr>
        <p:spPr>
          <a:xfrm>
            <a:off x="1024128" y="3200400"/>
            <a:ext cx="10085832" cy="566928"/>
          </a:xfrm>
          <a:prstGeom prst="rect">
            <a:avLst/>
          </a:prstGeom>
          <a:noFill/>
          <a:ln/>
        </p:spPr>
        <p:txBody>
          <a:bodyPr wrap="square" lIns="0" tIns="0" rIns="0" bIns="0" rtlCol="0" anchor="ctr"/>
          <a:lstStyle/>
          <a:p>
            <a:pPr indent="0" marL="0">
              <a:lnSpc>
                <a:spcPts val="1600"/>
              </a:lnSpc>
              <a:buNone/>
            </a:pPr>
            <a:r>
              <a:rPr lang="en-US" sz="1250" dirty="0">
                <a:solidFill>
                  <a:srgbClr val="5A6472"/>
                </a:solidFill>
                <a:latin typeface="Calibri" pitchFamily="34" charset="0"/>
                <a:ea typeface="Calibri" pitchFamily="34" charset="-122"/>
                <a:cs typeface="Calibri" pitchFamily="34" charset="-120"/>
              </a:rPr>
              <a:t>Domain agents · Orchestrator · Registry · Budget governance · Evaluation harness. Model-agnostic, replaceable, revocable.</a:t>
            </a:r>
            <a:endParaRPr lang="en-US" sz="1250" dirty="0"/>
          </a:p>
        </p:txBody>
      </p:sp>
      <p:sp>
        <p:nvSpPr>
          <p:cNvPr id="10" name="Shape 8"/>
          <p:cNvSpPr/>
          <p:nvPr/>
        </p:nvSpPr>
        <p:spPr>
          <a:xfrm>
            <a:off x="640080" y="4059936"/>
            <a:ext cx="10908792" cy="896112"/>
          </a:xfrm>
          <a:prstGeom prst="roundRect">
            <a:avLst>
              <a:gd name="adj" fmla="val 8163"/>
            </a:avLst>
          </a:prstGeom>
          <a:solidFill>
            <a:srgbClr val="F5A623"/>
          </a:solidFill>
          <a:ln w="12700">
            <a:solidFill>
              <a:srgbClr val="F5A623"/>
            </a:solidFill>
            <a:prstDash val="solid"/>
          </a:ln>
        </p:spPr>
      </p:sp>
      <p:sp>
        <p:nvSpPr>
          <p:cNvPr id="11" name="Text 9"/>
          <p:cNvSpPr txBox="1"/>
          <p:nvPr/>
        </p:nvSpPr>
        <p:spPr>
          <a:xfrm>
            <a:off x="1024128" y="4206240"/>
            <a:ext cx="5120640" cy="310896"/>
          </a:xfrm>
          <a:prstGeom prst="rect">
            <a:avLst/>
          </a:prstGeom>
          <a:noFill/>
          <a:ln/>
        </p:spPr>
        <p:txBody>
          <a:bodyPr wrap="square" lIns="0" tIns="0" rIns="0" bIns="0" rtlCol="0" anchor="ctr"/>
          <a:lstStyle/>
          <a:p>
            <a:pPr indent="0" marL="0">
              <a:buNone/>
            </a:pPr>
            <a:r>
              <a:rPr lang="en-US" sz="1500" b="1" spc="100" kern="0" dirty="0">
                <a:solidFill>
                  <a:srgbClr val="1E2761"/>
                </a:solidFill>
                <a:latin typeface="Calibri" pitchFamily="34" charset="0"/>
                <a:ea typeface="Calibri" pitchFamily="34" charset="-122"/>
                <a:cs typeface="Calibri" pitchFamily="34" charset="-120"/>
              </a:rPr>
              <a:t>THE CONTROL GATE</a:t>
            </a:r>
            <a:endParaRPr lang="en-US" sz="1500" dirty="0"/>
          </a:p>
        </p:txBody>
      </p:sp>
      <p:sp>
        <p:nvSpPr>
          <p:cNvPr id="12" name="Text 10"/>
          <p:cNvSpPr txBox="1"/>
          <p:nvPr/>
        </p:nvSpPr>
        <p:spPr>
          <a:xfrm>
            <a:off x="1024128" y="4535424"/>
            <a:ext cx="10085832" cy="566928"/>
          </a:xfrm>
          <a:prstGeom prst="rect">
            <a:avLst/>
          </a:prstGeom>
          <a:noFill/>
          <a:ln/>
        </p:spPr>
        <p:txBody>
          <a:bodyPr wrap="square" lIns="0" tIns="0" rIns="0" bIns="0" rtlCol="0" anchor="ctr"/>
          <a:lstStyle/>
          <a:p>
            <a:pPr indent="0" marL="0">
              <a:lnSpc>
                <a:spcPts val="1600"/>
              </a:lnSpc>
              <a:buNone/>
            </a:pPr>
            <a:r>
              <a:rPr lang="en-US" sz="1250" dirty="0">
                <a:solidFill>
                  <a:srgbClr val="1E2761"/>
                </a:solidFill>
                <a:latin typeface="Calibri" pitchFamily="34" charset="0"/>
                <a:ea typeface="Calibri" pitchFamily="34" charset="-122"/>
                <a:cs typeface="Calibri" pitchFamily="34" charset="-120"/>
              </a:rPr>
              <a:t>Authorisation · Policy validation · Segregation of duties · Autonomy check · Budget check · Deterministic simulation · Decision Record</a:t>
            </a:r>
            <a:endParaRPr lang="en-US" sz="1250" dirty="0"/>
          </a:p>
        </p:txBody>
      </p:sp>
      <p:sp>
        <p:nvSpPr>
          <p:cNvPr id="13" name="Shape 11"/>
          <p:cNvSpPr/>
          <p:nvPr/>
        </p:nvSpPr>
        <p:spPr>
          <a:xfrm>
            <a:off x="640080" y="5093208"/>
            <a:ext cx="10908792" cy="1143000"/>
          </a:xfrm>
          <a:prstGeom prst="roundRect">
            <a:avLst>
              <a:gd name="adj" fmla="val 6400"/>
            </a:avLst>
          </a:prstGeom>
          <a:solidFill>
            <a:srgbClr val="1E2761"/>
          </a:solidFill>
          <a:ln w="12700">
            <a:solidFill>
              <a:srgbClr val="1E2761"/>
            </a:solidFill>
            <a:prstDash val="solid"/>
          </a:ln>
        </p:spPr>
      </p:sp>
      <p:sp>
        <p:nvSpPr>
          <p:cNvPr id="14" name="Text 12"/>
          <p:cNvSpPr txBox="1"/>
          <p:nvPr/>
        </p:nvSpPr>
        <p:spPr>
          <a:xfrm>
            <a:off x="1024128" y="5239512"/>
            <a:ext cx="5120640" cy="310896"/>
          </a:xfrm>
          <a:prstGeom prst="rect">
            <a:avLst/>
          </a:prstGeom>
          <a:noFill/>
          <a:ln/>
        </p:spPr>
        <p:txBody>
          <a:bodyPr wrap="square" lIns="0" tIns="0" rIns="0" bIns="0" rtlCol="0" anchor="ctr"/>
          <a:lstStyle/>
          <a:p>
            <a:pPr indent="0" marL="0">
              <a:buNone/>
            </a:pPr>
            <a:r>
              <a:rPr lang="en-US" sz="1500" b="1" spc="100" kern="0" dirty="0">
                <a:solidFill>
                  <a:srgbClr val="FFFFFF"/>
                </a:solidFill>
                <a:latin typeface="Calibri" pitchFamily="34" charset="0"/>
                <a:ea typeface="Calibri" pitchFamily="34" charset="-122"/>
                <a:cs typeface="Calibri" pitchFamily="34" charset="-120"/>
              </a:rPr>
              <a:t>DETERMINISTIC PLANE — THE KEEL</a:t>
            </a:r>
            <a:endParaRPr lang="en-US" sz="1500" dirty="0"/>
          </a:p>
        </p:txBody>
      </p:sp>
      <p:sp>
        <p:nvSpPr>
          <p:cNvPr id="15" name="Text 13"/>
          <p:cNvSpPr txBox="1"/>
          <p:nvPr/>
        </p:nvSpPr>
        <p:spPr>
          <a:xfrm>
            <a:off x="1024128" y="5568696"/>
            <a:ext cx="10085832" cy="566928"/>
          </a:xfrm>
          <a:prstGeom prst="rect">
            <a:avLst/>
          </a:prstGeom>
          <a:noFill/>
          <a:ln/>
        </p:spPr>
        <p:txBody>
          <a:bodyPr wrap="square" lIns="0" tIns="0" rIns="0" bIns="0" rtlCol="0" anchor="ctr"/>
          <a:lstStyle/>
          <a:p>
            <a:pPr indent="0" marL="0">
              <a:lnSpc>
                <a:spcPts val="1600"/>
              </a:lnSpc>
              <a:buNone/>
            </a:pPr>
            <a:r>
              <a:rPr lang="en-US" sz="1250" dirty="0">
                <a:solidFill>
                  <a:srgbClr val="CADCFC"/>
                </a:solidFill>
                <a:latin typeface="Calibri" pitchFamily="34" charset="0"/>
                <a:ea typeface="Calibri" pitchFamily="34" charset="-122"/>
                <a:cs typeface="Calibri" pitchFamily="34" charset="-120"/>
              </a:rPr>
              <a:t>Bitemporal ledger · Policy engine · Calculation engines · Workflow engine · Tenancy kernel · Scheduler.   No LLM ever executes here.</a:t>
            </a:r>
            <a:endParaRPr lang="en-US" sz="1250" dirty="0"/>
          </a:p>
        </p:txBody>
      </p:sp>
      <p:sp>
        <p:nvSpPr>
          <p:cNvPr id="16" name="Text 14"/>
          <p:cNvSpPr txBox="1"/>
          <p:nvPr/>
        </p:nvSpPr>
        <p:spPr>
          <a:xfrm>
            <a:off x="640080" y="3675888"/>
            <a:ext cx="6400800" cy="256032"/>
          </a:xfrm>
          <a:prstGeom prst="rect">
            <a:avLst/>
          </a:prstGeom>
          <a:noFill/>
          <a:ln/>
        </p:spPr>
        <p:txBody>
          <a:bodyPr wrap="square" lIns="0" tIns="0" rIns="0" bIns="0" rtlCol="0" anchor="ctr"/>
          <a:lstStyle/>
          <a:p>
            <a:pPr indent="0" marL="0">
              <a:buNone/>
            </a:pPr>
            <a:r>
              <a:rPr lang="en-US" sz="1100" b="1" dirty="0">
                <a:solidFill>
                  <a:srgbClr val="5A6472"/>
                </a:solidFill>
                <a:latin typeface="Calibri" pitchFamily="34" charset="0"/>
                <a:ea typeface="Calibri" pitchFamily="34" charset="-122"/>
                <a:cs typeface="Calibri" pitchFamily="34" charset="-120"/>
              </a:rPr>
              <a:t>▼   agents may emit only typed Transaction Intents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8229600" cy="256032"/>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THE DETERMINISTIC CORE</a:t>
            </a:r>
            <a:endParaRPr lang="en-US" sz="10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makes it five years ahead, not one</a:t>
            </a:r>
            <a:endParaRPr lang="en-US" sz="3200" dirty="0"/>
          </a:p>
        </p:txBody>
      </p:sp>
      <p:sp>
        <p:nvSpPr>
          <p:cNvPr id="4" name="Shape 2"/>
          <p:cNvSpPr/>
          <p:nvPr/>
        </p:nvSpPr>
        <p:spPr>
          <a:xfrm>
            <a:off x="640080" y="1691640"/>
            <a:ext cx="5303520" cy="1965960"/>
          </a:xfrm>
          <a:prstGeom prst="roundRect">
            <a:avLst>
              <a:gd name="adj" fmla="val 3721"/>
            </a:avLst>
          </a:prstGeom>
          <a:solidFill>
            <a:srgbClr val="F7F9FD"/>
          </a:solidFill>
          <a:ln w="9525">
            <a:solidFill>
              <a:srgbClr val="D6DEEC"/>
            </a:solidFill>
            <a:prstDash val="solid"/>
          </a:ln>
        </p:spPr>
      </p:sp>
      <p:sp>
        <p:nvSpPr>
          <p:cNvPr id="5" name="Text 3"/>
          <p:cNvSpPr txBox="1"/>
          <p:nvPr/>
        </p:nvSpPr>
        <p:spPr>
          <a:xfrm>
            <a:off x="1024128" y="1929384"/>
            <a:ext cx="365760" cy="274320"/>
          </a:xfrm>
          <a:prstGeom prst="rect">
            <a:avLst/>
          </a:prstGeom>
          <a:noFill/>
          <a:ln/>
        </p:spPr>
        <p:txBody>
          <a:bodyPr wrap="square" lIns="0" tIns="0" rIns="0" bIns="0" rtlCol="0" anchor="ctr"/>
          <a:lstStyle/>
          <a:p>
            <a:pPr indent="0" marL="0">
              <a:buNone/>
            </a:pPr>
            <a:r>
              <a:rPr lang="en-US" sz="1500" dirty="0">
                <a:solidFill>
                  <a:srgbClr val="F5A623"/>
                </a:solidFill>
                <a:latin typeface="Calibri" pitchFamily="34" charset="0"/>
                <a:ea typeface="Calibri" pitchFamily="34" charset="-122"/>
                <a:cs typeface="Calibri" pitchFamily="34" charset="-120"/>
              </a:rPr>
              <a:t>◆</a:t>
            </a:r>
            <a:endParaRPr lang="en-US" sz="1500" dirty="0"/>
          </a:p>
        </p:txBody>
      </p:sp>
      <p:sp>
        <p:nvSpPr>
          <p:cNvPr id="6" name="Text 4"/>
          <p:cNvSpPr txBox="1"/>
          <p:nvPr/>
        </p:nvSpPr>
        <p:spPr>
          <a:xfrm>
            <a:off x="1426464" y="1892808"/>
            <a:ext cx="4206240" cy="329184"/>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Bitemporal ledger</a:t>
            </a:r>
            <a:endParaRPr lang="en-US" sz="1700" dirty="0"/>
          </a:p>
        </p:txBody>
      </p:sp>
      <p:sp>
        <p:nvSpPr>
          <p:cNvPr id="7" name="Text 5"/>
          <p:cNvSpPr txBox="1"/>
          <p:nvPr/>
        </p:nvSpPr>
        <p:spPr>
          <a:xfrm>
            <a:off x="1024128" y="2350008"/>
            <a:ext cx="4553712" cy="114300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Every fact carries valid time and transaction time. Append-only, never updated in place. You can answer what the system believed on 14 March, and why. Retro payroll is derived, not patched.</a:t>
            </a:r>
            <a:endParaRPr lang="en-US" sz="1250" dirty="0"/>
          </a:p>
        </p:txBody>
      </p:sp>
      <p:sp>
        <p:nvSpPr>
          <p:cNvPr id="8" name="Shape 6"/>
          <p:cNvSpPr/>
          <p:nvPr/>
        </p:nvSpPr>
        <p:spPr>
          <a:xfrm>
            <a:off x="6245352" y="1691640"/>
            <a:ext cx="5303520" cy="1965960"/>
          </a:xfrm>
          <a:prstGeom prst="roundRect">
            <a:avLst>
              <a:gd name="adj" fmla="val 3721"/>
            </a:avLst>
          </a:prstGeom>
          <a:solidFill>
            <a:srgbClr val="F7F9FD"/>
          </a:solidFill>
          <a:ln w="9525">
            <a:solidFill>
              <a:srgbClr val="D6DEEC"/>
            </a:solidFill>
            <a:prstDash val="solid"/>
          </a:ln>
        </p:spPr>
      </p:sp>
      <p:sp>
        <p:nvSpPr>
          <p:cNvPr id="9" name="Text 7"/>
          <p:cNvSpPr txBox="1"/>
          <p:nvPr/>
        </p:nvSpPr>
        <p:spPr>
          <a:xfrm>
            <a:off x="6629400" y="1929384"/>
            <a:ext cx="365760" cy="274320"/>
          </a:xfrm>
          <a:prstGeom prst="rect">
            <a:avLst/>
          </a:prstGeom>
          <a:noFill/>
          <a:ln/>
        </p:spPr>
        <p:txBody>
          <a:bodyPr wrap="square" lIns="0" tIns="0" rIns="0" bIns="0" rtlCol="0" anchor="ctr"/>
          <a:lstStyle/>
          <a:p>
            <a:pPr indent="0" marL="0">
              <a:buNone/>
            </a:pPr>
            <a:r>
              <a:rPr lang="en-US" sz="1500" dirty="0">
                <a:solidFill>
                  <a:srgbClr val="F5A623"/>
                </a:solidFill>
                <a:latin typeface="Calibri" pitchFamily="34" charset="0"/>
                <a:ea typeface="Calibri" pitchFamily="34" charset="-122"/>
                <a:cs typeface="Calibri" pitchFamily="34" charset="-120"/>
              </a:rPr>
              <a:t>◆</a:t>
            </a:r>
            <a:endParaRPr lang="en-US" sz="1500" dirty="0"/>
          </a:p>
        </p:txBody>
      </p:sp>
      <p:sp>
        <p:nvSpPr>
          <p:cNvPr id="10" name="Text 8"/>
          <p:cNvSpPr txBox="1"/>
          <p:nvPr/>
        </p:nvSpPr>
        <p:spPr>
          <a:xfrm>
            <a:off x="7031736" y="1892808"/>
            <a:ext cx="4206240" cy="329184"/>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Policy-as-code</a:t>
            </a:r>
            <a:endParaRPr lang="en-US" sz="1700" dirty="0"/>
          </a:p>
        </p:txBody>
      </p:sp>
      <p:sp>
        <p:nvSpPr>
          <p:cNvPr id="11" name="Text 9"/>
          <p:cNvSpPr txBox="1"/>
          <p:nvPr/>
        </p:nvSpPr>
        <p:spPr>
          <a:xfrm>
            <a:off x="6629400" y="2350008"/>
            <a:ext cx="4553712" cy="114300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Leave, overtime, tax and eligibility compiled to a versioned, signed, golden-tested rule graph. An LLM may author a policy. A compiler validates it. A deterministic engine runs it.</a:t>
            </a:r>
            <a:endParaRPr lang="en-US" sz="1250" dirty="0"/>
          </a:p>
        </p:txBody>
      </p:sp>
      <p:sp>
        <p:nvSpPr>
          <p:cNvPr id="12" name="Shape 10"/>
          <p:cNvSpPr/>
          <p:nvPr/>
        </p:nvSpPr>
        <p:spPr>
          <a:xfrm>
            <a:off x="640080" y="3913632"/>
            <a:ext cx="5303520" cy="1965960"/>
          </a:xfrm>
          <a:prstGeom prst="roundRect">
            <a:avLst>
              <a:gd name="adj" fmla="val 3721"/>
            </a:avLst>
          </a:prstGeom>
          <a:solidFill>
            <a:srgbClr val="F7F9FD"/>
          </a:solidFill>
          <a:ln w="9525">
            <a:solidFill>
              <a:srgbClr val="D6DEEC"/>
            </a:solidFill>
            <a:prstDash val="solid"/>
          </a:ln>
        </p:spPr>
      </p:sp>
      <p:sp>
        <p:nvSpPr>
          <p:cNvPr id="13" name="Text 11"/>
          <p:cNvSpPr txBox="1"/>
          <p:nvPr/>
        </p:nvSpPr>
        <p:spPr>
          <a:xfrm>
            <a:off x="1024128" y="4151376"/>
            <a:ext cx="365760" cy="274320"/>
          </a:xfrm>
          <a:prstGeom prst="rect">
            <a:avLst/>
          </a:prstGeom>
          <a:noFill/>
          <a:ln/>
        </p:spPr>
        <p:txBody>
          <a:bodyPr wrap="square" lIns="0" tIns="0" rIns="0" bIns="0" rtlCol="0" anchor="ctr"/>
          <a:lstStyle/>
          <a:p>
            <a:pPr indent="0" marL="0">
              <a:buNone/>
            </a:pPr>
            <a:r>
              <a:rPr lang="en-US" sz="1500" dirty="0">
                <a:solidFill>
                  <a:srgbClr val="F5A623"/>
                </a:solidFill>
                <a:latin typeface="Calibri" pitchFamily="34" charset="0"/>
                <a:ea typeface="Calibri" pitchFamily="34" charset="-122"/>
                <a:cs typeface="Calibri" pitchFamily="34" charset="-120"/>
              </a:rPr>
              <a:t>◆</a:t>
            </a:r>
            <a:endParaRPr lang="en-US" sz="1500" dirty="0"/>
          </a:p>
        </p:txBody>
      </p:sp>
      <p:sp>
        <p:nvSpPr>
          <p:cNvPr id="14" name="Text 12"/>
          <p:cNvSpPr txBox="1"/>
          <p:nvPr/>
        </p:nvSpPr>
        <p:spPr>
          <a:xfrm>
            <a:off x="1426464" y="4114800"/>
            <a:ext cx="4206240" cy="329184"/>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Decision Records</a:t>
            </a:r>
            <a:endParaRPr lang="en-US" sz="1700" dirty="0"/>
          </a:p>
        </p:txBody>
      </p:sp>
      <p:sp>
        <p:nvSpPr>
          <p:cNvPr id="15" name="Text 13"/>
          <p:cNvSpPr txBox="1"/>
          <p:nvPr/>
        </p:nvSpPr>
        <p:spPr>
          <a:xfrm>
            <a:off x="1024128" y="4572000"/>
            <a:ext cx="4553712" cy="114300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Every material decision emits a signed, hash-chained record: inputs, policy version, model version, human reviewer, rationale. EU AI Act deployer obligations, shipped as a feature.</a:t>
            </a:r>
            <a:endParaRPr lang="en-US" sz="1250" dirty="0"/>
          </a:p>
        </p:txBody>
      </p:sp>
      <p:sp>
        <p:nvSpPr>
          <p:cNvPr id="16" name="Shape 14"/>
          <p:cNvSpPr/>
          <p:nvPr/>
        </p:nvSpPr>
        <p:spPr>
          <a:xfrm>
            <a:off x="6245352" y="3913632"/>
            <a:ext cx="5303520" cy="1965960"/>
          </a:xfrm>
          <a:prstGeom prst="roundRect">
            <a:avLst>
              <a:gd name="adj" fmla="val 3721"/>
            </a:avLst>
          </a:prstGeom>
          <a:solidFill>
            <a:srgbClr val="F7F9FD"/>
          </a:solidFill>
          <a:ln w="9525">
            <a:solidFill>
              <a:srgbClr val="D6DEEC"/>
            </a:solidFill>
            <a:prstDash val="solid"/>
          </a:ln>
        </p:spPr>
      </p:sp>
      <p:sp>
        <p:nvSpPr>
          <p:cNvPr id="17" name="Text 15"/>
          <p:cNvSpPr txBox="1"/>
          <p:nvPr/>
        </p:nvSpPr>
        <p:spPr>
          <a:xfrm>
            <a:off x="6629400" y="4151376"/>
            <a:ext cx="365760" cy="274320"/>
          </a:xfrm>
          <a:prstGeom prst="rect">
            <a:avLst/>
          </a:prstGeom>
          <a:noFill/>
          <a:ln/>
        </p:spPr>
        <p:txBody>
          <a:bodyPr wrap="square" lIns="0" tIns="0" rIns="0" bIns="0" rtlCol="0" anchor="ctr"/>
          <a:lstStyle/>
          <a:p>
            <a:pPr indent="0" marL="0">
              <a:buNone/>
            </a:pPr>
            <a:r>
              <a:rPr lang="en-US" sz="1500" dirty="0">
                <a:solidFill>
                  <a:srgbClr val="F5A623"/>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7031736" y="4114800"/>
            <a:ext cx="4206240" cy="329184"/>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Group-native tenancy</a:t>
            </a:r>
            <a:endParaRPr lang="en-US" sz="1700" dirty="0"/>
          </a:p>
        </p:txBody>
      </p:sp>
      <p:sp>
        <p:nvSpPr>
          <p:cNvPr id="19" name="Text 17"/>
          <p:cNvSpPr txBox="1"/>
          <p:nvPr/>
        </p:nvSpPr>
        <p:spPr>
          <a:xfrm>
            <a:off x="6629400" y="4572000"/>
            <a:ext cx="4553712" cy="1143000"/>
          </a:xfrm>
          <a:prstGeom prst="rect">
            <a:avLst/>
          </a:prstGeom>
          <a:noFill/>
          <a:ln/>
        </p:spPr>
        <p:txBody>
          <a:bodyPr wrap="square" lIns="0" tIns="0" rIns="0" bIns="0" rtlCol="0" anchor="ctr"/>
          <a:lstStyle/>
          <a:p>
            <a:pPr indent="0" marL="0">
              <a:lnSpc>
                <a:spcPts val="1700"/>
              </a:lnSpc>
              <a:buNone/>
            </a:pPr>
            <a:r>
              <a:rPr lang="en-US" sz="1250" dirty="0">
                <a:solidFill>
                  <a:srgbClr val="5A6472"/>
                </a:solidFill>
                <a:latin typeface="Calibri" pitchFamily="34" charset="0"/>
                <a:ea typeface="Calibri" pitchFamily="34" charset="-122"/>
                <a:cs typeface="Calibri" pitchFamily="34" charset="-120"/>
              </a:rPr>
              <a:t>Tenant → Group → Legal Entity → Branch as architectural dimensions, each with its own policy, calendar, currency, statutory profile and data residency. Not config on a single-company model.</a:t>
            </a:r>
            <a:endParaRPr lang="en-US" sz="1250" dirty="0"/>
          </a:p>
        </p:txBody>
      </p:sp>
      <p:sp>
        <p:nvSpPr>
          <p:cNvPr id="20" name="Text 18"/>
          <p:cNvSpPr txBox="1"/>
          <p:nvPr/>
        </p:nvSpPr>
        <p:spPr>
          <a:xfrm>
            <a:off x="640080" y="6053328"/>
            <a:ext cx="10881360" cy="274320"/>
          </a:xfrm>
          <a:prstGeom prst="rect">
            <a:avLst/>
          </a:prstGeom>
          <a:noFill/>
          <a:ln/>
        </p:spPr>
        <p:txBody>
          <a:bodyPr wrap="square" lIns="0" tIns="0" rIns="0" bIns="0" rtlCol="0" anchor="ctr"/>
          <a:lstStyle/>
          <a:p>
            <a:pPr indent="0" marL="0">
              <a:buNone/>
            </a:pPr>
            <a:r>
              <a:rPr lang="en-US" sz="1300" b="1" i="1" dirty="0">
                <a:solidFill>
                  <a:srgbClr val="1E2761"/>
                </a:solidFill>
                <a:latin typeface="Calibri" pitchFamily="34" charset="0"/>
                <a:ea typeface="Calibri" pitchFamily="34" charset="-122"/>
                <a:cs typeface="Calibri" pitchFamily="34" charset="-120"/>
              </a:rPr>
              <a:t>Incumbents cannot follow without replacing their persistence layer under a live installed base.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alibri" pitchFamily="34" charset="0"/>
                <a:ea typeface="Calibri" pitchFamily="34" charset="-122"/>
                <a:cs typeface="Calibri" pitchFamily="34" charset="-120"/>
              </a:rPr>
              <a:t>THE DIFFERENTIATOR</a:t>
            </a:r>
            <a:endParaRPr lang="en-US" sz="1100" dirty="0"/>
          </a:p>
        </p:txBody>
      </p:sp>
      <p:sp>
        <p:nvSpPr>
          <p:cNvPr id="3" name="Text 1"/>
          <p:cNvSpPr txBox="1"/>
          <p:nvPr/>
        </p:nvSpPr>
        <p:spPr>
          <a:xfrm>
            <a:off x="640080" y="749808"/>
            <a:ext cx="822960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Continuity Ladder</a:t>
            </a:r>
            <a:endParaRPr lang="en-US" sz="3400" dirty="0"/>
          </a:p>
        </p:txBody>
      </p:sp>
      <p:sp>
        <p:nvSpPr>
          <p:cNvPr id="4" name="Text 2"/>
          <p:cNvSpPr txBox="1"/>
          <p:nvPr/>
        </p:nvSpPr>
        <p:spPr>
          <a:xfrm>
            <a:off x="640080" y="1353312"/>
            <a:ext cx="10881360" cy="292608"/>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A published, contractual specification of what the platform does as AI degrades. No competitor publishes one.</a:t>
            </a:r>
            <a:endParaRPr lang="en-US" sz="1350" dirty="0"/>
          </a:p>
        </p:txBody>
      </p:sp>
      <p:sp>
        <p:nvSpPr>
          <p:cNvPr id="5" name="Shape 3"/>
          <p:cNvSpPr/>
          <p:nvPr/>
        </p:nvSpPr>
        <p:spPr>
          <a:xfrm>
            <a:off x="640080" y="1965960"/>
            <a:ext cx="10908792" cy="749808"/>
          </a:xfrm>
          <a:prstGeom prst="roundRect">
            <a:avLst>
              <a:gd name="adj" fmla="val 8537"/>
            </a:avLst>
          </a:prstGeom>
          <a:solidFill>
            <a:srgbClr val="141B45"/>
          </a:solidFill>
          <a:ln w="12700">
            <a:solidFill>
              <a:srgbClr val="35407C"/>
            </a:solidFill>
            <a:prstDash val="solid"/>
          </a:ln>
        </p:spPr>
      </p:sp>
      <p:sp>
        <p:nvSpPr>
          <p:cNvPr id="6" name="Text 4"/>
          <p:cNvSpPr txBox="1"/>
          <p:nvPr/>
        </p:nvSpPr>
        <p:spPr>
          <a:xfrm>
            <a:off x="914400" y="2148840"/>
            <a:ext cx="685800" cy="384048"/>
          </a:xfrm>
          <a:prstGeom prst="rect">
            <a:avLst/>
          </a:prstGeom>
          <a:noFill/>
          <a:ln/>
        </p:spPr>
        <p:txBody>
          <a:bodyPr wrap="square" lIns="0" tIns="0" rIns="0" bIns="0" rtlCol="0" anchor="ctr"/>
          <a:lstStyle/>
          <a:p>
            <a:pPr indent="0" marL="0">
              <a:buNone/>
            </a:pPr>
            <a:r>
              <a:rPr lang="en-US" sz="2000" b="1" dirty="0">
                <a:solidFill>
                  <a:srgbClr val="F5A623"/>
                </a:solidFill>
                <a:latin typeface="Cambria" pitchFamily="34" charset="0"/>
                <a:ea typeface="Cambria" pitchFamily="34" charset="-122"/>
                <a:cs typeface="Cambria" pitchFamily="34" charset="-120"/>
              </a:rPr>
              <a:t>L0</a:t>
            </a:r>
            <a:endParaRPr lang="en-US" sz="2000" dirty="0"/>
          </a:p>
        </p:txBody>
      </p:sp>
      <p:sp>
        <p:nvSpPr>
          <p:cNvPr id="7" name="Text 5"/>
          <p:cNvSpPr txBox="1"/>
          <p:nvPr/>
        </p:nvSpPr>
        <p:spPr>
          <a:xfrm>
            <a:off x="1691640" y="2176272"/>
            <a:ext cx="210312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Autonomous</a:t>
            </a:r>
            <a:endParaRPr lang="en-US" sz="1500" dirty="0"/>
          </a:p>
        </p:txBody>
      </p:sp>
      <p:sp>
        <p:nvSpPr>
          <p:cNvPr id="8" name="Text 6"/>
          <p:cNvSpPr txBox="1"/>
          <p:nvPr/>
        </p:nvSpPr>
        <p:spPr>
          <a:xfrm>
            <a:off x="3886200" y="2194560"/>
            <a:ext cx="7406640" cy="329184"/>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Agents execute within charter and budget. Reversible.</a:t>
            </a:r>
            <a:endParaRPr lang="en-US" sz="1250" dirty="0"/>
          </a:p>
        </p:txBody>
      </p:sp>
      <p:sp>
        <p:nvSpPr>
          <p:cNvPr id="9" name="Shape 7"/>
          <p:cNvSpPr/>
          <p:nvPr/>
        </p:nvSpPr>
        <p:spPr>
          <a:xfrm>
            <a:off x="640080" y="2816352"/>
            <a:ext cx="10908792" cy="749808"/>
          </a:xfrm>
          <a:prstGeom prst="roundRect">
            <a:avLst>
              <a:gd name="adj" fmla="val 8537"/>
            </a:avLst>
          </a:prstGeom>
          <a:solidFill>
            <a:srgbClr val="141B45"/>
          </a:solidFill>
          <a:ln w="12700">
            <a:solidFill>
              <a:srgbClr val="35407C"/>
            </a:solidFill>
            <a:prstDash val="solid"/>
          </a:ln>
        </p:spPr>
      </p:sp>
      <p:sp>
        <p:nvSpPr>
          <p:cNvPr id="10" name="Text 8"/>
          <p:cNvSpPr txBox="1"/>
          <p:nvPr/>
        </p:nvSpPr>
        <p:spPr>
          <a:xfrm>
            <a:off x="914400" y="2999232"/>
            <a:ext cx="685800" cy="384048"/>
          </a:xfrm>
          <a:prstGeom prst="rect">
            <a:avLst/>
          </a:prstGeom>
          <a:noFill/>
          <a:ln/>
        </p:spPr>
        <p:txBody>
          <a:bodyPr wrap="square" lIns="0" tIns="0" rIns="0" bIns="0" rtlCol="0" anchor="ctr"/>
          <a:lstStyle/>
          <a:p>
            <a:pPr indent="0" marL="0">
              <a:buNone/>
            </a:pPr>
            <a:r>
              <a:rPr lang="en-US" sz="2000" b="1" dirty="0">
                <a:solidFill>
                  <a:srgbClr val="F5A623"/>
                </a:solidFill>
                <a:latin typeface="Cambria" pitchFamily="34" charset="0"/>
                <a:ea typeface="Cambria" pitchFamily="34" charset="-122"/>
                <a:cs typeface="Cambria" pitchFamily="34" charset="-120"/>
              </a:rPr>
              <a:t>L1</a:t>
            </a:r>
            <a:endParaRPr lang="en-US" sz="2000" dirty="0"/>
          </a:p>
        </p:txBody>
      </p:sp>
      <p:sp>
        <p:nvSpPr>
          <p:cNvPr id="11" name="Text 9"/>
          <p:cNvSpPr txBox="1"/>
          <p:nvPr/>
        </p:nvSpPr>
        <p:spPr>
          <a:xfrm>
            <a:off x="1691640" y="3026664"/>
            <a:ext cx="210312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Supervised</a:t>
            </a:r>
            <a:endParaRPr lang="en-US" sz="1500" dirty="0"/>
          </a:p>
        </p:txBody>
      </p:sp>
      <p:sp>
        <p:nvSpPr>
          <p:cNvPr id="12" name="Text 10"/>
          <p:cNvSpPr txBox="1"/>
          <p:nvPr/>
        </p:nvSpPr>
        <p:spPr>
          <a:xfrm>
            <a:off x="3886200" y="3044952"/>
            <a:ext cx="7406640" cy="329184"/>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Agents propose with simulation attached. Human approves.</a:t>
            </a:r>
            <a:endParaRPr lang="en-US" sz="1250" dirty="0"/>
          </a:p>
        </p:txBody>
      </p:sp>
      <p:sp>
        <p:nvSpPr>
          <p:cNvPr id="13" name="Shape 11"/>
          <p:cNvSpPr/>
          <p:nvPr/>
        </p:nvSpPr>
        <p:spPr>
          <a:xfrm>
            <a:off x="640080" y="3666744"/>
            <a:ext cx="10908792" cy="749808"/>
          </a:xfrm>
          <a:prstGeom prst="roundRect">
            <a:avLst>
              <a:gd name="adj" fmla="val 8537"/>
            </a:avLst>
          </a:prstGeom>
          <a:solidFill>
            <a:srgbClr val="141B45"/>
          </a:solidFill>
          <a:ln w="12700">
            <a:solidFill>
              <a:srgbClr val="35407C"/>
            </a:solidFill>
            <a:prstDash val="solid"/>
          </a:ln>
        </p:spPr>
      </p:sp>
      <p:sp>
        <p:nvSpPr>
          <p:cNvPr id="14" name="Text 12"/>
          <p:cNvSpPr txBox="1"/>
          <p:nvPr/>
        </p:nvSpPr>
        <p:spPr>
          <a:xfrm>
            <a:off x="914400" y="3849624"/>
            <a:ext cx="685800" cy="384048"/>
          </a:xfrm>
          <a:prstGeom prst="rect">
            <a:avLst/>
          </a:prstGeom>
          <a:noFill/>
          <a:ln/>
        </p:spPr>
        <p:txBody>
          <a:bodyPr wrap="square" lIns="0" tIns="0" rIns="0" bIns="0" rtlCol="0" anchor="ctr"/>
          <a:lstStyle/>
          <a:p>
            <a:pPr indent="0" marL="0">
              <a:buNone/>
            </a:pPr>
            <a:r>
              <a:rPr lang="en-US" sz="2000" b="1" dirty="0">
                <a:solidFill>
                  <a:srgbClr val="F5A623"/>
                </a:solidFill>
                <a:latin typeface="Cambria" pitchFamily="34" charset="0"/>
                <a:ea typeface="Cambria" pitchFamily="34" charset="-122"/>
                <a:cs typeface="Cambria" pitchFamily="34" charset="-120"/>
              </a:rPr>
              <a:t>L2</a:t>
            </a:r>
            <a:endParaRPr lang="en-US" sz="2000" dirty="0"/>
          </a:p>
        </p:txBody>
      </p:sp>
      <p:sp>
        <p:nvSpPr>
          <p:cNvPr id="15" name="Text 13"/>
          <p:cNvSpPr txBox="1"/>
          <p:nvPr/>
        </p:nvSpPr>
        <p:spPr>
          <a:xfrm>
            <a:off x="1691640" y="3877056"/>
            <a:ext cx="210312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Assisted</a:t>
            </a:r>
            <a:endParaRPr lang="en-US" sz="1500" dirty="0"/>
          </a:p>
        </p:txBody>
      </p:sp>
      <p:sp>
        <p:nvSpPr>
          <p:cNvPr id="16" name="Text 14"/>
          <p:cNvSpPr txBox="1"/>
          <p:nvPr/>
        </p:nvSpPr>
        <p:spPr>
          <a:xfrm>
            <a:off x="3886200" y="3895344"/>
            <a:ext cx="7406640" cy="329184"/>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Agents draft and explain only. No transaction authority.</a:t>
            </a:r>
            <a:endParaRPr lang="en-US" sz="1250" dirty="0"/>
          </a:p>
        </p:txBody>
      </p:sp>
      <p:sp>
        <p:nvSpPr>
          <p:cNvPr id="17" name="Shape 15"/>
          <p:cNvSpPr/>
          <p:nvPr/>
        </p:nvSpPr>
        <p:spPr>
          <a:xfrm>
            <a:off x="640080" y="4517136"/>
            <a:ext cx="10908792" cy="749808"/>
          </a:xfrm>
          <a:prstGeom prst="roundRect">
            <a:avLst>
              <a:gd name="adj" fmla="val 8537"/>
            </a:avLst>
          </a:prstGeom>
          <a:solidFill>
            <a:srgbClr val="F5A623"/>
          </a:solidFill>
          <a:ln w="12700">
            <a:solidFill>
              <a:srgbClr val="F5A623"/>
            </a:solidFill>
            <a:prstDash val="solid"/>
          </a:ln>
        </p:spPr>
      </p:sp>
      <p:sp>
        <p:nvSpPr>
          <p:cNvPr id="18" name="Text 16"/>
          <p:cNvSpPr txBox="1"/>
          <p:nvPr/>
        </p:nvSpPr>
        <p:spPr>
          <a:xfrm>
            <a:off x="914400" y="4700016"/>
            <a:ext cx="685800" cy="384048"/>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L3</a:t>
            </a:r>
            <a:endParaRPr lang="en-US" sz="2000" dirty="0"/>
          </a:p>
        </p:txBody>
      </p:sp>
      <p:sp>
        <p:nvSpPr>
          <p:cNvPr id="19" name="Text 17"/>
          <p:cNvSpPr txBox="1"/>
          <p:nvPr/>
        </p:nvSpPr>
        <p:spPr>
          <a:xfrm>
            <a:off x="1691640" y="4727448"/>
            <a:ext cx="2103120" cy="32918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Deterministic</a:t>
            </a:r>
            <a:endParaRPr lang="en-US" sz="1500" dirty="0"/>
          </a:p>
        </p:txBody>
      </p:sp>
      <p:sp>
        <p:nvSpPr>
          <p:cNvPr id="20" name="Text 18"/>
          <p:cNvSpPr txBox="1"/>
          <p:nvPr/>
        </p:nvSpPr>
        <p:spPr>
          <a:xfrm>
            <a:off x="3886200" y="4745736"/>
            <a:ext cx="7406640" cy="329184"/>
          </a:xfrm>
          <a:prstGeom prst="rect">
            <a:avLst/>
          </a:prstGeom>
          <a:noFill/>
          <a:ln/>
        </p:spPr>
        <p:txBody>
          <a:bodyPr wrap="square" lIns="0" tIns="0" rIns="0" bIns="0" rtlCol="0" anchor="ctr"/>
          <a:lstStyle/>
          <a:p>
            <a:pPr indent="0" marL="0">
              <a:buNone/>
            </a:pPr>
            <a:r>
              <a:rPr lang="en-US" sz="1250" dirty="0">
                <a:solidFill>
                  <a:srgbClr val="1E2761"/>
                </a:solidFill>
                <a:latin typeface="Calibri" pitchFamily="34" charset="0"/>
                <a:ea typeface="Calibri" pitchFamily="34" charset="-122"/>
                <a:cs typeface="Calibri" pitchFamily="34" charset="-120"/>
              </a:rPr>
              <a:t>ZERO LLM. All 203 modules, all calculations, all filings. Payroll runs.</a:t>
            </a:r>
            <a:endParaRPr lang="en-US" sz="1250" dirty="0"/>
          </a:p>
        </p:txBody>
      </p:sp>
      <p:sp>
        <p:nvSpPr>
          <p:cNvPr id="21" name="Shape 19"/>
          <p:cNvSpPr/>
          <p:nvPr/>
        </p:nvSpPr>
        <p:spPr>
          <a:xfrm>
            <a:off x="640080" y="5367528"/>
            <a:ext cx="10908792" cy="749808"/>
          </a:xfrm>
          <a:prstGeom prst="roundRect">
            <a:avLst>
              <a:gd name="adj" fmla="val 8537"/>
            </a:avLst>
          </a:prstGeom>
          <a:solidFill>
            <a:srgbClr val="263070"/>
          </a:solidFill>
          <a:ln w="12700">
            <a:solidFill>
              <a:srgbClr val="35407C"/>
            </a:solidFill>
            <a:prstDash val="solid"/>
          </a:ln>
        </p:spPr>
      </p:sp>
      <p:sp>
        <p:nvSpPr>
          <p:cNvPr id="22" name="Text 20"/>
          <p:cNvSpPr txBox="1"/>
          <p:nvPr/>
        </p:nvSpPr>
        <p:spPr>
          <a:xfrm>
            <a:off x="914400" y="5550408"/>
            <a:ext cx="685800" cy="384048"/>
          </a:xfrm>
          <a:prstGeom prst="rect">
            <a:avLst/>
          </a:prstGeom>
          <a:noFill/>
          <a:ln/>
        </p:spPr>
        <p:txBody>
          <a:bodyPr wrap="square" lIns="0" tIns="0" rIns="0" bIns="0" rtlCol="0" anchor="ctr"/>
          <a:lstStyle/>
          <a:p>
            <a:pPr indent="0" marL="0">
              <a:buNone/>
            </a:pPr>
            <a:r>
              <a:rPr lang="en-US" sz="2000" b="1" dirty="0">
                <a:solidFill>
                  <a:srgbClr val="F5A623"/>
                </a:solidFill>
                <a:latin typeface="Cambria" pitchFamily="34" charset="0"/>
                <a:ea typeface="Cambria" pitchFamily="34" charset="-122"/>
                <a:cs typeface="Cambria" pitchFamily="34" charset="-120"/>
              </a:rPr>
              <a:t>L4</a:t>
            </a:r>
            <a:endParaRPr lang="en-US" sz="2000" dirty="0"/>
          </a:p>
        </p:txBody>
      </p:sp>
      <p:sp>
        <p:nvSpPr>
          <p:cNvPr id="23" name="Text 21"/>
          <p:cNvSpPr txBox="1"/>
          <p:nvPr/>
        </p:nvSpPr>
        <p:spPr>
          <a:xfrm>
            <a:off x="1691640" y="5577840"/>
            <a:ext cx="210312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Continuity</a:t>
            </a:r>
            <a:endParaRPr lang="en-US" sz="1500" dirty="0"/>
          </a:p>
        </p:txBody>
      </p:sp>
      <p:sp>
        <p:nvSpPr>
          <p:cNvPr id="24" name="Text 22"/>
          <p:cNvSpPr txBox="1"/>
          <p:nvPr/>
        </p:nvSpPr>
        <p:spPr>
          <a:xfrm>
            <a:off x="3886200" y="5596128"/>
            <a:ext cx="7406640" cy="329184"/>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Offline capture, break-glass approvals, emergency payroll from last-good state.</a:t>
            </a:r>
            <a:endParaRPr lang="en-US" sz="1250" dirty="0"/>
          </a:p>
        </p:txBody>
      </p:sp>
      <p:sp>
        <p:nvSpPr>
          <p:cNvPr id="25" name="Text 23"/>
          <p:cNvSpPr txBox="1"/>
          <p:nvPr/>
        </p:nvSpPr>
        <p:spPr>
          <a:xfrm>
            <a:off x="640080" y="6263640"/>
            <a:ext cx="10881360" cy="310896"/>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L3 is not our fallback. It is our floor — and it carries our highest availability commitment, because it has the fewest dependencies. Independently attested every year.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8229600" cy="256032"/>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PRODUCT SCOPE</a:t>
            </a:r>
            <a:endParaRPr lang="en-US" sz="10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 complete HRIS — 203 modules, 16 domains</a:t>
            </a:r>
            <a:endParaRPr lang="en-US" sz="3200" dirty="0"/>
          </a:p>
        </p:txBody>
      </p:sp>
      <p:sp>
        <p:nvSpPr>
          <p:cNvPr id="4" name="Shape 2"/>
          <p:cNvSpPr/>
          <p:nvPr/>
        </p:nvSpPr>
        <p:spPr>
          <a:xfrm>
            <a:off x="640080" y="1645920"/>
            <a:ext cx="2651760" cy="786384"/>
          </a:xfrm>
          <a:prstGeom prst="roundRect">
            <a:avLst>
              <a:gd name="adj" fmla="val 9302"/>
            </a:avLst>
          </a:prstGeom>
          <a:solidFill>
            <a:srgbClr val="F7F9FD"/>
          </a:solidFill>
          <a:ln w="9525">
            <a:solidFill>
              <a:srgbClr val="D6DEEC"/>
            </a:solidFill>
            <a:prstDash val="solid"/>
          </a:ln>
        </p:spPr>
      </p:sp>
      <p:sp>
        <p:nvSpPr>
          <p:cNvPr id="5" name="Text 3"/>
          <p:cNvSpPr txBox="1"/>
          <p:nvPr/>
        </p:nvSpPr>
        <p:spPr>
          <a:xfrm>
            <a:off x="859536" y="1773936"/>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Foundation &amp; Tenancy</a:t>
            </a:r>
            <a:endParaRPr lang="en-US" sz="1150" dirty="0"/>
          </a:p>
        </p:txBody>
      </p:sp>
      <p:sp>
        <p:nvSpPr>
          <p:cNvPr id="6" name="Text 4"/>
          <p:cNvSpPr txBox="1"/>
          <p:nvPr/>
        </p:nvSpPr>
        <p:spPr>
          <a:xfrm>
            <a:off x="2724912" y="1828800"/>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16</a:t>
            </a:r>
            <a:endParaRPr lang="en-US" sz="1700" dirty="0"/>
          </a:p>
        </p:txBody>
      </p:sp>
      <p:sp>
        <p:nvSpPr>
          <p:cNvPr id="7" name="Shape 5"/>
          <p:cNvSpPr/>
          <p:nvPr/>
        </p:nvSpPr>
        <p:spPr>
          <a:xfrm>
            <a:off x="3383280" y="1645920"/>
            <a:ext cx="2651760" cy="786384"/>
          </a:xfrm>
          <a:prstGeom prst="roundRect">
            <a:avLst>
              <a:gd name="adj" fmla="val 9302"/>
            </a:avLst>
          </a:prstGeom>
          <a:solidFill>
            <a:srgbClr val="F7F9FD"/>
          </a:solidFill>
          <a:ln w="9525">
            <a:solidFill>
              <a:srgbClr val="D6DEEC"/>
            </a:solidFill>
            <a:prstDash val="solid"/>
          </a:ln>
        </p:spPr>
      </p:sp>
      <p:sp>
        <p:nvSpPr>
          <p:cNvPr id="8" name="Text 6"/>
          <p:cNvSpPr txBox="1"/>
          <p:nvPr/>
        </p:nvSpPr>
        <p:spPr>
          <a:xfrm>
            <a:off x="3602736" y="1773936"/>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Core HR</a:t>
            </a:r>
            <a:endParaRPr lang="en-US" sz="1150" dirty="0"/>
          </a:p>
        </p:txBody>
      </p:sp>
      <p:sp>
        <p:nvSpPr>
          <p:cNvPr id="9" name="Text 7"/>
          <p:cNvSpPr txBox="1"/>
          <p:nvPr/>
        </p:nvSpPr>
        <p:spPr>
          <a:xfrm>
            <a:off x="5468112" y="1828800"/>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16</a:t>
            </a:r>
            <a:endParaRPr lang="en-US" sz="1700" dirty="0"/>
          </a:p>
        </p:txBody>
      </p:sp>
      <p:sp>
        <p:nvSpPr>
          <p:cNvPr id="10" name="Shape 8"/>
          <p:cNvSpPr/>
          <p:nvPr/>
        </p:nvSpPr>
        <p:spPr>
          <a:xfrm>
            <a:off x="6126480" y="1645920"/>
            <a:ext cx="2651760" cy="786384"/>
          </a:xfrm>
          <a:prstGeom prst="roundRect">
            <a:avLst>
              <a:gd name="adj" fmla="val 9302"/>
            </a:avLst>
          </a:prstGeom>
          <a:solidFill>
            <a:srgbClr val="F7F9FD"/>
          </a:solidFill>
          <a:ln w="9525">
            <a:solidFill>
              <a:srgbClr val="D6DEEC"/>
            </a:solidFill>
            <a:prstDash val="solid"/>
          </a:ln>
        </p:spPr>
      </p:sp>
      <p:sp>
        <p:nvSpPr>
          <p:cNvPr id="11" name="Text 9"/>
          <p:cNvSpPr txBox="1"/>
          <p:nvPr/>
        </p:nvSpPr>
        <p:spPr>
          <a:xfrm>
            <a:off x="6345936" y="1773936"/>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Talent Acquisition</a:t>
            </a:r>
            <a:endParaRPr lang="en-US" sz="1150" dirty="0"/>
          </a:p>
        </p:txBody>
      </p:sp>
      <p:sp>
        <p:nvSpPr>
          <p:cNvPr id="12" name="Text 10"/>
          <p:cNvSpPr txBox="1"/>
          <p:nvPr/>
        </p:nvSpPr>
        <p:spPr>
          <a:xfrm>
            <a:off x="8211312" y="1828800"/>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15</a:t>
            </a:r>
            <a:endParaRPr lang="en-US" sz="1700" dirty="0"/>
          </a:p>
        </p:txBody>
      </p:sp>
      <p:sp>
        <p:nvSpPr>
          <p:cNvPr id="13" name="Shape 11"/>
          <p:cNvSpPr/>
          <p:nvPr/>
        </p:nvSpPr>
        <p:spPr>
          <a:xfrm>
            <a:off x="8869680" y="1645920"/>
            <a:ext cx="2651760" cy="786384"/>
          </a:xfrm>
          <a:prstGeom prst="roundRect">
            <a:avLst>
              <a:gd name="adj" fmla="val 9302"/>
            </a:avLst>
          </a:prstGeom>
          <a:solidFill>
            <a:srgbClr val="F7F9FD"/>
          </a:solidFill>
          <a:ln w="9525">
            <a:solidFill>
              <a:srgbClr val="D6DEEC"/>
            </a:solidFill>
            <a:prstDash val="solid"/>
          </a:ln>
        </p:spPr>
      </p:sp>
      <p:sp>
        <p:nvSpPr>
          <p:cNvPr id="14" name="Text 12"/>
          <p:cNvSpPr txBox="1"/>
          <p:nvPr/>
        </p:nvSpPr>
        <p:spPr>
          <a:xfrm>
            <a:off x="9089136" y="1773936"/>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Onboarding &amp; Movement</a:t>
            </a:r>
            <a:endParaRPr lang="en-US" sz="1150" dirty="0"/>
          </a:p>
        </p:txBody>
      </p:sp>
      <p:sp>
        <p:nvSpPr>
          <p:cNvPr id="15" name="Text 13"/>
          <p:cNvSpPr txBox="1"/>
          <p:nvPr/>
        </p:nvSpPr>
        <p:spPr>
          <a:xfrm>
            <a:off x="10954512" y="1828800"/>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13</a:t>
            </a:r>
            <a:endParaRPr lang="en-US" sz="1700" dirty="0"/>
          </a:p>
        </p:txBody>
      </p:sp>
      <p:sp>
        <p:nvSpPr>
          <p:cNvPr id="16" name="Shape 14"/>
          <p:cNvSpPr/>
          <p:nvPr/>
        </p:nvSpPr>
        <p:spPr>
          <a:xfrm>
            <a:off x="640080" y="2542032"/>
            <a:ext cx="2651760" cy="786384"/>
          </a:xfrm>
          <a:prstGeom prst="roundRect">
            <a:avLst>
              <a:gd name="adj" fmla="val 9302"/>
            </a:avLst>
          </a:prstGeom>
          <a:solidFill>
            <a:srgbClr val="F7F9FD"/>
          </a:solidFill>
          <a:ln w="9525">
            <a:solidFill>
              <a:srgbClr val="D6DEEC"/>
            </a:solidFill>
            <a:prstDash val="solid"/>
          </a:ln>
        </p:spPr>
      </p:sp>
      <p:sp>
        <p:nvSpPr>
          <p:cNvPr id="17" name="Text 15"/>
          <p:cNvSpPr txBox="1"/>
          <p:nvPr/>
        </p:nvSpPr>
        <p:spPr>
          <a:xfrm>
            <a:off x="859536" y="2670048"/>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Time &amp; Attendance</a:t>
            </a:r>
            <a:endParaRPr lang="en-US" sz="1150" dirty="0"/>
          </a:p>
        </p:txBody>
      </p:sp>
      <p:sp>
        <p:nvSpPr>
          <p:cNvPr id="18" name="Text 16"/>
          <p:cNvSpPr txBox="1"/>
          <p:nvPr/>
        </p:nvSpPr>
        <p:spPr>
          <a:xfrm>
            <a:off x="2724912" y="2724912"/>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12</a:t>
            </a:r>
            <a:endParaRPr lang="en-US" sz="1700" dirty="0"/>
          </a:p>
        </p:txBody>
      </p:sp>
      <p:sp>
        <p:nvSpPr>
          <p:cNvPr id="19" name="Shape 17"/>
          <p:cNvSpPr/>
          <p:nvPr/>
        </p:nvSpPr>
        <p:spPr>
          <a:xfrm>
            <a:off x="3383280" y="2542032"/>
            <a:ext cx="2651760" cy="786384"/>
          </a:xfrm>
          <a:prstGeom prst="roundRect">
            <a:avLst>
              <a:gd name="adj" fmla="val 9302"/>
            </a:avLst>
          </a:prstGeom>
          <a:solidFill>
            <a:srgbClr val="F7F9FD"/>
          </a:solidFill>
          <a:ln w="9525">
            <a:solidFill>
              <a:srgbClr val="D6DEEC"/>
            </a:solidFill>
            <a:prstDash val="solid"/>
          </a:ln>
        </p:spPr>
      </p:sp>
      <p:sp>
        <p:nvSpPr>
          <p:cNvPr id="20" name="Text 18"/>
          <p:cNvSpPr txBox="1"/>
          <p:nvPr/>
        </p:nvSpPr>
        <p:spPr>
          <a:xfrm>
            <a:off x="3602736" y="2670048"/>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Leave &amp; Absence</a:t>
            </a:r>
            <a:endParaRPr lang="en-US" sz="1150" dirty="0"/>
          </a:p>
        </p:txBody>
      </p:sp>
      <p:sp>
        <p:nvSpPr>
          <p:cNvPr id="21" name="Text 19"/>
          <p:cNvSpPr txBox="1"/>
          <p:nvPr/>
        </p:nvSpPr>
        <p:spPr>
          <a:xfrm>
            <a:off x="5468112" y="2724912"/>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12</a:t>
            </a:r>
            <a:endParaRPr lang="en-US" sz="1700" dirty="0"/>
          </a:p>
        </p:txBody>
      </p:sp>
      <p:sp>
        <p:nvSpPr>
          <p:cNvPr id="22" name="Shape 20"/>
          <p:cNvSpPr/>
          <p:nvPr/>
        </p:nvSpPr>
        <p:spPr>
          <a:xfrm>
            <a:off x="6126480" y="2542032"/>
            <a:ext cx="2651760" cy="786384"/>
          </a:xfrm>
          <a:prstGeom prst="roundRect">
            <a:avLst>
              <a:gd name="adj" fmla="val 9302"/>
            </a:avLst>
          </a:prstGeom>
          <a:solidFill>
            <a:srgbClr val="F7F9FD"/>
          </a:solidFill>
          <a:ln w="9525">
            <a:solidFill>
              <a:srgbClr val="D6DEEC"/>
            </a:solidFill>
            <a:prstDash val="solid"/>
          </a:ln>
        </p:spPr>
      </p:sp>
      <p:sp>
        <p:nvSpPr>
          <p:cNvPr id="23" name="Text 21"/>
          <p:cNvSpPr txBox="1"/>
          <p:nvPr/>
        </p:nvSpPr>
        <p:spPr>
          <a:xfrm>
            <a:off x="6345936" y="2670048"/>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Payroll</a:t>
            </a:r>
            <a:endParaRPr lang="en-US" sz="1150" dirty="0"/>
          </a:p>
        </p:txBody>
      </p:sp>
      <p:sp>
        <p:nvSpPr>
          <p:cNvPr id="24" name="Text 22"/>
          <p:cNvSpPr txBox="1"/>
          <p:nvPr/>
        </p:nvSpPr>
        <p:spPr>
          <a:xfrm>
            <a:off x="8211312" y="2724912"/>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18</a:t>
            </a:r>
            <a:endParaRPr lang="en-US" sz="1700" dirty="0"/>
          </a:p>
        </p:txBody>
      </p:sp>
      <p:sp>
        <p:nvSpPr>
          <p:cNvPr id="25" name="Shape 23"/>
          <p:cNvSpPr/>
          <p:nvPr/>
        </p:nvSpPr>
        <p:spPr>
          <a:xfrm>
            <a:off x="8869680" y="2542032"/>
            <a:ext cx="2651760" cy="786384"/>
          </a:xfrm>
          <a:prstGeom prst="roundRect">
            <a:avLst>
              <a:gd name="adj" fmla="val 9302"/>
            </a:avLst>
          </a:prstGeom>
          <a:solidFill>
            <a:srgbClr val="F7F9FD"/>
          </a:solidFill>
          <a:ln w="9525">
            <a:solidFill>
              <a:srgbClr val="D6DEEC"/>
            </a:solidFill>
            <a:prstDash val="solid"/>
          </a:ln>
        </p:spPr>
      </p:sp>
      <p:sp>
        <p:nvSpPr>
          <p:cNvPr id="26" name="Text 24"/>
          <p:cNvSpPr txBox="1"/>
          <p:nvPr/>
        </p:nvSpPr>
        <p:spPr>
          <a:xfrm>
            <a:off x="9089136" y="2670048"/>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Benefits</a:t>
            </a:r>
            <a:endParaRPr lang="en-US" sz="1150" dirty="0"/>
          </a:p>
        </p:txBody>
      </p:sp>
      <p:sp>
        <p:nvSpPr>
          <p:cNvPr id="27" name="Text 25"/>
          <p:cNvSpPr txBox="1"/>
          <p:nvPr/>
        </p:nvSpPr>
        <p:spPr>
          <a:xfrm>
            <a:off x="10954512" y="2724912"/>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10</a:t>
            </a:r>
            <a:endParaRPr lang="en-US" sz="1700" dirty="0"/>
          </a:p>
        </p:txBody>
      </p:sp>
      <p:sp>
        <p:nvSpPr>
          <p:cNvPr id="28" name="Shape 26"/>
          <p:cNvSpPr/>
          <p:nvPr/>
        </p:nvSpPr>
        <p:spPr>
          <a:xfrm>
            <a:off x="640080" y="3438144"/>
            <a:ext cx="2651760" cy="786384"/>
          </a:xfrm>
          <a:prstGeom prst="roundRect">
            <a:avLst>
              <a:gd name="adj" fmla="val 9302"/>
            </a:avLst>
          </a:prstGeom>
          <a:solidFill>
            <a:srgbClr val="F7F9FD"/>
          </a:solidFill>
          <a:ln w="9525">
            <a:solidFill>
              <a:srgbClr val="D6DEEC"/>
            </a:solidFill>
            <a:prstDash val="solid"/>
          </a:ln>
        </p:spPr>
      </p:sp>
      <p:sp>
        <p:nvSpPr>
          <p:cNvPr id="29" name="Text 27"/>
          <p:cNvSpPr txBox="1"/>
          <p:nvPr/>
        </p:nvSpPr>
        <p:spPr>
          <a:xfrm>
            <a:off x="859536" y="3566160"/>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Compensation</a:t>
            </a:r>
            <a:endParaRPr lang="en-US" sz="1150" dirty="0"/>
          </a:p>
        </p:txBody>
      </p:sp>
      <p:sp>
        <p:nvSpPr>
          <p:cNvPr id="30" name="Text 28"/>
          <p:cNvSpPr txBox="1"/>
          <p:nvPr/>
        </p:nvSpPr>
        <p:spPr>
          <a:xfrm>
            <a:off x="2724912" y="3621024"/>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9</a:t>
            </a:r>
            <a:endParaRPr lang="en-US" sz="1700" dirty="0"/>
          </a:p>
        </p:txBody>
      </p:sp>
      <p:sp>
        <p:nvSpPr>
          <p:cNvPr id="31" name="Shape 29"/>
          <p:cNvSpPr/>
          <p:nvPr/>
        </p:nvSpPr>
        <p:spPr>
          <a:xfrm>
            <a:off x="3383280" y="3438144"/>
            <a:ext cx="2651760" cy="786384"/>
          </a:xfrm>
          <a:prstGeom prst="roundRect">
            <a:avLst>
              <a:gd name="adj" fmla="val 9302"/>
            </a:avLst>
          </a:prstGeom>
          <a:solidFill>
            <a:srgbClr val="F7F9FD"/>
          </a:solidFill>
          <a:ln w="9525">
            <a:solidFill>
              <a:srgbClr val="D6DEEC"/>
            </a:solidFill>
            <a:prstDash val="solid"/>
          </a:ln>
        </p:spPr>
      </p:sp>
      <p:sp>
        <p:nvSpPr>
          <p:cNvPr id="32" name="Text 30"/>
          <p:cNvSpPr txBox="1"/>
          <p:nvPr/>
        </p:nvSpPr>
        <p:spPr>
          <a:xfrm>
            <a:off x="3602736" y="3566160"/>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Performance &amp; Goals</a:t>
            </a:r>
            <a:endParaRPr lang="en-US" sz="1150" dirty="0"/>
          </a:p>
        </p:txBody>
      </p:sp>
      <p:sp>
        <p:nvSpPr>
          <p:cNvPr id="33" name="Text 31"/>
          <p:cNvSpPr txBox="1"/>
          <p:nvPr/>
        </p:nvSpPr>
        <p:spPr>
          <a:xfrm>
            <a:off x="5468112" y="3621024"/>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9</a:t>
            </a:r>
            <a:endParaRPr lang="en-US" sz="1700" dirty="0"/>
          </a:p>
        </p:txBody>
      </p:sp>
      <p:sp>
        <p:nvSpPr>
          <p:cNvPr id="34" name="Shape 32"/>
          <p:cNvSpPr/>
          <p:nvPr/>
        </p:nvSpPr>
        <p:spPr>
          <a:xfrm>
            <a:off x="6126480" y="3438144"/>
            <a:ext cx="2651760" cy="786384"/>
          </a:xfrm>
          <a:prstGeom prst="roundRect">
            <a:avLst>
              <a:gd name="adj" fmla="val 9302"/>
            </a:avLst>
          </a:prstGeom>
          <a:solidFill>
            <a:srgbClr val="F7F9FD"/>
          </a:solidFill>
          <a:ln w="9525">
            <a:solidFill>
              <a:srgbClr val="D6DEEC"/>
            </a:solidFill>
            <a:prstDash val="solid"/>
          </a:ln>
        </p:spPr>
      </p:sp>
      <p:sp>
        <p:nvSpPr>
          <p:cNvPr id="35" name="Text 33"/>
          <p:cNvSpPr txBox="1"/>
          <p:nvPr/>
        </p:nvSpPr>
        <p:spPr>
          <a:xfrm>
            <a:off x="6345936" y="3566160"/>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Learning &amp; Succession</a:t>
            </a:r>
            <a:endParaRPr lang="en-US" sz="1150" dirty="0"/>
          </a:p>
        </p:txBody>
      </p:sp>
      <p:sp>
        <p:nvSpPr>
          <p:cNvPr id="36" name="Text 34"/>
          <p:cNvSpPr txBox="1"/>
          <p:nvPr/>
        </p:nvSpPr>
        <p:spPr>
          <a:xfrm>
            <a:off x="8211312" y="3621024"/>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13</a:t>
            </a:r>
            <a:endParaRPr lang="en-US" sz="1700" dirty="0"/>
          </a:p>
        </p:txBody>
      </p:sp>
      <p:sp>
        <p:nvSpPr>
          <p:cNvPr id="37" name="Shape 35"/>
          <p:cNvSpPr/>
          <p:nvPr/>
        </p:nvSpPr>
        <p:spPr>
          <a:xfrm>
            <a:off x="8869680" y="3438144"/>
            <a:ext cx="2651760" cy="786384"/>
          </a:xfrm>
          <a:prstGeom prst="roundRect">
            <a:avLst>
              <a:gd name="adj" fmla="val 9302"/>
            </a:avLst>
          </a:prstGeom>
          <a:solidFill>
            <a:srgbClr val="F7F9FD"/>
          </a:solidFill>
          <a:ln w="9525">
            <a:solidFill>
              <a:srgbClr val="D6DEEC"/>
            </a:solidFill>
            <a:prstDash val="solid"/>
          </a:ln>
        </p:spPr>
      </p:sp>
      <p:sp>
        <p:nvSpPr>
          <p:cNvPr id="38" name="Text 36"/>
          <p:cNvSpPr txBox="1"/>
          <p:nvPr/>
        </p:nvSpPr>
        <p:spPr>
          <a:xfrm>
            <a:off x="9089136" y="3566160"/>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ER, Compliance &amp; Safety</a:t>
            </a:r>
            <a:endParaRPr lang="en-US" sz="1150" dirty="0"/>
          </a:p>
        </p:txBody>
      </p:sp>
      <p:sp>
        <p:nvSpPr>
          <p:cNvPr id="39" name="Text 37"/>
          <p:cNvSpPr txBox="1"/>
          <p:nvPr/>
        </p:nvSpPr>
        <p:spPr>
          <a:xfrm>
            <a:off x="10954512" y="3621024"/>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14</a:t>
            </a:r>
            <a:endParaRPr lang="en-US" sz="1700" dirty="0"/>
          </a:p>
        </p:txBody>
      </p:sp>
      <p:sp>
        <p:nvSpPr>
          <p:cNvPr id="40" name="Shape 38"/>
          <p:cNvSpPr/>
          <p:nvPr/>
        </p:nvSpPr>
        <p:spPr>
          <a:xfrm>
            <a:off x="640080" y="4334256"/>
            <a:ext cx="2651760" cy="786384"/>
          </a:xfrm>
          <a:prstGeom prst="roundRect">
            <a:avLst>
              <a:gd name="adj" fmla="val 9302"/>
            </a:avLst>
          </a:prstGeom>
          <a:solidFill>
            <a:srgbClr val="F7F9FD"/>
          </a:solidFill>
          <a:ln w="9525">
            <a:solidFill>
              <a:srgbClr val="D6DEEC"/>
            </a:solidFill>
            <a:prstDash val="solid"/>
          </a:ln>
        </p:spPr>
      </p:sp>
      <p:sp>
        <p:nvSpPr>
          <p:cNvPr id="41" name="Text 39"/>
          <p:cNvSpPr txBox="1"/>
          <p:nvPr/>
        </p:nvSpPr>
        <p:spPr>
          <a:xfrm>
            <a:off x="859536" y="4462272"/>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HR Service Delivery</a:t>
            </a:r>
            <a:endParaRPr lang="en-US" sz="1150" dirty="0"/>
          </a:p>
        </p:txBody>
      </p:sp>
      <p:sp>
        <p:nvSpPr>
          <p:cNvPr id="42" name="Text 40"/>
          <p:cNvSpPr txBox="1"/>
          <p:nvPr/>
        </p:nvSpPr>
        <p:spPr>
          <a:xfrm>
            <a:off x="2724912" y="4517136"/>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10</a:t>
            </a:r>
            <a:endParaRPr lang="en-US" sz="1700" dirty="0"/>
          </a:p>
        </p:txBody>
      </p:sp>
      <p:sp>
        <p:nvSpPr>
          <p:cNvPr id="43" name="Shape 41"/>
          <p:cNvSpPr/>
          <p:nvPr/>
        </p:nvSpPr>
        <p:spPr>
          <a:xfrm>
            <a:off x="3383280" y="4334256"/>
            <a:ext cx="2651760" cy="786384"/>
          </a:xfrm>
          <a:prstGeom prst="roundRect">
            <a:avLst>
              <a:gd name="adj" fmla="val 9302"/>
            </a:avLst>
          </a:prstGeom>
          <a:solidFill>
            <a:srgbClr val="F7F9FD"/>
          </a:solidFill>
          <a:ln w="9525">
            <a:solidFill>
              <a:srgbClr val="D6DEEC"/>
            </a:solidFill>
            <a:prstDash val="solid"/>
          </a:ln>
        </p:spPr>
      </p:sp>
      <p:sp>
        <p:nvSpPr>
          <p:cNvPr id="44" name="Text 42"/>
          <p:cNvSpPr txBox="1"/>
          <p:nvPr/>
        </p:nvSpPr>
        <p:spPr>
          <a:xfrm>
            <a:off x="3602736" y="4462272"/>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Analytics &amp; Planning</a:t>
            </a:r>
            <a:endParaRPr lang="en-US" sz="1150" dirty="0"/>
          </a:p>
        </p:txBody>
      </p:sp>
      <p:sp>
        <p:nvSpPr>
          <p:cNvPr id="45" name="Text 43"/>
          <p:cNvSpPr txBox="1"/>
          <p:nvPr/>
        </p:nvSpPr>
        <p:spPr>
          <a:xfrm>
            <a:off x="5468112" y="4517136"/>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13</a:t>
            </a:r>
            <a:endParaRPr lang="en-US" sz="1700" dirty="0"/>
          </a:p>
        </p:txBody>
      </p:sp>
      <p:sp>
        <p:nvSpPr>
          <p:cNvPr id="46" name="Shape 44"/>
          <p:cNvSpPr/>
          <p:nvPr/>
        </p:nvSpPr>
        <p:spPr>
          <a:xfrm>
            <a:off x="6126480" y="4334256"/>
            <a:ext cx="2651760" cy="786384"/>
          </a:xfrm>
          <a:prstGeom prst="roundRect">
            <a:avLst>
              <a:gd name="adj" fmla="val 9302"/>
            </a:avLst>
          </a:prstGeom>
          <a:solidFill>
            <a:srgbClr val="F7F9FD"/>
          </a:solidFill>
          <a:ln w="9525">
            <a:solidFill>
              <a:srgbClr val="D6DEEC"/>
            </a:solidFill>
            <a:prstDash val="solid"/>
          </a:ln>
        </p:spPr>
      </p:sp>
      <p:sp>
        <p:nvSpPr>
          <p:cNvPr id="47" name="Text 45"/>
          <p:cNvSpPr txBox="1"/>
          <p:nvPr/>
        </p:nvSpPr>
        <p:spPr>
          <a:xfrm>
            <a:off x="6345936" y="4462272"/>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Platform &amp; Integration</a:t>
            </a:r>
            <a:endParaRPr lang="en-US" sz="1150" dirty="0"/>
          </a:p>
        </p:txBody>
      </p:sp>
      <p:sp>
        <p:nvSpPr>
          <p:cNvPr id="48" name="Text 46"/>
          <p:cNvSpPr txBox="1"/>
          <p:nvPr/>
        </p:nvSpPr>
        <p:spPr>
          <a:xfrm>
            <a:off x="8211312" y="4517136"/>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11</a:t>
            </a:r>
            <a:endParaRPr lang="en-US" sz="1700" dirty="0"/>
          </a:p>
        </p:txBody>
      </p:sp>
      <p:sp>
        <p:nvSpPr>
          <p:cNvPr id="49" name="Shape 47"/>
          <p:cNvSpPr/>
          <p:nvPr/>
        </p:nvSpPr>
        <p:spPr>
          <a:xfrm>
            <a:off x="8869680" y="4334256"/>
            <a:ext cx="2651760" cy="786384"/>
          </a:xfrm>
          <a:prstGeom prst="roundRect">
            <a:avLst>
              <a:gd name="adj" fmla="val 9302"/>
            </a:avLst>
          </a:prstGeom>
          <a:solidFill>
            <a:srgbClr val="F7F9FD"/>
          </a:solidFill>
          <a:ln w="9525">
            <a:solidFill>
              <a:srgbClr val="D6DEEC"/>
            </a:solidFill>
            <a:prstDash val="solid"/>
          </a:ln>
        </p:spPr>
      </p:sp>
      <p:sp>
        <p:nvSpPr>
          <p:cNvPr id="50" name="Text 48"/>
          <p:cNvSpPr txBox="1"/>
          <p:nvPr/>
        </p:nvSpPr>
        <p:spPr>
          <a:xfrm>
            <a:off x="9089136" y="4462272"/>
            <a:ext cx="1874520" cy="530352"/>
          </a:xfrm>
          <a:prstGeom prst="rect">
            <a:avLst/>
          </a:prstGeom>
          <a:noFill/>
          <a:ln/>
        </p:spPr>
        <p:txBody>
          <a:bodyPr wrap="square" lIns="0" tIns="0" rIns="0" bIns="0" rtlCol="0" anchor="ctr"/>
          <a:lstStyle/>
          <a:p>
            <a:pPr indent="0" marL="0">
              <a:lnSpc>
                <a:spcPts val="1400"/>
              </a:lnSpc>
              <a:buNone/>
            </a:pPr>
            <a:r>
              <a:rPr lang="en-US" sz="1150" b="1" dirty="0">
                <a:solidFill>
                  <a:srgbClr val="1E2761"/>
                </a:solidFill>
                <a:latin typeface="Calibri" pitchFamily="34" charset="0"/>
                <a:ea typeface="Calibri" pitchFamily="34" charset="-122"/>
                <a:cs typeface="Calibri" pitchFamily="34" charset="-120"/>
              </a:rPr>
              <a:t>Agent Plane</a:t>
            </a:r>
            <a:endParaRPr lang="en-US" sz="1150" dirty="0"/>
          </a:p>
        </p:txBody>
      </p:sp>
      <p:sp>
        <p:nvSpPr>
          <p:cNvPr id="51" name="Text 49"/>
          <p:cNvSpPr txBox="1"/>
          <p:nvPr/>
        </p:nvSpPr>
        <p:spPr>
          <a:xfrm>
            <a:off x="10954512" y="4517136"/>
            <a:ext cx="457200" cy="411480"/>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12</a:t>
            </a:r>
            <a:endParaRPr lang="en-US" sz="1700" dirty="0"/>
          </a:p>
        </p:txBody>
      </p:sp>
      <p:sp>
        <p:nvSpPr>
          <p:cNvPr id="52" name="Shape 50"/>
          <p:cNvSpPr/>
          <p:nvPr/>
        </p:nvSpPr>
        <p:spPr>
          <a:xfrm>
            <a:off x="640080" y="5349240"/>
            <a:ext cx="10908792" cy="841248"/>
          </a:xfrm>
          <a:prstGeom prst="roundRect">
            <a:avLst>
              <a:gd name="adj" fmla="val 8696"/>
            </a:avLst>
          </a:prstGeom>
          <a:solidFill>
            <a:srgbClr val="1E2761"/>
          </a:solidFill>
          <a:ln/>
        </p:spPr>
      </p:sp>
      <p:sp>
        <p:nvSpPr>
          <p:cNvPr id="53" name="Text 51"/>
          <p:cNvSpPr txBox="1"/>
          <p:nvPr/>
        </p:nvSpPr>
        <p:spPr>
          <a:xfrm>
            <a:off x="1024128" y="5504688"/>
            <a:ext cx="10140696" cy="548640"/>
          </a:xfrm>
          <a:prstGeom prst="rect">
            <a:avLst/>
          </a:prstGeom>
          <a:noFill/>
          <a:ln/>
        </p:spPr>
        <p:txBody>
          <a:bodyPr wrap="square" lIns="0" tIns="0" rIns="0" bIns="0" rtlCol="0" anchor="ctr"/>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The build rule: the manual path ships before the agent path. Always. Every Transaction Intent an agent can emit has a corresponding human UI route — verified by automated architectural test in CI.</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8229600" cy="256032"/>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THE AGENT PLANE</a:t>
            </a:r>
            <a:endParaRPr lang="en-US" sz="10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Agents are managed as workers, not as features</a:t>
            </a:r>
            <a:endParaRPr lang="en-US" sz="3200" dirty="0"/>
          </a:p>
        </p:txBody>
      </p:sp>
      <p:sp>
        <p:nvSpPr>
          <p:cNvPr id="4" name="Text 2"/>
          <p:cNvSpPr txBox="1"/>
          <p:nvPr/>
        </p:nvSpPr>
        <p:spPr>
          <a:xfrm>
            <a:off x="731520" y="1664208"/>
            <a:ext cx="3657600" cy="256032"/>
          </a:xfrm>
          <a:prstGeom prst="rect">
            <a:avLst/>
          </a:prstGeom>
          <a:noFill/>
          <a:ln/>
        </p:spPr>
        <p:txBody>
          <a:bodyPr wrap="square" lIns="0" tIns="0" rIns="0" bIns="0" rtlCol="0" anchor="ctr"/>
          <a:lstStyle/>
          <a:p>
            <a:pPr indent="0" marL="0">
              <a:buNone/>
            </a:pPr>
            <a:r>
              <a:rPr lang="en-US" sz="1100" b="1" spc="150" kern="0" dirty="0">
                <a:solidFill>
                  <a:srgbClr val="5A6472"/>
                </a:solidFill>
                <a:latin typeface="Calibri" pitchFamily="34" charset="0"/>
                <a:ea typeface="Calibri" pitchFamily="34" charset="-122"/>
                <a:cs typeface="Calibri" pitchFamily="34" charset="-120"/>
              </a:rPr>
              <a:t>HUMAN EMPLOYEE</a:t>
            </a:r>
            <a:endParaRPr lang="en-US" sz="1100" dirty="0"/>
          </a:p>
        </p:txBody>
      </p:sp>
      <p:sp>
        <p:nvSpPr>
          <p:cNvPr id="5" name="Text 3"/>
          <p:cNvSpPr txBox="1"/>
          <p:nvPr/>
        </p:nvSpPr>
        <p:spPr>
          <a:xfrm>
            <a:off x="4937760" y="1664208"/>
            <a:ext cx="6583680" cy="256032"/>
          </a:xfrm>
          <a:prstGeom prst="rect">
            <a:avLst/>
          </a:prstGeom>
          <a:noFill/>
          <a:ln/>
        </p:spPr>
        <p:txBody>
          <a:bodyPr wrap="square" lIns="0" tIns="0" rIns="0" bIns="0" rtlCol="0" anchor="ctr"/>
          <a:lstStyle/>
          <a:p>
            <a:pPr indent="0" marL="0">
              <a:buNone/>
            </a:pPr>
            <a:r>
              <a:rPr lang="en-US" sz="1100" b="1" spc="150" kern="0" dirty="0">
                <a:solidFill>
                  <a:srgbClr val="F5A623"/>
                </a:solidFill>
                <a:latin typeface="Calibri" pitchFamily="34" charset="0"/>
                <a:ea typeface="Calibri" pitchFamily="34" charset="-122"/>
                <a:cs typeface="Calibri" pitchFamily="34" charset="-120"/>
              </a:rPr>
              <a:t>AGENT EQUIVALENT — SAME MACHINERY</a:t>
            </a:r>
            <a:endParaRPr lang="en-US" sz="1100" dirty="0"/>
          </a:p>
        </p:txBody>
      </p:sp>
      <p:sp>
        <p:nvSpPr>
          <p:cNvPr id="6" name="Shape 4"/>
          <p:cNvSpPr/>
          <p:nvPr/>
        </p:nvSpPr>
        <p:spPr>
          <a:xfrm>
            <a:off x="640080" y="2011680"/>
            <a:ext cx="10908792" cy="493776"/>
          </a:xfrm>
          <a:prstGeom prst="rect">
            <a:avLst/>
          </a:prstGeom>
          <a:solidFill>
            <a:srgbClr val="F7F9FD"/>
          </a:solidFill>
          <a:ln w="6350">
            <a:solidFill>
              <a:srgbClr val="F7F9FD"/>
            </a:solidFill>
            <a:prstDash val="solid"/>
          </a:ln>
        </p:spPr>
      </p:sp>
      <p:sp>
        <p:nvSpPr>
          <p:cNvPr id="7" name="Text 5"/>
          <p:cNvSpPr txBox="1"/>
          <p:nvPr/>
        </p:nvSpPr>
        <p:spPr>
          <a:xfrm>
            <a:off x="731520" y="2093976"/>
            <a:ext cx="3840480" cy="32918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Employment contract</a:t>
            </a:r>
            <a:endParaRPr lang="en-US" sz="1250" dirty="0"/>
          </a:p>
        </p:txBody>
      </p:sp>
      <p:sp>
        <p:nvSpPr>
          <p:cNvPr id="8" name="Text 6"/>
          <p:cNvSpPr txBox="1"/>
          <p:nvPr/>
        </p:nvSpPr>
        <p:spPr>
          <a:xfrm>
            <a:off x="4434840" y="2093976"/>
            <a:ext cx="365760" cy="329184"/>
          </a:xfrm>
          <a:prstGeom prst="rect">
            <a:avLst/>
          </a:prstGeom>
          <a:noFill/>
          <a:ln/>
        </p:spPr>
        <p:txBody>
          <a:bodyPr wrap="square" lIns="0" tIns="0" rIns="0" bIns="0" rtlCol="0" anchor="ctr"/>
          <a:lstStyle/>
          <a:p>
            <a:pPr indent="0" marL="0">
              <a:buNone/>
            </a:pPr>
            <a:r>
              <a:rPr lang="en-US" sz="1250" dirty="0">
                <a:solidFill>
                  <a:srgbClr val="F5A623"/>
                </a:solidFill>
                <a:latin typeface="Calibri" pitchFamily="34" charset="0"/>
                <a:ea typeface="Calibri" pitchFamily="34" charset="-122"/>
                <a:cs typeface="Calibri" pitchFamily="34" charset="-120"/>
              </a:rPr>
              <a:t>→</a:t>
            </a:r>
            <a:endParaRPr lang="en-US" sz="1250" dirty="0"/>
          </a:p>
        </p:txBody>
      </p:sp>
      <p:sp>
        <p:nvSpPr>
          <p:cNvPr id="9" name="Text 7"/>
          <p:cNvSpPr txBox="1"/>
          <p:nvPr/>
        </p:nvSpPr>
        <p:spPr>
          <a:xfrm>
            <a:off x="4937760" y="2093976"/>
            <a:ext cx="6675120" cy="329184"/>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Agent charter: scope, permitted transaction classes, autonomy ceiling</a:t>
            </a:r>
            <a:endParaRPr lang="en-US" sz="1250" dirty="0"/>
          </a:p>
        </p:txBody>
      </p:sp>
      <p:sp>
        <p:nvSpPr>
          <p:cNvPr id="10" name="Text 8"/>
          <p:cNvSpPr txBox="1"/>
          <p:nvPr/>
        </p:nvSpPr>
        <p:spPr>
          <a:xfrm>
            <a:off x="731520" y="2606040"/>
            <a:ext cx="3840480" cy="32918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Manager</a:t>
            </a:r>
            <a:endParaRPr lang="en-US" sz="1250" dirty="0"/>
          </a:p>
        </p:txBody>
      </p:sp>
      <p:sp>
        <p:nvSpPr>
          <p:cNvPr id="11" name="Text 9"/>
          <p:cNvSpPr txBox="1"/>
          <p:nvPr/>
        </p:nvSpPr>
        <p:spPr>
          <a:xfrm>
            <a:off x="4434840" y="2606040"/>
            <a:ext cx="365760" cy="329184"/>
          </a:xfrm>
          <a:prstGeom prst="rect">
            <a:avLst/>
          </a:prstGeom>
          <a:noFill/>
          <a:ln/>
        </p:spPr>
        <p:txBody>
          <a:bodyPr wrap="square" lIns="0" tIns="0" rIns="0" bIns="0" rtlCol="0" anchor="ctr"/>
          <a:lstStyle/>
          <a:p>
            <a:pPr indent="0" marL="0">
              <a:buNone/>
            </a:pPr>
            <a:r>
              <a:rPr lang="en-US" sz="1250" dirty="0">
                <a:solidFill>
                  <a:srgbClr val="F5A623"/>
                </a:solidFill>
                <a:latin typeface="Calibri" pitchFamily="34" charset="0"/>
                <a:ea typeface="Calibri" pitchFamily="34" charset="-122"/>
                <a:cs typeface="Calibri" pitchFamily="34" charset="-120"/>
              </a:rPr>
              <a:t>→</a:t>
            </a:r>
            <a:endParaRPr lang="en-US" sz="1250" dirty="0"/>
          </a:p>
        </p:txBody>
      </p:sp>
      <p:sp>
        <p:nvSpPr>
          <p:cNvPr id="12" name="Text 10"/>
          <p:cNvSpPr txBox="1"/>
          <p:nvPr/>
        </p:nvSpPr>
        <p:spPr>
          <a:xfrm>
            <a:off x="4937760" y="2606040"/>
            <a:ext cx="6675120" cy="329184"/>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A named accountable human owner — never a team</a:t>
            </a:r>
            <a:endParaRPr lang="en-US" sz="1250" dirty="0"/>
          </a:p>
        </p:txBody>
      </p:sp>
      <p:sp>
        <p:nvSpPr>
          <p:cNvPr id="13" name="Shape 11"/>
          <p:cNvSpPr/>
          <p:nvPr/>
        </p:nvSpPr>
        <p:spPr>
          <a:xfrm>
            <a:off x="640080" y="3035808"/>
            <a:ext cx="10908792" cy="493776"/>
          </a:xfrm>
          <a:prstGeom prst="rect">
            <a:avLst/>
          </a:prstGeom>
          <a:solidFill>
            <a:srgbClr val="F7F9FD"/>
          </a:solidFill>
          <a:ln w="6350">
            <a:solidFill>
              <a:srgbClr val="F7F9FD"/>
            </a:solidFill>
            <a:prstDash val="solid"/>
          </a:ln>
        </p:spPr>
      </p:sp>
      <p:sp>
        <p:nvSpPr>
          <p:cNvPr id="14" name="Text 12"/>
          <p:cNvSpPr txBox="1"/>
          <p:nvPr/>
        </p:nvSpPr>
        <p:spPr>
          <a:xfrm>
            <a:off x="731520" y="3118104"/>
            <a:ext cx="3840480" cy="32918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Cost centre &amp; budget</a:t>
            </a:r>
            <a:endParaRPr lang="en-US" sz="1250" dirty="0"/>
          </a:p>
        </p:txBody>
      </p:sp>
      <p:sp>
        <p:nvSpPr>
          <p:cNvPr id="15" name="Text 13"/>
          <p:cNvSpPr txBox="1"/>
          <p:nvPr/>
        </p:nvSpPr>
        <p:spPr>
          <a:xfrm>
            <a:off x="4434840" y="3118104"/>
            <a:ext cx="365760" cy="329184"/>
          </a:xfrm>
          <a:prstGeom prst="rect">
            <a:avLst/>
          </a:prstGeom>
          <a:noFill/>
          <a:ln/>
        </p:spPr>
        <p:txBody>
          <a:bodyPr wrap="square" lIns="0" tIns="0" rIns="0" bIns="0" rtlCol="0" anchor="ctr"/>
          <a:lstStyle/>
          <a:p>
            <a:pPr indent="0" marL="0">
              <a:buNone/>
            </a:pPr>
            <a:r>
              <a:rPr lang="en-US" sz="1250" dirty="0">
                <a:solidFill>
                  <a:srgbClr val="F5A623"/>
                </a:solidFill>
                <a:latin typeface="Calibri" pitchFamily="34" charset="0"/>
                <a:ea typeface="Calibri" pitchFamily="34" charset="-122"/>
                <a:cs typeface="Calibri" pitchFamily="34" charset="-120"/>
              </a:rPr>
              <a:t>→</a:t>
            </a:r>
            <a:endParaRPr lang="en-US" sz="1250" dirty="0"/>
          </a:p>
        </p:txBody>
      </p:sp>
      <p:sp>
        <p:nvSpPr>
          <p:cNvPr id="16" name="Text 14"/>
          <p:cNvSpPr txBox="1"/>
          <p:nvPr/>
        </p:nvSpPr>
        <p:spPr>
          <a:xfrm>
            <a:off x="4937760" y="3118104"/>
            <a:ext cx="6675120" cy="329184"/>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Cost centre, token budget, action-rate limit, hard cut-off</a:t>
            </a:r>
            <a:endParaRPr lang="en-US" sz="1250" dirty="0"/>
          </a:p>
        </p:txBody>
      </p:sp>
      <p:sp>
        <p:nvSpPr>
          <p:cNvPr id="17" name="Text 15"/>
          <p:cNvSpPr txBox="1"/>
          <p:nvPr/>
        </p:nvSpPr>
        <p:spPr>
          <a:xfrm>
            <a:off x="731520" y="3630168"/>
            <a:ext cx="3840480" cy="32918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Access entitlements</a:t>
            </a:r>
            <a:endParaRPr lang="en-US" sz="1250" dirty="0"/>
          </a:p>
        </p:txBody>
      </p:sp>
      <p:sp>
        <p:nvSpPr>
          <p:cNvPr id="18" name="Text 16"/>
          <p:cNvSpPr txBox="1"/>
          <p:nvPr/>
        </p:nvSpPr>
        <p:spPr>
          <a:xfrm>
            <a:off x="4434840" y="3630168"/>
            <a:ext cx="365760" cy="329184"/>
          </a:xfrm>
          <a:prstGeom prst="rect">
            <a:avLst/>
          </a:prstGeom>
          <a:noFill/>
          <a:ln/>
        </p:spPr>
        <p:txBody>
          <a:bodyPr wrap="square" lIns="0" tIns="0" rIns="0" bIns="0" rtlCol="0" anchor="ctr"/>
          <a:lstStyle/>
          <a:p>
            <a:pPr indent="0" marL="0">
              <a:buNone/>
            </a:pPr>
            <a:r>
              <a:rPr lang="en-US" sz="1250" dirty="0">
                <a:solidFill>
                  <a:srgbClr val="F5A623"/>
                </a:solidFill>
                <a:latin typeface="Calibri" pitchFamily="34" charset="0"/>
                <a:ea typeface="Calibri" pitchFamily="34" charset="-122"/>
                <a:cs typeface="Calibri" pitchFamily="34" charset="-120"/>
              </a:rPr>
              <a:t>→</a:t>
            </a:r>
            <a:endParaRPr lang="en-US" sz="1250" dirty="0"/>
          </a:p>
        </p:txBody>
      </p:sp>
      <p:sp>
        <p:nvSpPr>
          <p:cNvPr id="19" name="Text 17"/>
          <p:cNvSpPr txBox="1"/>
          <p:nvPr/>
        </p:nvSpPr>
        <p:spPr>
          <a:xfrm>
            <a:off x="4937760" y="3630168"/>
            <a:ext cx="6675120" cy="329184"/>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Scoped, short-lived credentials per transaction class</a:t>
            </a:r>
            <a:endParaRPr lang="en-US" sz="1250" dirty="0"/>
          </a:p>
        </p:txBody>
      </p:sp>
      <p:sp>
        <p:nvSpPr>
          <p:cNvPr id="20" name="Shape 18"/>
          <p:cNvSpPr/>
          <p:nvPr/>
        </p:nvSpPr>
        <p:spPr>
          <a:xfrm>
            <a:off x="640080" y="4059936"/>
            <a:ext cx="10908792" cy="493776"/>
          </a:xfrm>
          <a:prstGeom prst="rect">
            <a:avLst/>
          </a:prstGeom>
          <a:solidFill>
            <a:srgbClr val="F7F9FD"/>
          </a:solidFill>
          <a:ln w="6350">
            <a:solidFill>
              <a:srgbClr val="F7F9FD"/>
            </a:solidFill>
            <a:prstDash val="solid"/>
          </a:ln>
        </p:spPr>
      </p:sp>
      <p:sp>
        <p:nvSpPr>
          <p:cNvPr id="21" name="Text 19"/>
          <p:cNvSpPr txBox="1"/>
          <p:nvPr/>
        </p:nvSpPr>
        <p:spPr>
          <a:xfrm>
            <a:off x="731520" y="4142232"/>
            <a:ext cx="3840480" cy="32918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Probation</a:t>
            </a:r>
            <a:endParaRPr lang="en-US" sz="1250" dirty="0"/>
          </a:p>
        </p:txBody>
      </p:sp>
      <p:sp>
        <p:nvSpPr>
          <p:cNvPr id="22" name="Text 20"/>
          <p:cNvSpPr txBox="1"/>
          <p:nvPr/>
        </p:nvSpPr>
        <p:spPr>
          <a:xfrm>
            <a:off x="4434840" y="4142232"/>
            <a:ext cx="365760" cy="329184"/>
          </a:xfrm>
          <a:prstGeom prst="rect">
            <a:avLst/>
          </a:prstGeom>
          <a:noFill/>
          <a:ln/>
        </p:spPr>
        <p:txBody>
          <a:bodyPr wrap="square" lIns="0" tIns="0" rIns="0" bIns="0" rtlCol="0" anchor="ctr"/>
          <a:lstStyle/>
          <a:p>
            <a:pPr indent="0" marL="0">
              <a:buNone/>
            </a:pPr>
            <a:r>
              <a:rPr lang="en-US" sz="1250" dirty="0">
                <a:solidFill>
                  <a:srgbClr val="F5A623"/>
                </a:solidFill>
                <a:latin typeface="Calibri" pitchFamily="34" charset="0"/>
                <a:ea typeface="Calibri" pitchFamily="34" charset="-122"/>
                <a:cs typeface="Calibri" pitchFamily="34" charset="-120"/>
              </a:rPr>
              <a:t>→</a:t>
            </a:r>
            <a:endParaRPr lang="en-US" sz="1250" dirty="0"/>
          </a:p>
        </p:txBody>
      </p:sp>
      <p:sp>
        <p:nvSpPr>
          <p:cNvPr id="23" name="Text 21"/>
          <p:cNvSpPr txBox="1"/>
          <p:nvPr/>
        </p:nvSpPr>
        <p:spPr>
          <a:xfrm>
            <a:off x="4937760" y="4142232"/>
            <a:ext cx="6675120" cy="329184"/>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Shadow mode: proposes, never executes, scored against human decisions</a:t>
            </a:r>
            <a:endParaRPr lang="en-US" sz="1250" dirty="0"/>
          </a:p>
        </p:txBody>
      </p:sp>
      <p:sp>
        <p:nvSpPr>
          <p:cNvPr id="24" name="Text 22"/>
          <p:cNvSpPr txBox="1"/>
          <p:nvPr/>
        </p:nvSpPr>
        <p:spPr>
          <a:xfrm>
            <a:off x="731520" y="4654296"/>
            <a:ext cx="3840480" cy="32918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Performance review</a:t>
            </a:r>
            <a:endParaRPr lang="en-US" sz="1250" dirty="0"/>
          </a:p>
        </p:txBody>
      </p:sp>
      <p:sp>
        <p:nvSpPr>
          <p:cNvPr id="25" name="Text 23"/>
          <p:cNvSpPr txBox="1"/>
          <p:nvPr/>
        </p:nvSpPr>
        <p:spPr>
          <a:xfrm>
            <a:off x="4434840" y="4654296"/>
            <a:ext cx="365760" cy="329184"/>
          </a:xfrm>
          <a:prstGeom prst="rect">
            <a:avLst/>
          </a:prstGeom>
          <a:noFill/>
          <a:ln/>
        </p:spPr>
        <p:txBody>
          <a:bodyPr wrap="square" lIns="0" tIns="0" rIns="0" bIns="0" rtlCol="0" anchor="ctr"/>
          <a:lstStyle/>
          <a:p>
            <a:pPr indent="0" marL="0">
              <a:buNone/>
            </a:pPr>
            <a:r>
              <a:rPr lang="en-US" sz="1250" dirty="0">
                <a:solidFill>
                  <a:srgbClr val="F5A623"/>
                </a:solidFill>
                <a:latin typeface="Calibri" pitchFamily="34" charset="0"/>
                <a:ea typeface="Calibri" pitchFamily="34" charset="-122"/>
                <a:cs typeface="Calibri" pitchFamily="34" charset="-120"/>
              </a:rPr>
              <a:t>→</a:t>
            </a:r>
            <a:endParaRPr lang="en-US" sz="1250" dirty="0"/>
          </a:p>
        </p:txBody>
      </p:sp>
      <p:sp>
        <p:nvSpPr>
          <p:cNvPr id="26" name="Text 24"/>
          <p:cNvSpPr txBox="1"/>
          <p:nvPr/>
        </p:nvSpPr>
        <p:spPr>
          <a:xfrm>
            <a:off x="4937760" y="4654296"/>
            <a:ext cx="6675120" cy="329184"/>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Evaluation harness: accuracy, override rate, escalation rate, cost per outcome</a:t>
            </a:r>
            <a:endParaRPr lang="en-US" sz="1250" dirty="0"/>
          </a:p>
        </p:txBody>
      </p:sp>
      <p:sp>
        <p:nvSpPr>
          <p:cNvPr id="27" name="Shape 25"/>
          <p:cNvSpPr/>
          <p:nvPr/>
        </p:nvSpPr>
        <p:spPr>
          <a:xfrm>
            <a:off x="640080" y="5084064"/>
            <a:ext cx="10908792" cy="493776"/>
          </a:xfrm>
          <a:prstGeom prst="rect">
            <a:avLst/>
          </a:prstGeom>
          <a:solidFill>
            <a:srgbClr val="F7F9FD"/>
          </a:solidFill>
          <a:ln w="6350">
            <a:solidFill>
              <a:srgbClr val="F7F9FD"/>
            </a:solidFill>
            <a:prstDash val="solid"/>
          </a:ln>
        </p:spPr>
      </p:sp>
      <p:sp>
        <p:nvSpPr>
          <p:cNvPr id="28" name="Text 26"/>
          <p:cNvSpPr txBox="1"/>
          <p:nvPr/>
        </p:nvSpPr>
        <p:spPr>
          <a:xfrm>
            <a:off x="731520" y="5166360"/>
            <a:ext cx="3840480" cy="32918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Disciplinary record</a:t>
            </a:r>
            <a:endParaRPr lang="en-US" sz="1250" dirty="0"/>
          </a:p>
        </p:txBody>
      </p:sp>
      <p:sp>
        <p:nvSpPr>
          <p:cNvPr id="29" name="Text 27"/>
          <p:cNvSpPr txBox="1"/>
          <p:nvPr/>
        </p:nvSpPr>
        <p:spPr>
          <a:xfrm>
            <a:off x="4434840" y="5166360"/>
            <a:ext cx="365760" cy="329184"/>
          </a:xfrm>
          <a:prstGeom prst="rect">
            <a:avLst/>
          </a:prstGeom>
          <a:noFill/>
          <a:ln/>
        </p:spPr>
        <p:txBody>
          <a:bodyPr wrap="square" lIns="0" tIns="0" rIns="0" bIns="0" rtlCol="0" anchor="ctr"/>
          <a:lstStyle/>
          <a:p>
            <a:pPr indent="0" marL="0">
              <a:buNone/>
            </a:pPr>
            <a:r>
              <a:rPr lang="en-US" sz="1250" dirty="0">
                <a:solidFill>
                  <a:srgbClr val="F5A623"/>
                </a:solidFill>
                <a:latin typeface="Calibri" pitchFamily="34" charset="0"/>
                <a:ea typeface="Calibri" pitchFamily="34" charset="-122"/>
                <a:cs typeface="Calibri" pitchFamily="34" charset="-120"/>
              </a:rPr>
              <a:t>→</a:t>
            </a:r>
            <a:endParaRPr lang="en-US" sz="1250" dirty="0"/>
          </a:p>
        </p:txBody>
      </p:sp>
      <p:sp>
        <p:nvSpPr>
          <p:cNvPr id="30" name="Text 28"/>
          <p:cNvSpPr txBox="1"/>
          <p:nvPr/>
        </p:nvSpPr>
        <p:spPr>
          <a:xfrm>
            <a:off x="4937760" y="5166360"/>
            <a:ext cx="6675120" cy="329184"/>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Incident log; automatic autonomy demotion on threshold breach</a:t>
            </a:r>
            <a:endParaRPr lang="en-US" sz="1250" dirty="0"/>
          </a:p>
        </p:txBody>
      </p:sp>
      <p:sp>
        <p:nvSpPr>
          <p:cNvPr id="31" name="Text 29"/>
          <p:cNvSpPr txBox="1"/>
          <p:nvPr/>
        </p:nvSpPr>
        <p:spPr>
          <a:xfrm>
            <a:off x="731520" y="5678424"/>
            <a:ext cx="3840480" cy="32918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Offboarding</a:t>
            </a:r>
            <a:endParaRPr lang="en-US" sz="1250" dirty="0"/>
          </a:p>
        </p:txBody>
      </p:sp>
      <p:sp>
        <p:nvSpPr>
          <p:cNvPr id="32" name="Text 30"/>
          <p:cNvSpPr txBox="1"/>
          <p:nvPr/>
        </p:nvSpPr>
        <p:spPr>
          <a:xfrm>
            <a:off x="4434840" y="5678424"/>
            <a:ext cx="365760" cy="329184"/>
          </a:xfrm>
          <a:prstGeom prst="rect">
            <a:avLst/>
          </a:prstGeom>
          <a:noFill/>
          <a:ln/>
        </p:spPr>
        <p:txBody>
          <a:bodyPr wrap="square" lIns="0" tIns="0" rIns="0" bIns="0" rtlCol="0" anchor="ctr"/>
          <a:lstStyle/>
          <a:p>
            <a:pPr indent="0" marL="0">
              <a:buNone/>
            </a:pPr>
            <a:r>
              <a:rPr lang="en-US" sz="1250" dirty="0">
                <a:solidFill>
                  <a:srgbClr val="F5A623"/>
                </a:solidFill>
                <a:latin typeface="Calibri" pitchFamily="34" charset="0"/>
                <a:ea typeface="Calibri" pitchFamily="34" charset="-122"/>
                <a:cs typeface="Calibri" pitchFamily="34" charset="-120"/>
              </a:rPr>
              <a:t>→</a:t>
            </a:r>
            <a:endParaRPr lang="en-US" sz="1250" dirty="0"/>
          </a:p>
        </p:txBody>
      </p:sp>
      <p:sp>
        <p:nvSpPr>
          <p:cNvPr id="33" name="Text 31"/>
          <p:cNvSpPr txBox="1"/>
          <p:nvPr/>
        </p:nvSpPr>
        <p:spPr>
          <a:xfrm>
            <a:off x="4937760" y="5678424"/>
            <a:ext cx="6675120" cy="329184"/>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Revocation with full credential teardown and action replay for review</a:t>
            </a:r>
            <a:endParaRPr lang="en-US" sz="1250" dirty="0"/>
          </a:p>
        </p:txBody>
      </p:sp>
      <p:sp>
        <p:nvSpPr>
          <p:cNvPr id="34" name="Text 32"/>
          <p:cNvSpPr txBox="1"/>
          <p:nvPr/>
        </p:nvSpPr>
        <p:spPr>
          <a:xfrm>
            <a:off x="640080" y="6263640"/>
            <a:ext cx="10881360" cy="274320"/>
          </a:xfrm>
          <a:prstGeom prst="rect">
            <a:avLst/>
          </a:prstGeom>
          <a:noFill/>
          <a:ln/>
        </p:spPr>
        <p:txBody>
          <a:bodyPr wrap="square" lIns="0" tIns="0" rIns="0" bIns="0" rtlCol="0" anchor="ctr"/>
          <a:lstStyle/>
          <a:p>
            <a:pPr indent="0" marL="0">
              <a:buNone/>
            </a:pPr>
            <a:r>
              <a:rPr lang="en-US" sz="1250" b="1" i="1" dirty="0">
                <a:solidFill>
                  <a:srgbClr val="1E2761"/>
                </a:solidFill>
                <a:latin typeface="Calibri" pitchFamily="34" charset="0"/>
                <a:ea typeface="Calibri" pitchFamily="34" charset="-122"/>
                <a:cs typeface="Calibri" pitchFamily="34" charset="-120"/>
              </a:rPr>
              <a:t>Hard-coded ceiling: agents touching pay, promotion, discipline or termination cannot exceed L1 — enforced in code, not configuration.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8229600" cy="256032"/>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WHY NOW</a:t>
            </a:r>
            <a:endParaRPr lang="en-US" sz="10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Three clocks are running at once</a:t>
            </a:r>
            <a:endParaRPr lang="en-US" sz="3200" dirty="0"/>
          </a:p>
        </p:txBody>
      </p:sp>
      <p:sp>
        <p:nvSpPr>
          <p:cNvPr id="4" name="Shape 2"/>
          <p:cNvSpPr/>
          <p:nvPr/>
        </p:nvSpPr>
        <p:spPr>
          <a:xfrm>
            <a:off x="640080" y="1691640"/>
            <a:ext cx="3520440" cy="4160520"/>
          </a:xfrm>
          <a:prstGeom prst="roundRect">
            <a:avLst>
              <a:gd name="adj" fmla="val 2078"/>
            </a:avLst>
          </a:prstGeom>
          <a:solidFill>
            <a:srgbClr val="F7F9FD"/>
          </a:solidFill>
          <a:ln w="9525">
            <a:solidFill>
              <a:srgbClr val="D6DEEC"/>
            </a:solidFill>
            <a:prstDash val="solid"/>
          </a:ln>
        </p:spPr>
      </p:sp>
      <p:sp>
        <p:nvSpPr>
          <p:cNvPr id="5" name="Shape 3"/>
          <p:cNvSpPr/>
          <p:nvPr/>
        </p:nvSpPr>
        <p:spPr>
          <a:xfrm>
            <a:off x="1005840" y="2011680"/>
            <a:ext cx="457200" cy="457200"/>
          </a:xfrm>
          <a:prstGeom prst="ellipse">
            <a:avLst/>
          </a:prstGeom>
          <a:solidFill>
            <a:srgbClr val="F5A623"/>
          </a:solidFill>
          <a:ln/>
        </p:spPr>
      </p:sp>
      <p:sp>
        <p:nvSpPr>
          <p:cNvPr id="6" name="Text 4"/>
          <p:cNvSpPr txBox="1"/>
          <p:nvPr/>
        </p:nvSpPr>
        <p:spPr>
          <a:xfrm>
            <a:off x="1005840" y="2011680"/>
            <a:ext cx="457200"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005840" y="2633472"/>
            <a:ext cx="292608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Regulatory</a:t>
            </a:r>
            <a:endParaRPr lang="en-US" sz="1900" dirty="0"/>
          </a:p>
        </p:txBody>
      </p:sp>
      <p:sp>
        <p:nvSpPr>
          <p:cNvPr id="8" name="Text 6"/>
          <p:cNvSpPr txBox="1"/>
          <p:nvPr/>
        </p:nvSpPr>
        <p:spPr>
          <a:xfrm>
            <a:off x="1005840" y="3090672"/>
            <a:ext cx="2880360" cy="2560320"/>
          </a:xfrm>
          <a:prstGeom prst="rect">
            <a:avLst/>
          </a:prstGeom>
          <a:noFill/>
          <a:ln/>
        </p:spPr>
        <p:txBody>
          <a:bodyPr wrap="square" lIns="0" tIns="0" rIns="0" bIns="0" rtlCol="0" anchor="ctr"/>
          <a:lstStyle/>
          <a:p>
            <a:pPr indent="0" marL="0">
              <a:lnSpc>
                <a:spcPts val="1600"/>
              </a:lnSpc>
              <a:buNone/>
            </a:pPr>
            <a:r>
              <a:rPr lang="en-US" sz="1150" dirty="0">
                <a:solidFill>
                  <a:srgbClr val="5A6472"/>
                </a:solidFill>
                <a:latin typeface="Calibri" pitchFamily="34" charset="0"/>
                <a:ea typeface="Calibri" pitchFamily="34" charset="-122"/>
                <a:cs typeface="Calibri" pitchFamily="34" charset="-120"/>
              </a:rPr>
              <a:t>The EU AI Act's transparency regime, GPAI enforcement powers and full penalty framework apply from 2 Aug 2026. High-risk employment obligations were deferred by the Digital Omnibus to Dec 2027 and Aug 2028 — but Article 26(7) worker-representative consultation already applies today. Buyers are procuring now for a 2027–28 audit.</a:t>
            </a:r>
            <a:endParaRPr lang="en-US" sz="1150" dirty="0"/>
          </a:p>
        </p:txBody>
      </p:sp>
      <p:sp>
        <p:nvSpPr>
          <p:cNvPr id="9" name="Shape 7"/>
          <p:cNvSpPr/>
          <p:nvPr/>
        </p:nvSpPr>
        <p:spPr>
          <a:xfrm>
            <a:off x="4352544" y="1691640"/>
            <a:ext cx="3520440" cy="4160520"/>
          </a:xfrm>
          <a:prstGeom prst="roundRect">
            <a:avLst>
              <a:gd name="adj" fmla="val 2078"/>
            </a:avLst>
          </a:prstGeom>
          <a:solidFill>
            <a:srgbClr val="F7F9FD"/>
          </a:solidFill>
          <a:ln w="9525">
            <a:solidFill>
              <a:srgbClr val="D6DEEC"/>
            </a:solidFill>
            <a:prstDash val="solid"/>
          </a:ln>
        </p:spPr>
      </p:sp>
      <p:sp>
        <p:nvSpPr>
          <p:cNvPr id="10" name="Shape 8"/>
          <p:cNvSpPr/>
          <p:nvPr/>
        </p:nvSpPr>
        <p:spPr>
          <a:xfrm>
            <a:off x="4718304" y="2011680"/>
            <a:ext cx="457200" cy="457200"/>
          </a:xfrm>
          <a:prstGeom prst="ellipse">
            <a:avLst/>
          </a:prstGeom>
          <a:solidFill>
            <a:srgbClr val="F5A623"/>
          </a:solidFill>
          <a:ln/>
        </p:spPr>
      </p:sp>
      <p:sp>
        <p:nvSpPr>
          <p:cNvPr id="11" name="Text 9"/>
          <p:cNvSpPr txBox="1"/>
          <p:nvPr/>
        </p:nvSpPr>
        <p:spPr>
          <a:xfrm>
            <a:off x="4718304" y="2011680"/>
            <a:ext cx="457200"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4718304" y="2633472"/>
            <a:ext cx="292608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Architectural</a:t>
            </a:r>
            <a:endParaRPr lang="en-US" sz="1900" dirty="0"/>
          </a:p>
        </p:txBody>
      </p:sp>
      <p:sp>
        <p:nvSpPr>
          <p:cNvPr id="13" name="Text 11"/>
          <p:cNvSpPr txBox="1"/>
          <p:nvPr/>
        </p:nvSpPr>
        <p:spPr>
          <a:xfrm>
            <a:off x="4718304" y="3090672"/>
            <a:ext cx="2880360" cy="2560320"/>
          </a:xfrm>
          <a:prstGeom prst="rect">
            <a:avLst/>
          </a:prstGeom>
          <a:noFill/>
          <a:ln/>
        </p:spPr>
        <p:txBody>
          <a:bodyPr wrap="square" lIns="0" tIns="0" rIns="0" bIns="0" rtlCol="0" anchor="ctr"/>
          <a:lstStyle/>
          <a:p>
            <a:pPr indent="0" marL="0">
              <a:lnSpc>
                <a:spcPts val="1600"/>
              </a:lnSpc>
              <a:buNone/>
            </a:pPr>
            <a:r>
              <a:rPr lang="en-US" sz="1150" dirty="0">
                <a:solidFill>
                  <a:srgbClr val="5A6472"/>
                </a:solidFill>
                <a:latin typeface="Calibri" pitchFamily="34" charset="0"/>
                <a:ea typeface="Calibri" pitchFamily="34" charset="-122"/>
                <a:cs typeface="Calibri" pitchFamily="34" charset="-120"/>
              </a:rPr>
              <a:t>Agent standards are converging and immature at the same time. MCP and A2A are both Linux Foundation projects; NIST opened an AI Agent Standards Initiative in Feb 2026. There is still no standard agent audit-trail format. Standards converge around whoever ships the credible reference implementation in a regulated domain.</a:t>
            </a:r>
            <a:endParaRPr lang="en-US" sz="1150" dirty="0"/>
          </a:p>
        </p:txBody>
      </p:sp>
      <p:sp>
        <p:nvSpPr>
          <p:cNvPr id="14" name="Shape 12"/>
          <p:cNvSpPr/>
          <p:nvPr/>
        </p:nvSpPr>
        <p:spPr>
          <a:xfrm>
            <a:off x="8065008" y="1691640"/>
            <a:ext cx="3520440" cy="4160520"/>
          </a:xfrm>
          <a:prstGeom prst="roundRect">
            <a:avLst>
              <a:gd name="adj" fmla="val 2078"/>
            </a:avLst>
          </a:prstGeom>
          <a:solidFill>
            <a:srgbClr val="F7F9FD"/>
          </a:solidFill>
          <a:ln w="9525">
            <a:solidFill>
              <a:srgbClr val="D6DEEC"/>
            </a:solidFill>
            <a:prstDash val="solid"/>
          </a:ln>
        </p:spPr>
      </p:sp>
      <p:sp>
        <p:nvSpPr>
          <p:cNvPr id="15" name="Shape 13"/>
          <p:cNvSpPr/>
          <p:nvPr/>
        </p:nvSpPr>
        <p:spPr>
          <a:xfrm>
            <a:off x="8430768" y="2011680"/>
            <a:ext cx="457200" cy="457200"/>
          </a:xfrm>
          <a:prstGeom prst="ellipse">
            <a:avLst/>
          </a:prstGeom>
          <a:solidFill>
            <a:srgbClr val="F5A623"/>
          </a:solidFill>
          <a:ln/>
        </p:spPr>
      </p:sp>
      <p:sp>
        <p:nvSpPr>
          <p:cNvPr id="16" name="Text 14"/>
          <p:cNvSpPr txBox="1"/>
          <p:nvPr/>
        </p:nvSpPr>
        <p:spPr>
          <a:xfrm>
            <a:off x="8430768" y="2011680"/>
            <a:ext cx="457200"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8430768" y="2633472"/>
            <a:ext cx="292608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Commercial</a:t>
            </a:r>
            <a:endParaRPr lang="en-US" sz="1900" dirty="0"/>
          </a:p>
        </p:txBody>
      </p:sp>
      <p:sp>
        <p:nvSpPr>
          <p:cNvPr id="18" name="Text 16"/>
          <p:cNvSpPr txBox="1"/>
          <p:nvPr/>
        </p:nvSpPr>
        <p:spPr>
          <a:xfrm>
            <a:off x="8430768" y="3090672"/>
            <a:ext cx="2880360" cy="2560320"/>
          </a:xfrm>
          <a:prstGeom prst="rect">
            <a:avLst/>
          </a:prstGeom>
          <a:noFill/>
          <a:ln/>
        </p:spPr>
        <p:txBody>
          <a:bodyPr wrap="square" lIns="0" tIns="0" rIns="0" bIns="0" rtlCol="0" anchor="ctr"/>
          <a:lstStyle/>
          <a:p>
            <a:pPr indent="0" marL="0">
              <a:lnSpc>
                <a:spcPts val="1600"/>
              </a:lnSpc>
              <a:buNone/>
            </a:pPr>
            <a:r>
              <a:rPr lang="en-US" sz="1150" dirty="0">
                <a:solidFill>
                  <a:srgbClr val="5A6472"/>
                </a:solidFill>
                <a:latin typeface="Calibri" pitchFamily="34" charset="0"/>
                <a:ea typeface="Calibri" pitchFamily="34" charset="-122"/>
                <a:cs typeface="Calibri" pitchFamily="34" charset="-120"/>
              </a:rPr>
              <a:t>Incumbents have committed publicly to agentic roadmaps and cannot now retreat to 'our AI is optional' without undermining their own narrative. Dayforce is absorbing a $12.3B take-private. The window to define the category is roughly 24 months.</a:t>
            </a:r>
            <a:endParaRPr lang="en-US" sz="1150" dirty="0"/>
          </a:p>
        </p:txBody>
      </p:sp>
      <p:sp>
        <p:nvSpPr>
          <p:cNvPr id="19" name="Text 17"/>
          <p:cNvSpPr txBox="1"/>
          <p:nvPr/>
        </p:nvSpPr>
        <p:spPr>
          <a:xfrm>
            <a:off x="640080" y="6400800"/>
            <a:ext cx="10908792" cy="237744"/>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Digital Omnibus on AI entered into force 27 July 2026. Verify current status before external use.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8229600" cy="256032"/>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COMPETITION</a:t>
            </a:r>
            <a:endParaRPr lang="en-US" sz="10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empty column is the market</a:t>
            </a:r>
            <a:endParaRPr lang="en-US" sz="3200" dirty="0"/>
          </a:p>
        </p:txBody>
      </p:sp>
      <p:sp>
        <p:nvSpPr>
          <p:cNvPr id="4" name="Text 2"/>
          <p:cNvSpPr txBox="1"/>
          <p:nvPr/>
        </p:nvSpPr>
        <p:spPr>
          <a:xfrm>
            <a:off x="822960" y="1627632"/>
            <a:ext cx="3063240" cy="548640"/>
          </a:xfrm>
          <a:prstGeom prst="rect">
            <a:avLst/>
          </a:prstGeom>
          <a:noFill/>
          <a:ln/>
        </p:spPr>
        <p:txBody>
          <a:bodyPr wrap="square" lIns="0" tIns="0" rIns="0" bIns="0" rtlCol="0" anchor="b"/>
          <a:lstStyle/>
          <a:p>
            <a:pPr algn="l" indent="0" marL="0">
              <a:lnSpc>
                <a:spcPts val="1300"/>
              </a:lnSpc>
              <a:buNone/>
            </a:pPr>
            <a:endParaRPr lang="en-US" sz="1050" dirty="0"/>
          </a:p>
        </p:txBody>
      </p:sp>
      <p:sp>
        <p:nvSpPr>
          <p:cNvPr id="5" name="Text 3"/>
          <p:cNvSpPr txBox="1"/>
          <p:nvPr/>
        </p:nvSpPr>
        <p:spPr>
          <a:xfrm>
            <a:off x="3703320" y="1627632"/>
            <a:ext cx="1481328" cy="548640"/>
          </a:xfrm>
          <a:prstGeom prst="rect">
            <a:avLst/>
          </a:prstGeom>
          <a:noFill/>
          <a:ln/>
        </p:spPr>
        <p:txBody>
          <a:bodyPr wrap="square" lIns="0" tIns="0" rIns="0" bIns="0" rtlCol="0" anchor="b"/>
          <a:lstStyle/>
          <a:p>
            <a:pPr algn="ctr" indent="0" marL="0">
              <a:lnSpc>
                <a:spcPts val="1300"/>
              </a:lnSpc>
              <a:buNone/>
            </a:pPr>
            <a:r>
              <a:rPr lang="en-US" sz="1050" b="1" dirty="0">
                <a:solidFill>
                  <a:srgbClr val="5A6472"/>
                </a:solidFill>
                <a:latin typeface="Calibri" pitchFamily="34" charset="0"/>
                <a:ea typeface="Calibri" pitchFamily="34" charset="-122"/>
                <a:cs typeface="Calibri" pitchFamily="34" charset="-120"/>
              </a:rPr>
              <a:t>Determ.</a:t>
            </a:r>
            <a:endParaRPr lang="en-US" sz="1050" dirty="0"/>
          </a:p>
          <a:p>
            <a:pPr algn="ctr" indent="0" marL="0">
              <a:lnSpc>
                <a:spcPts val="1300"/>
              </a:lnSpc>
              <a:buNone/>
            </a:pPr>
            <a:r>
              <a:rPr lang="en-US" sz="1050" b="1" dirty="0">
                <a:solidFill>
                  <a:srgbClr val="5A6472"/>
                </a:solidFill>
                <a:latin typeface="Calibri" pitchFamily="34" charset="0"/>
                <a:ea typeface="Calibri" pitchFamily="34" charset="-122"/>
                <a:cs typeface="Calibri" pitchFamily="34" charset="-120"/>
              </a:rPr>
              <a:t>core</a:t>
            </a:r>
            <a:endParaRPr lang="en-US" sz="1050" dirty="0"/>
          </a:p>
        </p:txBody>
      </p:sp>
      <p:sp>
        <p:nvSpPr>
          <p:cNvPr id="6" name="Text 4"/>
          <p:cNvSpPr txBox="1"/>
          <p:nvPr/>
        </p:nvSpPr>
        <p:spPr>
          <a:xfrm>
            <a:off x="5184648" y="1627632"/>
            <a:ext cx="1664208" cy="548640"/>
          </a:xfrm>
          <a:prstGeom prst="rect">
            <a:avLst/>
          </a:prstGeom>
          <a:noFill/>
          <a:ln/>
        </p:spPr>
        <p:txBody>
          <a:bodyPr wrap="square" lIns="0" tIns="0" rIns="0" bIns="0" rtlCol="0" anchor="b"/>
          <a:lstStyle/>
          <a:p>
            <a:pPr algn="ctr" indent="0" marL="0">
              <a:lnSpc>
                <a:spcPts val="1300"/>
              </a:lnSpc>
              <a:buNone/>
            </a:pPr>
            <a:r>
              <a:rPr lang="en-US" sz="1050" b="1" dirty="0">
                <a:solidFill>
                  <a:srgbClr val="5A6472"/>
                </a:solidFill>
                <a:latin typeface="Calibri" pitchFamily="34" charset="0"/>
                <a:ea typeface="Calibri" pitchFamily="34" charset="-122"/>
                <a:cs typeface="Calibri" pitchFamily="34" charset="-120"/>
              </a:rPr>
              <a:t>Governed</a:t>
            </a:r>
            <a:endParaRPr lang="en-US" sz="1050" dirty="0"/>
          </a:p>
          <a:p>
            <a:pPr algn="ctr" indent="0" marL="0">
              <a:lnSpc>
                <a:spcPts val="1300"/>
              </a:lnSpc>
              <a:buNone/>
            </a:pPr>
            <a:r>
              <a:rPr lang="en-US" sz="1050" b="1" dirty="0">
                <a:solidFill>
                  <a:srgbClr val="5A6472"/>
                </a:solidFill>
                <a:latin typeface="Calibri" pitchFamily="34" charset="0"/>
                <a:ea typeface="Calibri" pitchFamily="34" charset="-122"/>
                <a:cs typeface="Calibri" pitchFamily="34" charset="-120"/>
              </a:rPr>
              <a:t>agent plane</a:t>
            </a:r>
            <a:endParaRPr lang="en-US" sz="1050" dirty="0"/>
          </a:p>
        </p:txBody>
      </p:sp>
      <p:sp>
        <p:nvSpPr>
          <p:cNvPr id="7" name="Text 5"/>
          <p:cNvSpPr txBox="1"/>
          <p:nvPr/>
        </p:nvSpPr>
        <p:spPr>
          <a:xfrm>
            <a:off x="6848856" y="1627632"/>
            <a:ext cx="1572768" cy="548640"/>
          </a:xfrm>
          <a:prstGeom prst="rect">
            <a:avLst/>
          </a:prstGeom>
          <a:noFill/>
          <a:ln/>
        </p:spPr>
        <p:txBody>
          <a:bodyPr wrap="square" lIns="0" tIns="0" rIns="0" bIns="0" rtlCol="0" anchor="b"/>
          <a:lstStyle/>
          <a:p>
            <a:pPr algn="ctr" indent="0" marL="0">
              <a:lnSpc>
                <a:spcPts val="1300"/>
              </a:lnSpc>
              <a:buNone/>
            </a:pPr>
            <a:r>
              <a:rPr lang="en-US" sz="1050" b="1" dirty="0">
                <a:solidFill>
                  <a:srgbClr val="5A6472"/>
                </a:solidFill>
                <a:latin typeface="Calibri" pitchFamily="34" charset="0"/>
                <a:ea typeface="Calibri" pitchFamily="34" charset="-122"/>
                <a:cs typeface="Calibri" pitchFamily="34" charset="-120"/>
              </a:rPr>
              <a:t>Multi-entity</a:t>
            </a:r>
            <a:endParaRPr lang="en-US" sz="1050" dirty="0"/>
          </a:p>
          <a:p>
            <a:pPr algn="ctr" indent="0" marL="0">
              <a:lnSpc>
                <a:spcPts val="1300"/>
              </a:lnSpc>
              <a:buNone/>
            </a:pPr>
            <a:r>
              <a:rPr lang="en-US" sz="1050" b="1" dirty="0">
                <a:solidFill>
                  <a:srgbClr val="5A6472"/>
                </a:solidFill>
                <a:latin typeface="Calibri" pitchFamily="34" charset="0"/>
                <a:ea typeface="Calibri" pitchFamily="34" charset="-122"/>
                <a:cs typeface="Calibri" pitchFamily="34" charset="-120"/>
              </a:rPr>
              <a:t>native</a:t>
            </a:r>
            <a:endParaRPr lang="en-US" sz="1050" dirty="0"/>
          </a:p>
        </p:txBody>
      </p:sp>
      <p:sp>
        <p:nvSpPr>
          <p:cNvPr id="8" name="Text 6"/>
          <p:cNvSpPr txBox="1"/>
          <p:nvPr/>
        </p:nvSpPr>
        <p:spPr>
          <a:xfrm>
            <a:off x="8421624" y="1627632"/>
            <a:ext cx="1517904" cy="548640"/>
          </a:xfrm>
          <a:prstGeom prst="rect">
            <a:avLst/>
          </a:prstGeom>
          <a:noFill/>
          <a:ln/>
        </p:spPr>
        <p:txBody>
          <a:bodyPr wrap="square" lIns="0" tIns="0" rIns="0" bIns="0" rtlCol="0" anchor="b"/>
          <a:lstStyle/>
          <a:p>
            <a:pPr algn="ctr" indent="0" marL="0">
              <a:lnSpc>
                <a:spcPts val="1300"/>
              </a:lnSpc>
              <a:buNone/>
            </a:pPr>
            <a:r>
              <a:rPr lang="en-US" sz="1050" b="1" dirty="0">
                <a:solidFill>
                  <a:srgbClr val="5A6472"/>
                </a:solidFill>
                <a:latin typeface="Calibri" pitchFamily="34" charset="0"/>
                <a:ea typeface="Calibri" pitchFamily="34" charset="-122"/>
                <a:cs typeface="Calibri" pitchFamily="34" charset="-120"/>
              </a:rPr>
              <a:t>Published</a:t>
            </a:r>
            <a:endParaRPr lang="en-US" sz="1050" dirty="0"/>
          </a:p>
          <a:p>
            <a:pPr algn="ctr" indent="0" marL="0">
              <a:lnSpc>
                <a:spcPts val="1300"/>
              </a:lnSpc>
              <a:buNone/>
            </a:pPr>
            <a:r>
              <a:rPr lang="en-US" sz="1050" b="1" dirty="0">
                <a:solidFill>
                  <a:srgbClr val="5A6472"/>
                </a:solidFill>
                <a:latin typeface="Calibri" pitchFamily="34" charset="0"/>
                <a:ea typeface="Calibri" pitchFamily="34" charset="-122"/>
                <a:cs typeface="Calibri" pitchFamily="34" charset="-120"/>
              </a:rPr>
              <a:t>continuity</a:t>
            </a:r>
            <a:endParaRPr lang="en-US" sz="1050" dirty="0"/>
          </a:p>
        </p:txBody>
      </p:sp>
      <p:sp>
        <p:nvSpPr>
          <p:cNvPr id="9" name="Text 7"/>
          <p:cNvSpPr txBox="1"/>
          <p:nvPr/>
        </p:nvSpPr>
        <p:spPr>
          <a:xfrm>
            <a:off x="9939528" y="1627632"/>
            <a:ext cx="1609344" cy="548640"/>
          </a:xfrm>
          <a:prstGeom prst="rect">
            <a:avLst/>
          </a:prstGeom>
          <a:noFill/>
          <a:ln/>
        </p:spPr>
        <p:txBody>
          <a:bodyPr wrap="square" lIns="0" tIns="0" rIns="0" bIns="0" rtlCol="0" anchor="b"/>
          <a:lstStyle/>
          <a:p>
            <a:pPr algn="ctr" indent="0" marL="0">
              <a:lnSpc>
                <a:spcPts val="1300"/>
              </a:lnSpc>
              <a:buNone/>
            </a:pPr>
            <a:r>
              <a:rPr lang="en-US" sz="1050" b="1" dirty="0">
                <a:solidFill>
                  <a:srgbClr val="5A6472"/>
                </a:solidFill>
                <a:latin typeface="Calibri" pitchFamily="34" charset="0"/>
                <a:ea typeface="Calibri" pitchFamily="34" charset="-122"/>
                <a:cs typeface="Calibri" pitchFamily="34" charset="-120"/>
              </a:rPr>
              <a:t>Compliance</a:t>
            </a:r>
            <a:endParaRPr lang="en-US" sz="1050" dirty="0"/>
          </a:p>
          <a:p>
            <a:pPr algn="ctr" indent="0" marL="0">
              <a:lnSpc>
                <a:spcPts val="1300"/>
              </a:lnSpc>
              <a:buNone/>
            </a:pPr>
            <a:r>
              <a:rPr lang="en-US" sz="1050" b="1" dirty="0">
                <a:solidFill>
                  <a:srgbClr val="5A6472"/>
                </a:solidFill>
                <a:latin typeface="Calibri" pitchFamily="34" charset="0"/>
                <a:ea typeface="Calibri" pitchFamily="34" charset="-122"/>
                <a:cs typeface="Calibri" pitchFamily="34" charset="-120"/>
              </a:rPr>
              <a:t>by construction</a:t>
            </a:r>
            <a:endParaRPr lang="en-US" sz="1050" dirty="0"/>
          </a:p>
        </p:txBody>
      </p:sp>
      <p:sp>
        <p:nvSpPr>
          <p:cNvPr id="10" name="Shape 8"/>
          <p:cNvSpPr/>
          <p:nvPr/>
        </p:nvSpPr>
        <p:spPr>
          <a:xfrm>
            <a:off x="640080" y="2203704"/>
            <a:ext cx="10908792" cy="438912"/>
          </a:xfrm>
          <a:prstGeom prst="rect">
            <a:avLst/>
          </a:prstGeom>
          <a:solidFill>
            <a:srgbClr val="F7F9FD"/>
          </a:solidFill>
          <a:ln w="6350">
            <a:solidFill>
              <a:srgbClr val="F7F9FD"/>
            </a:solidFill>
            <a:prstDash val="solid"/>
          </a:ln>
        </p:spPr>
      </p:sp>
      <p:sp>
        <p:nvSpPr>
          <p:cNvPr id="11" name="Text 9"/>
          <p:cNvSpPr txBox="1"/>
          <p:nvPr/>
        </p:nvSpPr>
        <p:spPr>
          <a:xfrm>
            <a:off x="822960" y="2258568"/>
            <a:ext cx="3063240" cy="329184"/>
          </a:xfrm>
          <a:prstGeom prst="rect">
            <a:avLst/>
          </a:prstGeom>
          <a:noFill/>
          <a:ln/>
        </p:spPr>
        <p:txBody>
          <a:bodyPr wrap="square" lIns="0" tIns="0" rIns="0" bIns="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Workday</a:t>
            </a:r>
            <a:endParaRPr lang="en-US" sz="1200" dirty="0"/>
          </a:p>
        </p:txBody>
      </p:sp>
      <p:sp>
        <p:nvSpPr>
          <p:cNvPr id="12" name="Text 10"/>
          <p:cNvSpPr txBox="1"/>
          <p:nvPr/>
        </p:nvSpPr>
        <p:spPr>
          <a:xfrm>
            <a:off x="3703320" y="2258568"/>
            <a:ext cx="1481328"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13" name="Text 11"/>
          <p:cNvSpPr txBox="1"/>
          <p:nvPr/>
        </p:nvSpPr>
        <p:spPr>
          <a:xfrm>
            <a:off x="5184648" y="2258568"/>
            <a:ext cx="1664208" cy="329184"/>
          </a:xfrm>
          <a:prstGeom prst="rect">
            <a:avLst/>
          </a:prstGeom>
          <a:noFill/>
          <a:ln/>
        </p:spPr>
        <p:txBody>
          <a:bodyPr wrap="square" lIns="0" tIns="0" rIns="0" bIns="0" rtlCol="0" anchor="ctr"/>
          <a:lstStyle/>
          <a:p>
            <a:pPr algn="ctr" indent="0" marL="0">
              <a:buNone/>
            </a:pPr>
            <a:r>
              <a:rPr lang="en-US" sz="1500" dirty="0">
                <a:solidFill>
                  <a:srgbClr val="1E2761"/>
                </a:solidFill>
                <a:latin typeface="Calibri" pitchFamily="34" charset="0"/>
                <a:ea typeface="Calibri" pitchFamily="34" charset="-122"/>
                <a:cs typeface="Calibri" pitchFamily="34" charset="-120"/>
              </a:rPr>
              <a:t>●</a:t>
            </a:r>
            <a:endParaRPr lang="en-US" sz="1500" dirty="0"/>
          </a:p>
        </p:txBody>
      </p:sp>
      <p:sp>
        <p:nvSpPr>
          <p:cNvPr id="14" name="Text 12"/>
          <p:cNvSpPr txBox="1"/>
          <p:nvPr/>
        </p:nvSpPr>
        <p:spPr>
          <a:xfrm>
            <a:off x="6848856" y="2258568"/>
            <a:ext cx="1572768"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15" name="Text 13"/>
          <p:cNvSpPr txBox="1"/>
          <p:nvPr/>
        </p:nvSpPr>
        <p:spPr>
          <a:xfrm>
            <a:off x="8421624" y="2258568"/>
            <a:ext cx="1517904"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16" name="Text 14"/>
          <p:cNvSpPr txBox="1"/>
          <p:nvPr/>
        </p:nvSpPr>
        <p:spPr>
          <a:xfrm>
            <a:off x="9939528" y="2258568"/>
            <a:ext cx="1609344"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17" name="Text 15"/>
          <p:cNvSpPr txBox="1"/>
          <p:nvPr/>
        </p:nvSpPr>
        <p:spPr>
          <a:xfrm>
            <a:off x="822960" y="2660904"/>
            <a:ext cx="3063240" cy="329184"/>
          </a:xfrm>
          <a:prstGeom prst="rect">
            <a:avLst/>
          </a:prstGeom>
          <a:noFill/>
          <a:ln/>
        </p:spPr>
        <p:txBody>
          <a:bodyPr wrap="square" lIns="0" tIns="0" rIns="0" bIns="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SAP SuccessFactors</a:t>
            </a:r>
            <a:endParaRPr lang="en-US" sz="1200" dirty="0"/>
          </a:p>
        </p:txBody>
      </p:sp>
      <p:sp>
        <p:nvSpPr>
          <p:cNvPr id="18" name="Text 16"/>
          <p:cNvSpPr txBox="1"/>
          <p:nvPr/>
        </p:nvSpPr>
        <p:spPr>
          <a:xfrm>
            <a:off x="3703320" y="2660904"/>
            <a:ext cx="1481328"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19" name="Text 17"/>
          <p:cNvSpPr txBox="1"/>
          <p:nvPr/>
        </p:nvSpPr>
        <p:spPr>
          <a:xfrm>
            <a:off x="5184648" y="2660904"/>
            <a:ext cx="1664208" cy="329184"/>
          </a:xfrm>
          <a:prstGeom prst="rect">
            <a:avLst/>
          </a:prstGeom>
          <a:noFill/>
          <a:ln/>
        </p:spPr>
        <p:txBody>
          <a:bodyPr wrap="square" lIns="0" tIns="0" rIns="0" bIns="0" rtlCol="0" anchor="ctr"/>
          <a:lstStyle/>
          <a:p>
            <a:pPr algn="ctr" indent="0" marL="0">
              <a:buNone/>
            </a:pPr>
            <a:r>
              <a:rPr lang="en-US" sz="1500" dirty="0">
                <a:solidFill>
                  <a:srgbClr val="1E2761"/>
                </a:solidFill>
                <a:latin typeface="Calibri" pitchFamily="34" charset="0"/>
                <a:ea typeface="Calibri" pitchFamily="34" charset="-122"/>
                <a:cs typeface="Calibri" pitchFamily="34" charset="-120"/>
              </a:rPr>
              <a:t>●</a:t>
            </a:r>
            <a:endParaRPr lang="en-US" sz="1500" dirty="0"/>
          </a:p>
        </p:txBody>
      </p:sp>
      <p:sp>
        <p:nvSpPr>
          <p:cNvPr id="20" name="Text 18"/>
          <p:cNvSpPr txBox="1"/>
          <p:nvPr/>
        </p:nvSpPr>
        <p:spPr>
          <a:xfrm>
            <a:off x="6848856" y="2660904"/>
            <a:ext cx="1572768"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21" name="Text 19"/>
          <p:cNvSpPr txBox="1"/>
          <p:nvPr/>
        </p:nvSpPr>
        <p:spPr>
          <a:xfrm>
            <a:off x="8421624" y="2660904"/>
            <a:ext cx="1517904"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22" name="Text 20"/>
          <p:cNvSpPr txBox="1"/>
          <p:nvPr/>
        </p:nvSpPr>
        <p:spPr>
          <a:xfrm>
            <a:off x="9939528" y="2660904"/>
            <a:ext cx="1609344"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23" name="Shape 21"/>
          <p:cNvSpPr/>
          <p:nvPr/>
        </p:nvSpPr>
        <p:spPr>
          <a:xfrm>
            <a:off x="640080" y="3008376"/>
            <a:ext cx="10908792" cy="438912"/>
          </a:xfrm>
          <a:prstGeom prst="rect">
            <a:avLst/>
          </a:prstGeom>
          <a:solidFill>
            <a:srgbClr val="F7F9FD"/>
          </a:solidFill>
          <a:ln w="6350">
            <a:solidFill>
              <a:srgbClr val="F7F9FD"/>
            </a:solidFill>
            <a:prstDash val="solid"/>
          </a:ln>
        </p:spPr>
      </p:sp>
      <p:sp>
        <p:nvSpPr>
          <p:cNvPr id="24" name="Text 22"/>
          <p:cNvSpPr txBox="1"/>
          <p:nvPr/>
        </p:nvSpPr>
        <p:spPr>
          <a:xfrm>
            <a:off x="822960" y="3063240"/>
            <a:ext cx="3063240" cy="329184"/>
          </a:xfrm>
          <a:prstGeom prst="rect">
            <a:avLst/>
          </a:prstGeom>
          <a:noFill/>
          <a:ln/>
        </p:spPr>
        <p:txBody>
          <a:bodyPr wrap="square" lIns="0" tIns="0" rIns="0" bIns="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Oracle HCM</a:t>
            </a:r>
            <a:endParaRPr lang="en-US" sz="1200" dirty="0"/>
          </a:p>
        </p:txBody>
      </p:sp>
      <p:sp>
        <p:nvSpPr>
          <p:cNvPr id="25" name="Text 23"/>
          <p:cNvSpPr txBox="1"/>
          <p:nvPr/>
        </p:nvSpPr>
        <p:spPr>
          <a:xfrm>
            <a:off x="3703320" y="3063240"/>
            <a:ext cx="1481328"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26" name="Text 24"/>
          <p:cNvSpPr txBox="1"/>
          <p:nvPr/>
        </p:nvSpPr>
        <p:spPr>
          <a:xfrm>
            <a:off x="5184648" y="3063240"/>
            <a:ext cx="1664208" cy="329184"/>
          </a:xfrm>
          <a:prstGeom prst="rect">
            <a:avLst/>
          </a:prstGeom>
          <a:noFill/>
          <a:ln/>
        </p:spPr>
        <p:txBody>
          <a:bodyPr wrap="square" lIns="0" tIns="0" rIns="0" bIns="0" rtlCol="0" anchor="ctr"/>
          <a:lstStyle/>
          <a:p>
            <a:pPr algn="ctr" indent="0" marL="0">
              <a:buNone/>
            </a:pPr>
            <a:r>
              <a:rPr lang="en-US" sz="1500" dirty="0">
                <a:solidFill>
                  <a:srgbClr val="1E2761"/>
                </a:solidFill>
                <a:latin typeface="Calibri" pitchFamily="34" charset="0"/>
                <a:ea typeface="Calibri" pitchFamily="34" charset="-122"/>
                <a:cs typeface="Calibri" pitchFamily="34" charset="-120"/>
              </a:rPr>
              <a:t>●</a:t>
            </a:r>
            <a:endParaRPr lang="en-US" sz="1500" dirty="0"/>
          </a:p>
        </p:txBody>
      </p:sp>
      <p:sp>
        <p:nvSpPr>
          <p:cNvPr id="27" name="Text 25"/>
          <p:cNvSpPr txBox="1"/>
          <p:nvPr/>
        </p:nvSpPr>
        <p:spPr>
          <a:xfrm>
            <a:off x="6848856" y="3063240"/>
            <a:ext cx="1572768"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28" name="Text 26"/>
          <p:cNvSpPr txBox="1"/>
          <p:nvPr/>
        </p:nvSpPr>
        <p:spPr>
          <a:xfrm>
            <a:off x="8421624" y="3063240"/>
            <a:ext cx="1517904"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29" name="Text 27"/>
          <p:cNvSpPr txBox="1"/>
          <p:nvPr/>
        </p:nvSpPr>
        <p:spPr>
          <a:xfrm>
            <a:off x="9939528" y="3063240"/>
            <a:ext cx="1609344"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30" name="Text 28"/>
          <p:cNvSpPr txBox="1"/>
          <p:nvPr/>
        </p:nvSpPr>
        <p:spPr>
          <a:xfrm>
            <a:off x="822960" y="3465576"/>
            <a:ext cx="3063240" cy="329184"/>
          </a:xfrm>
          <a:prstGeom prst="rect">
            <a:avLst/>
          </a:prstGeom>
          <a:noFill/>
          <a:ln/>
        </p:spPr>
        <p:txBody>
          <a:bodyPr wrap="square" lIns="0" tIns="0" rIns="0" bIns="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Dayforce</a:t>
            </a:r>
            <a:endParaRPr lang="en-US" sz="1200" dirty="0"/>
          </a:p>
        </p:txBody>
      </p:sp>
      <p:sp>
        <p:nvSpPr>
          <p:cNvPr id="31" name="Text 29"/>
          <p:cNvSpPr txBox="1"/>
          <p:nvPr/>
        </p:nvSpPr>
        <p:spPr>
          <a:xfrm>
            <a:off x="3703320" y="3465576"/>
            <a:ext cx="1481328" cy="329184"/>
          </a:xfrm>
          <a:prstGeom prst="rect">
            <a:avLst/>
          </a:prstGeom>
          <a:noFill/>
          <a:ln/>
        </p:spPr>
        <p:txBody>
          <a:bodyPr wrap="square" lIns="0" tIns="0" rIns="0" bIns="0" rtlCol="0" anchor="ctr"/>
          <a:lstStyle/>
          <a:p>
            <a:pPr algn="ctr" indent="0" marL="0">
              <a:buNone/>
            </a:pPr>
            <a:r>
              <a:rPr lang="en-US" sz="1500" dirty="0">
                <a:solidFill>
                  <a:srgbClr val="1E2761"/>
                </a:solidFill>
                <a:latin typeface="Calibri" pitchFamily="34" charset="0"/>
                <a:ea typeface="Calibri" pitchFamily="34" charset="-122"/>
                <a:cs typeface="Calibri" pitchFamily="34" charset="-120"/>
              </a:rPr>
              <a:t>●</a:t>
            </a:r>
            <a:endParaRPr lang="en-US" sz="1500" dirty="0"/>
          </a:p>
        </p:txBody>
      </p:sp>
      <p:sp>
        <p:nvSpPr>
          <p:cNvPr id="32" name="Text 30"/>
          <p:cNvSpPr txBox="1"/>
          <p:nvPr/>
        </p:nvSpPr>
        <p:spPr>
          <a:xfrm>
            <a:off x="5184648" y="3465576"/>
            <a:ext cx="1664208"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33" name="Text 31"/>
          <p:cNvSpPr txBox="1"/>
          <p:nvPr/>
        </p:nvSpPr>
        <p:spPr>
          <a:xfrm>
            <a:off x="6848856" y="3465576"/>
            <a:ext cx="1572768"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34" name="Text 32"/>
          <p:cNvSpPr txBox="1"/>
          <p:nvPr/>
        </p:nvSpPr>
        <p:spPr>
          <a:xfrm>
            <a:off x="8421624" y="3465576"/>
            <a:ext cx="1517904"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35" name="Text 33"/>
          <p:cNvSpPr txBox="1"/>
          <p:nvPr/>
        </p:nvSpPr>
        <p:spPr>
          <a:xfrm>
            <a:off x="9939528" y="3465576"/>
            <a:ext cx="1609344"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36" name="Shape 34"/>
          <p:cNvSpPr/>
          <p:nvPr/>
        </p:nvSpPr>
        <p:spPr>
          <a:xfrm>
            <a:off x="640080" y="3813048"/>
            <a:ext cx="10908792" cy="438912"/>
          </a:xfrm>
          <a:prstGeom prst="rect">
            <a:avLst/>
          </a:prstGeom>
          <a:solidFill>
            <a:srgbClr val="F7F9FD"/>
          </a:solidFill>
          <a:ln w="6350">
            <a:solidFill>
              <a:srgbClr val="F7F9FD"/>
            </a:solidFill>
            <a:prstDash val="solid"/>
          </a:ln>
        </p:spPr>
      </p:sp>
      <p:sp>
        <p:nvSpPr>
          <p:cNvPr id="37" name="Text 35"/>
          <p:cNvSpPr txBox="1"/>
          <p:nvPr/>
        </p:nvSpPr>
        <p:spPr>
          <a:xfrm>
            <a:off x="822960" y="3867912"/>
            <a:ext cx="3063240" cy="329184"/>
          </a:xfrm>
          <a:prstGeom prst="rect">
            <a:avLst/>
          </a:prstGeom>
          <a:noFill/>
          <a:ln/>
        </p:spPr>
        <p:txBody>
          <a:bodyPr wrap="square" lIns="0" tIns="0" rIns="0" bIns="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ADP</a:t>
            </a:r>
            <a:endParaRPr lang="en-US" sz="1200" dirty="0"/>
          </a:p>
        </p:txBody>
      </p:sp>
      <p:sp>
        <p:nvSpPr>
          <p:cNvPr id="38" name="Text 36"/>
          <p:cNvSpPr txBox="1"/>
          <p:nvPr/>
        </p:nvSpPr>
        <p:spPr>
          <a:xfrm>
            <a:off x="3703320" y="3867912"/>
            <a:ext cx="1481328"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39" name="Text 37"/>
          <p:cNvSpPr txBox="1"/>
          <p:nvPr/>
        </p:nvSpPr>
        <p:spPr>
          <a:xfrm>
            <a:off x="5184648" y="3867912"/>
            <a:ext cx="1664208"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40" name="Text 38"/>
          <p:cNvSpPr txBox="1"/>
          <p:nvPr/>
        </p:nvSpPr>
        <p:spPr>
          <a:xfrm>
            <a:off x="6848856" y="3867912"/>
            <a:ext cx="1572768"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41" name="Text 39"/>
          <p:cNvSpPr txBox="1"/>
          <p:nvPr/>
        </p:nvSpPr>
        <p:spPr>
          <a:xfrm>
            <a:off x="8421624" y="3867912"/>
            <a:ext cx="1517904"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42" name="Text 40"/>
          <p:cNvSpPr txBox="1"/>
          <p:nvPr/>
        </p:nvSpPr>
        <p:spPr>
          <a:xfrm>
            <a:off x="9939528" y="3867912"/>
            <a:ext cx="1609344"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43" name="Text 41"/>
          <p:cNvSpPr txBox="1"/>
          <p:nvPr/>
        </p:nvSpPr>
        <p:spPr>
          <a:xfrm>
            <a:off x="822960" y="4270248"/>
            <a:ext cx="3063240" cy="329184"/>
          </a:xfrm>
          <a:prstGeom prst="rect">
            <a:avLst/>
          </a:prstGeom>
          <a:noFill/>
          <a:ln/>
        </p:spPr>
        <p:txBody>
          <a:bodyPr wrap="square" lIns="0" tIns="0" rIns="0" bIns="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UKG</a:t>
            </a:r>
            <a:endParaRPr lang="en-US" sz="1200" dirty="0"/>
          </a:p>
        </p:txBody>
      </p:sp>
      <p:sp>
        <p:nvSpPr>
          <p:cNvPr id="44" name="Text 42"/>
          <p:cNvSpPr txBox="1"/>
          <p:nvPr/>
        </p:nvSpPr>
        <p:spPr>
          <a:xfrm>
            <a:off x="3703320" y="4270248"/>
            <a:ext cx="1481328"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45" name="Text 43"/>
          <p:cNvSpPr txBox="1"/>
          <p:nvPr/>
        </p:nvSpPr>
        <p:spPr>
          <a:xfrm>
            <a:off x="5184648" y="4270248"/>
            <a:ext cx="1664208"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46" name="Text 44"/>
          <p:cNvSpPr txBox="1"/>
          <p:nvPr/>
        </p:nvSpPr>
        <p:spPr>
          <a:xfrm>
            <a:off x="6848856" y="4270248"/>
            <a:ext cx="1572768"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47" name="Text 45"/>
          <p:cNvSpPr txBox="1"/>
          <p:nvPr/>
        </p:nvSpPr>
        <p:spPr>
          <a:xfrm>
            <a:off x="8421624" y="4270248"/>
            <a:ext cx="1517904"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48" name="Text 46"/>
          <p:cNvSpPr txBox="1"/>
          <p:nvPr/>
        </p:nvSpPr>
        <p:spPr>
          <a:xfrm>
            <a:off x="9939528" y="4270248"/>
            <a:ext cx="1609344"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49" name="Shape 47"/>
          <p:cNvSpPr/>
          <p:nvPr/>
        </p:nvSpPr>
        <p:spPr>
          <a:xfrm>
            <a:off x="640080" y="4617720"/>
            <a:ext cx="10908792" cy="438912"/>
          </a:xfrm>
          <a:prstGeom prst="rect">
            <a:avLst/>
          </a:prstGeom>
          <a:solidFill>
            <a:srgbClr val="F7F9FD"/>
          </a:solidFill>
          <a:ln w="6350">
            <a:solidFill>
              <a:srgbClr val="F7F9FD"/>
            </a:solidFill>
            <a:prstDash val="solid"/>
          </a:ln>
        </p:spPr>
      </p:sp>
      <p:sp>
        <p:nvSpPr>
          <p:cNvPr id="50" name="Text 48"/>
          <p:cNvSpPr txBox="1"/>
          <p:nvPr/>
        </p:nvSpPr>
        <p:spPr>
          <a:xfrm>
            <a:off x="822960" y="4672584"/>
            <a:ext cx="3063240" cy="329184"/>
          </a:xfrm>
          <a:prstGeom prst="rect">
            <a:avLst/>
          </a:prstGeom>
          <a:noFill/>
          <a:ln/>
        </p:spPr>
        <p:txBody>
          <a:bodyPr wrap="square" lIns="0" tIns="0" rIns="0" bIns="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Rippling / Deel</a:t>
            </a:r>
            <a:endParaRPr lang="en-US" sz="1200" dirty="0"/>
          </a:p>
        </p:txBody>
      </p:sp>
      <p:sp>
        <p:nvSpPr>
          <p:cNvPr id="51" name="Text 49"/>
          <p:cNvSpPr txBox="1"/>
          <p:nvPr/>
        </p:nvSpPr>
        <p:spPr>
          <a:xfrm>
            <a:off x="3703320" y="4672584"/>
            <a:ext cx="1481328"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52" name="Text 50"/>
          <p:cNvSpPr txBox="1"/>
          <p:nvPr/>
        </p:nvSpPr>
        <p:spPr>
          <a:xfrm>
            <a:off x="5184648" y="4672584"/>
            <a:ext cx="1664208"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53" name="Text 51"/>
          <p:cNvSpPr txBox="1"/>
          <p:nvPr/>
        </p:nvSpPr>
        <p:spPr>
          <a:xfrm>
            <a:off x="6848856" y="4672584"/>
            <a:ext cx="1572768"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54" name="Text 52"/>
          <p:cNvSpPr txBox="1"/>
          <p:nvPr/>
        </p:nvSpPr>
        <p:spPr>
          <a:xfrm>
            <a:off x="8421624" y="4672584"/>
            <a:ext cx="1517904"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55" name="Text 53"/>
          <p:cNvSpPr txBox="1"/>
          <p:nvPr/>
        </p:nvSpPr>
        <p:spPr>
          <a:xfrm>
            <a:off x="9939528" y="4672584"/>
            <a:ext cx="1609344"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56" name="Text 54"/>
          <p:cNvSpPr txBox="1"/>
          <p:nvPr/>
        </p:nvSpPr>
        <p:spPr>
          <a:xfrm>
            <a:off x="822960" y="5074920"/>
            <a:ext cx="3063240" cy="329184"/>
          </a:xfrm>
          <a:prstGeom prst="rect">
            <a:avLst/>
          </a:prstGeom>
          <a:noFill/>
          <a:ln/>
        </p:spPr>
        <p:txBody>
          <a:bodyPr wrap="square" lIns="0" tIns="0" rIns="0" bIns="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HiBob / Bamboo / Personio</a:t>
            </a:r>
            <a:endParaRPr lang="en-US" sz="1200" dirty="0"/>
          </a:p>
        </p:txBody>
      </p:sp>
      <p:sp>
        <p:nvSpPr>
          <p:cNvPr id="57" name="Text 55"/>
          <p:cNvSpPr txBox="1"/>
          <p:nvPr/>
        </p:nvSpPr>
        <p:spPr>
          <a:xfrm>
            <a:off x="3703320" y="5074920"/>
            <a:ext cx="1481328"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58" name="Text 56"/>
          <p:cNvSpPr txBox="1"/>
          <p:nvPr/>
        </p:nvSpPr>
        <p:spPr>
          <a:xfrm>
            <a:off x="5184648" y="5074920"/>
            <a:ext cx="1664208"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59" name="Text 57"/>
          <p:cNvSpPr txBox="1"/>
          <p:nvPr/>
        </p:nvSpPr>
        <p:spPr>
          <a:xfrm>
            <a:off x="6848856" y="5074920"/>
            <a:ext cx="1572768"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60" name="Text 58"/>
          <p:cNvSpPr txBox="1"/>
          <p:nvPr/>
        </p:nvSpPr>
        <p:spPr>
          <a:xfrm>
            <a:off x="8421624" y="5074920"/>
            <a:ext cx="1517904"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61" name="Text 59"/>
          <p:cNvSpPr txBox="1"/>
          <p:nvPr/>
        </p:nvSpPr>
        <p:spPr>
          <a:xfrm>
            <a:off x="9939528" y="5074920"/>
            <a:ext cx="1609344"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62" name="Shape 60"/>
          <p:cNvSpPr/>
          <p:nvPr/>
        </p:nvSpPr>
        <p:spPr>
          <a:xfrm>
            <a:off x="640080" y="5422392"/>
            <a:ext cx="10908792" cy="438912"/>
          </a:xfrm>
          <a:prstGeom prst="rect">
            <a:avLst/>
          </a:prstGeom>
          <a:solidFill>
            <a:srgbClr val="F7F9FD"/>
          </a:solidFill>
          <a:ln w="6350">
            <a:solidFill>
              <a:srgbClr val="F7F9FD"/>
            </a:solidFill>
            <a:prstDash val="solid"/>
          </a:ln>
        </p:spPr>
      </p:sp>
      <p:sp>
        <p:nvSpPr>
          <p:cNvPr id="63" name="Text 61"/>
          <p:cNvSpPr txBox="1"/>
          <p:nvPr/>
        </p:nvSpPr>
        <p:spPr>
          <a:xfrm>
            <a:off x="822960" y="5477256"/>
            <a:ext cx="3063240" cy="329184"/>
          </a:xfrm>
          <a:prstGeom prst="rect">
            <a:avLst/>
          </a:prstGeom>
          <a:noFill/>
          <a:ln/>
        </p:spPr>
        <p:txBody>
          <a:bodyPr wrap="square" lIns="0" tIns="0" rIns="0" bIns="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Darwinbox / Paycom / Paylocity</a:t>
            </a:r>
            <a:endParaRPr lang="en-US" sz="1200" dirty="0"/>
          </a:p>
        </p:txBody>
      </p:sp>
      <p:sp>
        <p:nvSpPr>
          <p:cNvPr id="64" name="Text 62"/>
          <p:cNvSpPr txBox="1"/>
          <p:nvPr/>
        </p:nvSpPr>
        <p:spPr>
          <a:xfrm>
            <a:off x="3703320" y="5477256"/>
            <a:ext cx="1481328" cy="329184"/>
          </a:xfrm>
          <a:prstGeom prst="rect">
            <a:avLst/>
          </a:prstGeom>
          <a:noFill/>
          <a:ln/>
        </p:spPr>
        <p:txBody>
          <a:bodyPr wrap="square" lIns="0" tIns="0" rIns="0" bIns="0" rtlCol="0" anchor="ctr"/>
          <a:lstStyle/>
          <a:p>
            <a:pPr algn="ctr" indent="0" marL="0">
              <a:buNone/>
            </a:pPr>
            <a:r>
              <a:rPr lang="en-US" sz="1500" dirty="0">
                <a:solidFill>
                  <a:srgbClr val="8C97AB"/>
                </a:solidFill>
                <a:latin typeface="Calibri" pitchFamily="34" charset="0"/>
                <a:ea typeface="Calibri" pitchFamily="34" charset="-122"/>
                <a:cs typeface="Calibri" pitchFamily="34" charset="-120"/>
              </a:rPr>
              <a:t>◐</a:t>
            </a:r>
            <a:endParaRPr lang="en-US" sz="1500" dirty="0"/>
          </a:p>
        </p:txBody>
      </p:sp>
      <p:sp>
        <p:nvSpPr>
          <p:cNvPr id="65" name="Text 63"/>
          <p:cNvSpPr txBox="1"/>
          <p:nvPr/>
        </p:nvSpPr>
        <p:spPr>
          <a:xfrm>
            <a:off x="5184648" y="5477256"/>
            <a:ext cx="1664208"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66" name="Text 64"/>
          <p:cNvSpPr txBox="1"/>
          <p:nvPr/>
        </p:nvSpPr>
        <p:spPr>
          <a:xfrm>
            <a:off x="6848856" y="5477256"/>
            <a:ext cx="1572768"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67" name="Text 65"/>
          <p:cNvSpPr txBox="1"/>
          <p:nvPr/>
        </p:nvSpPr>
        <p:spPr>
          <a:xfrm>
            <a:off x="8421624" y="5477256"/>
            <a:ext cx="1517904"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68" name="Text 66"/>
          <p:cNvSpPr txBox="1"/>
          <p:nvPr/>
        </p:nvSpPr>
        <p:spPr>
          <a:xfrm>
            <a:off x="9939528" y="5477256"/>
            <a:ext cx="1609344" cy="329184"/>
          </a:xfrm>
          <a:prstGeom prst="rect">
            <a:avLst/>
          </a:prstGeom>
          <a:noFill/>
          <a:ln/>
        </p:spPr>
        <p:txBody>
          <a:bodyPr wrap="square" lIns="0" tIns="0" rIns="0" bIns="0" rtlCol="0" anchor="ctr"/>
          <a:lstStyle/>
          <a:p>
            <a:pPr algn="ctr" indent="0" marL="0">
              <a:buNone/>
            </a:pPr>
            <a:r>
              <a:rPr lang="en-US" sz="1500" dirty="0">
                <a:solidFill>
                  <a:srgbClr val="C3CBD9"/>
                </a:solidFill>
                <a:latin typeface="Calibri" pitchFamily="34" charset="0"/>
                <a:ea typeface="Calibri" pitchFamily="34" charset="-122"/>
                <a:cs typeface="Calibri" pitchFamily="34" charset="-120"/>
              </a:rPr>
              <a:t>○</a:t>
            </a:r>
            <a:endParaRPr lang="en-US" sz="1500" dirty="0"/>
          </a:p>
        </p:txBody>
      </p:sp>
      <p:sp>
        <p:nvSpPr>
          <p:cNvPr id="69" name="Shape 67"/>
          <p:cNvSpPr/>
          <p:nvPr/>
        </p:nvSpPr>
        <p:spPr>
          <a:xfrm>
            <a:off x="640080" y="5824728"/>
            <a:ext cx="10908792" cy="438912"/>
          </a:xfrm>
          <a:prstGeom prst="roundRect">
            <a:avLst>
              <a:gd name="adj" fmla="val 12500"/>
            </a:avLst>
          </a:prstGeom>
          <a:solidFill>
            <a:srgbClr val="1E2761"/>
          </a:solidFill>
          <a:ln/>
        </p:spPr>
      </p:sp>
      <p:sp>
        <p:nvSpPr>
          <p:cNvPr id="70" name="Text 68"/>
          <p:cNvSpPr txBox="1"/>
          <p:nvPr/>
        </p:nvSpPr>
        <p:spPr>
          <a:xfrm>
            <a:off x="822960" y="5879592"/>
            <a:ext cx="3063240" cy="329184"/>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KEEL</a:t>
            </a:r>
            <a:endParaRPr lang="en-US" sz="1200" dirty="0"/>
          </a:p>
        </p:txBody>
      </p:sp>
      <p:sp>
        <p:nvSpPr>
          <p:cNvPr id="71" name="Text 69"/>
          <p:cNvSpPr txBox="1"/>
          <p:nvPr/>
        </p:nvSpPr>
        <p:spPr>
          <a:xfrm>
            <a:off x="3703320" y="5879592"/>
            <a:ext cx="1481328" cy="329184"/>
          </a:xfrm>
          <a:prstGeom prst="rect">
            <a:avLst/>
          </a:prstGeom>
          <a:noFill/>
          <a:ln/>
        </p:spPr>
        <p:txBody>
          <a:bodyPr wrap="square" lIns="0" tIns="0" rIns="0" bIns="0" rtlCol="0" anchor="ctr"/>
          <a:lstStyle/>
          <a:p>
            <a:pPr algn="ctr" indent="0" marL="0">
              <a:buNone/>
            </a:pPr>
            <a:r>
              <a:rPr lang="en-US" sz="1500" b="1" dirty="0">
                <a:solidFill>
                  <a:srgbClr val="F5A623"/>
                </a:solidFill>
                <a:latin typeface="Calibri" pitchFamily="34" charset="0"/>
                <a:ea typeface="Calibri" pitchFamily="34" charset="-122"/>
                <a:cs typeface="Calibri" pitchFamily="34" charset="-120"/>
              </a:rPr>
              <a:t>★</a:t>
            </a:r>
            <a:endParaRPr lang="en-US" sz="1500" dirty="0"/>
          </a:p>
        </p:txBody>
      </p:sp>
      <p:sp>
        <p:nvSpPr>
          <p:cNvPr id="72" name="Text 70"/>
          <p:cNvSpPr txBox="1"/>
          <p:nvPr/>
        </p:nvSpPr>
        <p:spPr>
          <a:xfrm>
            <a:off x="5184648" y="5879592"/>
            <a:ext cx="1664208" cy="329184"/>
          </a:xfrm>
          <a:prstGeom prst="rect">
            <a:avLst/>
          </a:prstGeom>
          <a:noFill/>
          <a:ln/>
        </p:spPr>
        <p:txBody>
          <a:bodyPr wrap="square" lIns="0" tIns="0" rIns="0" bIns="0" rtlCol="0" anchor="ctr"/>
          <a:lstStyle/>
          <a:p>
            <a:pPr algn="ctr" indent="0" marL="0">
              <a:buNone/>
            </a:pPr>
            <a:r>
              <a:rPr lang="en-US" sz="1500" b="1" dirty="0">
                <a:solidFill>
                  <a:srgbClr val="F5A623"/>
                </a:solidFill>
                <a:latin typeface="Calibri" pitchFamily="34" charset="0"/>
                <a:ea typeface="Calibri" pitchFamily="34" charset="-122"/>
                <a:cs typeface="Calibri" pitchFamily="34" charset="-120"/>
              </a:rPr>
              <a:t>★</a:t>
            </a:r>
            <a:endParaRPr lang="en-US" sz="1500" dirty="0"/>
          </a:p>
        </p:txBody>
      </p:sp>
      <p:sp>
        <p:nvSpPr>
          <p:cNvPr id="73" name="Text 71"/>
          <p:cNvSpPr txBox="1"/>
          <p:nvPr/>
        </p:nvSpPr>
        <p:spPr>
          <a:xfrm>
            <a:off x="6848856" y="5879592"/>
            <a:ext cx="1572768" cy="329184"/>
          </a:xfrm>
          <a:prstGeom prst="rect">
            <a:avLst/>
          </a:prstGeom>
          <a:noFill/>
          <a:ln/>
        </p:spPr>
        <p:txBody>
          <a:bodyPr wrap="square" lIns="0" tIns="0" rIns="0" bIns="0" rtlCol="0" anchor="ctr"/>
          <a:lstStyle/>
          <a:p>
            <a:pPr algn="ctr" indent="0" marL="0">
              <a:buNone/>
            </a:pPr>
            <a:r>
              <a:rPr lang="en-US" sz="1500" b="1" dirty="0">
                <a:solidFill>
                  <a:srgbClr val="F5A623"/>
                </a:solidFill>
                <a:latin typeface="Calibri" pitchFamily="34" charset="0"/>
                <a:ea typeface="Calibri" pitchFamily="34" charset="-122"/>
                <a:cs typeface="Calibri" pitchFamily="34" charset="-120"/>
              </a:rPr>
              <a:t>★</a:t>
            </a:r>
            <a:endParaRPr lang="en-US" sz="1500" dirty="0"/>
          </a:p>
        </p:txBody>
      </p:sp>
      <p:sp>
        <p:nvSpPr>
          <p:cNvPr id="74" name="Text 72"/>
          <p:cNvSpPr txBox="1"/>
          <p:nvPr/>
        </p:nvSpPr>
        <p:spPr>
          <a:xfrm>
            <a:off x="8421624" y="5879592"/>
            <a:ext cx="1517904" cy="329184"/>
          </a:xfrm>
          <a:prstGeom prst="rect">
            <a:avLst/>
          </a:prstGeom>
          <a:noFill/>
          <a:ln/>
        </p:spPr>
        <p:txBody>
          <a:bodyPr wrap="square" lIns="0" tIns="0" rIns="0" bIns="0" rtlCol="0" anchor="ctr"/>
          <a:lstStyle/>
          <a:p>
            <a:pPr algn="ctr" indent="0" marL="0">
              <a:buNone/>
            </a:pPr>
            <a:r>
              <a:rPr lang="en-US" sz="1500" b="1" dirty="0">
                <a:solidFill>
                  <a:srgbClr val="F5A623"/>
                </a:solidFill>
                <a:latin typeface="Calibri" pitchFamily="34" charset="0"/>
                <a:ea typeface="Calibri" pitchFamily="34" charset="-122"/>
                <a:cs typeface="Calibri" pitchFamily="34" charset="-120"/>
              </a:rPr>
              <a:t>★</a:t>
            </a:r>
            <a:endParaRPr lang="en-US" sz="1500" dirty="0"/>
          </a:p>
        </p:txBody>
      </p:sp>
      <p:sp>
        <p:nvSpPr>
          <p:cNvPr id="75" name="Text 73"/>
          <p:cNvSpPr txBox="1"/>
          <p:nvPr/>
        </p:nvSpPr>
        <p:spPr>
          <a:xfrm>
            <a:off x="9939528" y="5879592"/>
            <a:ext cx="1609344" cy="329184"/>
          </a:xfrm>
          <a:prstGeom prst="rect">
            <a:avLst/>
          </a:prstGeom>
          <a:noFill/>
          <a:ln/>
        </p:spPr>
        <p:txBody>
          <a:bodyPr wrap="square" lIns="0" tIns="0" rIns="0" bIns="0" rtlCol="0" anchor="ctr"/>
          <a:lstStyle/>
          <a:p>
            <a:pPr algn="ctr" indent="0" marL="0">
              <a:buNone/>
            </a:pPr>
            <a:r>
              <a:rPr lang="en-US" sz="1500" b="1" dirty="0">
                <a:solidFill>
                  <a:srgbClr val="F5A623"/>
                </a:solidFill>
                <a:latin typeface="Calibri" pitchFamily="34" charset="0"/>
                <a:ea typeface="Calibri" pitchFamily="34" charset="-122"/>
                <a:cs typeface="Calibri" pitchFamily="34" charset="-120"/>
              </a:rPr>
              <a:t>★</a:t>
            </a:r>
            <a:endParaRPr lang="en-US" sz="1500" dirty="0"/>
          </a:p>
        </p:txBody>
      </p:sp>
      <p:sp>
        <p:nvSpPr>
          <p:cNvPr id="76" name="Text 74"/>
          <p:cNvSpPr txBox="1"/>
          <p:nvPr/>
        </p:nvSpPr>
        <p:spPr>
          <a:xfrm>
            <a:off x="640080" y="6263640"/>
            <a:ext cx="7315200" cy="256032"/>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  strong        ◐  partial        ○  absent        ★  native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alibri" pitchFamily="34" charset="0"/>
                <a:ea typeface="Calibri" pitchFamily="34" charset="-122"/>
                <a:cs typeface="Calibri" pitchFamily="34" charset="-120"/>
              </a:rPr>
              <a:t>GO TO MARKET</a:t>
            </a:r>
            <a:endParaRPr lang="en-US" sz="1100" dirty="0"/>
          </a:p>
        </p:txBody>
      </p:sp>
      <p:sp>
        <p:nvSpPr>
          <p:cNvPr id="3" name="Text 1"/>
          <p:cNvSpPr txBox="1"/>
          <p:nvPr/>
        </p:nvSpPr>
        <p:spPr>
          <a:xfrm>
            <a:off x="640080" y="777240"/>
            <a:ext cx="7863840" cy="1188720"/>
          </a:xfrm>
          <a:prstGeom prst="rect">
            <a:avLst/>
          </a:prstGeom>
          <a:noFill/>
          <a:ln/>
        </p:spPr>
        <p:txBody>
          <a:bodyPr wrap="square" lIns="0" tIns="0" rIns="0" bIns="0" rtlCol="0" anchor="ctr"/>
          <a:lstStyle/>
          <a:p>
            <a:pPr indent="0" marL="0">
              <a:lnSpc>
                <a:spcPts val="4000"/>
              </a:lnSpc>
              <a:buNone/>
            </a:pPr>
            <a:r>
              <a:rPr lang="en-US" sz="3200" b="1" dirty="0">
                <a:solidFill>
                  <a:srgbClr val="FFFFFF"/>
                </a:solidFill>
                <a:latin typeface="Cambria" pitchFamily="34" charset="0"/>
                <a:ea typeface="Cambria" pitchFamily="34" charset="-122"/>
                <a:cs typeface="Cambria" pitchFamily="34" charset="-120"/>
              </a:rPr>
              <a:t>We don't sell a migration.</a:t>
            </a:r>
            <a:endParaRPr lang="en-US" sz="3200" dirty="0"/>
          </a:p>
          <a:p>
            <a:pPr indent="0" marL="0">
              <a:lnSpc>
                <a:spcPts val="4000"/>
              </a:lnSpc>
              <a:buNone/>
            </a:pPr>
            <a:r>
              <a:rPr lang="en-US" sz="3200" b="1" dirty="0">
                <a:solidFill>
                  <a:srgbClr val="FFFFFF"/>
                </a:solidFill>
                <a:latin typeface="Cambria" pitchFamily="34" charset="0"/>
                <a:ea typeface="Cambria" pitchFamily="34" charset="-122"/>
                <a:cs typeface="Cambria" pitchFamily="34" charset="-120"/>
              </a:rPr>
              <a:t>We sell a 90-day parallel run.</a:t>
            </a:r>
            <a:endParaRPr lang="en-US" sz="3200" dirty="0"/>
          </a:p>
        </p:txBody>
      </p:sp>
      <p:sp>
        <p:nvSpPr>
          <p:cNvPr id="4" name="Shape 2"/>
          <p:cNvSpPr/>
          <p:nvPr/>
        </p:nvSpPr>
        <p:spPr>
          <a:xfrm>
            <a:off x="640080" y="2286000"/>
            <a:ext cx="2651760" cy="2834640"/>
          </a:xfrm>
          <a:prstGeom prst="roundRect">
            <a:avLst>
              <a:gd name="adj" fmla="val 2759"/>
            </a:avLst>
          </a:prstGeom>
          <a:solidFill>
            <a:srgbClr val="141B45"/>
          </a:solidFill>
          <a:ln w="9525">
            <a:solidFill>
              <a:srgbClr val="35407C"/>
            </a:solidFill>
            <a:prstDash val="solid"/>
          </a:ln>
        </p:spPr>
      </p:sp>
      <p:sp>
        <p:nvSpPr>
          <p:cNvPr id="5" name="Text 3"/>
          <p:cNvSpPr txBox="1"/>
          <p:nvPr/>
        </p:nvSpPr>
        <p:spPr>
          <a:xfrm>
            <a:off x="932688" y="2505456"/>
            <a:ext cx="1097280" cy="411480"/>
          </a:xfrm>
          <a:prstGeom prst="rect">
            <a:avLst/>
          </a:prstGeom>
          <a:noFill/>
          <a:ln/>
        </p:spPr>
        <p:txBody>
          <a:bodyPr wrap="square" lIns="0" tIns="0" rIns="0" bIns="0" rtlCol="0" anchor="ctr"/>
          <a:lstStyle/>
          <a:p>
            <a:pPr indent="0" marL="0">
              <a:buNone/>
            </a:pPr>
            <a:r>
              <a:rPr lang="en-US" sz="2400" b="1" dirty="0">
                <a:solidFill>
                  <a:srgbClr val="F5A623"/>
                </a:solidFill>
                <a:latin typeface="Cambria" pitchFamily="34" charset="0"/>
                <a:ea typeface="Cambria" pitchFamily="34" charset="-122"/>
                <a:cs typeface="Cambria" pitchFamily="34" charset="-120"/>
              </a:rPr>
              <a:t>01</a:t>
            </a:r>
            <a:endParaRPr lang="en-US" sz="2400" dirty="0"/>
          </a:p>
        </p:txBody>
      </p:sp>
      <p:sp>
        <p:nvSpPr>
          <p:cNvPr id="6" name="Text 4"/>
          <p:cNvSpPr txBox="1"/>
          <p:nvPr/>
        </p:nvSpPr>
        <p:spPr>
          <a:xfrm>
            <a:off x="932688" y="2999232"/>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Ingest</a:t>
            </a:r>
            <a:endParaRPr lang="en-US" sz="1500" dirty="0"/>
          </a:p>
        </p:txBody>
      </p:sp>
      <p:sp>
        <p:nvSpPr>
          <p:cNvPr id="7" name="Text 5"/>
          <p:cNvSpPr txBox="1"/>
          <p:nvPr/>
        </p:nvSpPr>
        <p:spPr>
          <a:xfrm>
            <a:off x="932688" y="3383280"/>
            <a:ext cx="2084832" cy="1600200"/>
          </a:xfrm>
          <a:prstGeom prst="rect">
            <a:avLst/>
          </a:prstGeom>
          <a:noFill/>
          <a:ln/>
        </p:spPr>
        <p:txBody>
          <a:bodyPr wrap="square" lIns="0" tIns="0" rIns="0" bIns="0" rtlCol="0" anchor="ctr"/>
          <a:lstStyle/>
          <a:p>
            <a:pPr indent="0" marL="0">
              <a:lnSpc>
                <a:spcPts val="1550"/>
              </a:lnSpc>
              <a:buNone/>
            </a:pPr>
            <a:r>
              <a:rPr lang="en-US" sz="1150" dirty="0">
                <a:solidFill>
                  <a:srgbClr val="CADCFC"/>
                </a:solidFill>
                <a:latin typeface="Calibri" pitchFamily="34" charset="0"/>
                <a:ea typeface="Calibri" pitchFamily="34" charset="-122"/>
                <a:cs typeface="Calibri" pitchFamily="34" charset="-120"/>
              </a:rPr>
              <a:t>We load historical payroll and master data using our migration accelerators. No commitment, no rip-and-replace.</a:t>
            </a:r>
            <a:endParaRPr lang="en-US" sz="1150" dirty="0"/>
          </a:p>
        </p:txBody>
      </p:sp>
      <p:sp>
        <p:nvSpPr>
          <p:cNvPr id="8" name="Shape 6"/>
          <p:cNvSpPr/>
          <p:nvPr/>
        </p:nvSpPr>
        <p:spPr>
          <a:xfrm>
            <a:off x="3438144" y="2286000"/>
            <a:ext cx="2651760" cy="2834640"/>
          </a:xfrm>
          <a:prstGeom prst="roundRect">
            <a:avLst>
              <a:gd name="adj" fmla="val 2759"/>
            </a:avLst>
          </a:prstGeom>
          <a:solidFill>
            <a:srgbClr val="141B45"/>
          </a:solidFill>
          <a:ln w="9525">
            <a:solidFill>
              <a:srgbClr val="35407C"/>
            </a:solidFill>
            <a:prstDash val="solid"/>
          </a:ln>
        </p:spPr>
      </p:sp>
      <p:sp>
        <p:nvSpPr>
          <p:cNvPr id="9" name="Text 7"/>
          <p:cNvSpPr txBox="1"/>
          <p:nvPr/>
        </p:nvSpPr>
        <p:spPr>
          <a:xfrm>
            <a:off x="3730752" y="2505456"/>
            <a:ext cx="1097280" cy="411480"/>
          </a:xfrm>
          <a:prstGeom prst="rect">
            <a:avLst/>
          </a:prstGeom>
          <a:noFill/>
          <a:ln/>
        </p:spPr>
        <p:txBody>
          <a:bodyPr wrap="square" lIns="0" tIns="0" rIns="0" bIns="0" rtlCol="0" anchor="ctr"/>
          <a:lstStyle/>
          <a:p>
            <a:pPr indent="0" marL="0">
              <a:buNone/>
            </a:pPr>
            <a:r>
              <a:rPr lang="en-US" sz="2400" b="1" dirty="0">
                <a:solidFill>
                  <a:srgbClr val="F5A623"/>
                </a:solidFill>
                <a:latin typeface="Cambria" pitchFamily="34" charset="0"/>
                <a:ea typeface="Cambria" pitchFamily="34" charset="-122"/>
                <a:cs typeface="Cambria" pitchFamily="34" charset="-120"/>
              </a:rPr>
              <a:t>02</a:t>
            </a:r>
            <a:endParaRPr lang="en-US" sz="2400" dirty="0"/>
          </a:p>
        </p:txBody>
      </p:sp>
      <p:sp>
        <p:nvSpPr>
          <p:cNvPr id="10" name="Text 8"/>
          <p:cNvSpPr txBox="1"/>
          <p:nvPr/>
        </p:nvSpPr>
        <p:spPr>
          <a:xfrm>
            <a:off x="3730752" y="2999232"/>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Run in parallel</a:t>
            </a:r>
            <a:endParaRPr lang="en-US" sz="1500" dirty="0"/>
          </a:p>
        </p:txBody>
      </p:sp>
      <p:sp>
        <p:nvSpPr>
          <p:cNvPr id="11" name="Text 9"/>
          <p:cNvSpPr txBox="1"/>
          <p:nvPr/>
        </p:nvSpPr>
        <p:spPr>
          <a:xfrm>
            <a:off x="3730752" y="3383280"/>
            <a:ext cx="2084832" cy="1600200"/>
          </a:xfrm>
          <a:prstGeom prst="rect">
            <a:avLst/>
          </a:prstGeom>
          <a:noFill/>
          <a:ln/>
        </p:spPr>
        <p:txBody>
          <a:bodyPr wrap="square" lIns="0" tIns="0" rIns="0" bIns="0" rtlCol="0" anchor="ctr"/>
          <a:lstStyle/>
          <a:p>
            <a:pPr indent="0" marL="0">
              <a:lnSpc>
                <a:spcPts val="1550"/>
              </a:lnSpc>
              <a:buNone/>
            </a:pPr>
            <a:r>
              <a:rPr lang="en-US" sz="1150" dirty="0">
                <a:solidFill>
                  <a:srgbClr val="CADCFC"/>
                </a:solidFill>
                <a:latin typeface="Calibri" pitchFamily="34" charset="0"/>
                <a:ea typeface="Calibri" pitchFamily="34" charset="-122"/>
                <a:cs typeface="Calibri" pitchFamily="34" charset="-120"/>
              </a:rPr>
              <a:t>Our deterministic engine runs alongside their incumbent for three full cycles. They keep paying people the way they always have.</a:t>
            </a:r>
            <a:endParaRPr lang="en-US" sz="1150" dirty="0"/>
          </a:p>
        </p:txBody>
      </p:sp>
      <p:sp>
        <p:nvSpPr>
          <p:cNvPr id="12" name="Shape 10"/>
          <p:cNvSpPr/>
          <p:nvPr/>
        </p:nvSpPr>
        <p:spPr>
          <a:xfrm>
            <a:off x="6236208" y="2286000"/>
            <a:ext cx="2651760" cy="2834640"/>
          </a:xfrm>
          <a:prstGeom prst="roundRect">
            <a:avLst>
              <a:gd name="adj" fmla="val 2759"/>
            </a:avLst>
          </a:prstGeom>
          <a:solidFill>
            <a:srgbClr val="141B45"/>
          </a:solidFill>
          <a:ln w="9525">
            <a:solidFill>
              <a:srgbClr val="35407C"/>
            </a:solidFill>
            <a:prstDash val="solid"/>
          </a:ln>
        </p:spPr>
      </p:sp>
      <p:sp>
        <p:nvSpPr>
          <p:cNvPr id="13" name="Text 11"/>
          <p:cNvSpPr txBox="1"/>
          <p:nvPr/>
        </p:nvSpPr>
        <p:spPr>
          <a:xfrm>
            <a:off x="6528816" y="2505456"/>
            <a:ext cx="1097280" cy="411480"/>
          </a:xfrm>
          <a:prstGeom prst="rect">
            <a:avLst/>
          </a:prstGeom>
          <a:noFill/>
          <a:ln/>
        </p:spPr>
        <p:txBody>
          <a:bodyPr wrap="square" lIns="0" tIns="0" rIns="0" bIns="0" rtlCol="0" anchor="ctr"/>
          <a:lstStyle/>
          <a:p>
            <a:pPr indent="0" marL="0">
              <a:buNone/>
            </a:pPr>
            <a:r>
              <a:rPr lang="en-US" sz="2400" b="1" dirty="0">
                <a:solidFill>
                  <a:srgbClr val="F5A623"/>
                </a:solidFill>
                <a:latin typeface="Cambria" pitchFamily="34" charset="0"/>
                <a:ea typeface="Cambria" pitchFamily="34" charset="-122"/>
                <a:cs typeface="Cambria" pitchFamily="34" charset="-120"/>
              </a:rPr>
              <a:t>03</a:t>
            </a:r>
            <a:endParaRPr lang="en-US" sz="2400" dirty="0"/>
          </a:p>
        </p:txBody>
      </p:sp>
      <p:sp>
        <p:nvSpPr>
          <p:cNvPr id="14" name="Text 12"/>
          <p:cNvSpPr txBox="1"/>
          <p:nvPr/>
        </p:nvSpPr>
        <p:spPr>
          <a:xfrm>
            <a:off x="6528816" y="2999232"/>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Report the variance</a:t>
            </a:r>
            <a:endParaRPr lang="en-US" sz="1500" dirty="0"/>
          </a:p>
        </p:txBody>
      </p:sp>
      <p:sp>
        <p:nvSpPr>
          <p:cNvPr id="15" name="Text 13"/>
          <p:cNvSpPr txBox="1"/>
          <p:nvPr/>
        </p:nvSpPr>
        <p:spPr>
          <a:xfrm>
            <a:off x="6528816" y="3383280"/>
            <a:ext cx="2084832" cy="1600200"/>
          </a:xfrm>
          <a:prstGeom prst="rect">
            <a:avLst/>
          </a:prstGeom>
          <a:noFill/>
          <a:ln/>
        </p:spPr>
        <p:txBody>
          <a:bodyPr wrap="square" lIns="0" tIns="0" rIns="0" bIns="0" rtlCol="0" anchor="ctr"/>
          <a:lstStyle/>
          <a:p>
            <a:pPr indent="0" marL="0">
              <a:lnSpc>
                <a:spcPts val="1550"/>
              </a:lnSpc>
              <a:buNone/>
            </a:pPr>
            <a:r>
              <a:rPr lang="en-US" sz="1150" dirty="0">
                <a:solidFill>
                  <a:srgbClr val="CADCFC"/>
                </a:solidFill>
                <a:latin typeface="Calibri" pitchFamily="34" charset="0"/>
                <a:ea typeface="Calibri" pitchFamily="34" charset="-122"/>
                <a:cs typeface="Calibri" pitchFamily="34" charset="-120"/>
              </a:rPr>
              <a:t>Cent-level differences per employee, per element — each one traced to the specific rule and policy version that produced it.</a:t>
            </a:r>
            <a:endParaRPr lang="en-US" sz="1150" dirty="0"/>
          </a:p>
        </p:txBody>
      </p:sp>
      <p:sp>
        <p:nvSpPr>
          <p:cNvPr id="16" name="Shape 14"/>
          <p:cNvSpPr/>
          <p:nvPr/>
        </p:nvSpPr>
        <p:spPr>
          <a:xfrm>
            <a:off x="9034272" y="2286000"/>
            <a:ext cx="2651760" cy="2834640"/>
          </a:xfrm>
          <a:prstGeom prst="roundRect">
            <a:avLst>
              <a:gd name="adj" fmla="val 2759"/>
            </a:avLst>
          </a:prstGeom>
          <a:solidFill>
            <a:srgbClr val="141B45"/>
          </a:solidFill>
          <a:ln w="9525">
            <a:solidFill>
              <a:srgbClr val="35407C"/>
            </a:solidFill>
            <a:prstDash val="solid"/>
          </a:ln>
        </p:spPr>
      </p:sp>
      <p:sp>
        <p:nvSpPr>
          <p:cNvPr id="17" name="Text 15"/>
          <p:cNvSpPr txBox="1"/>
          <p:nvPr/>
        </p:nvSpPr>
        <p:spPr>
          <a:xfrm>
            <a:off x="9326880" y="2505456"/>
            <a:ext cx="1097280" cy="411480"/>
          </a:xfrm>
          <a:prstGeom prst="rect">
            <a:avLst/>
          </a:prstGeom>
          <a:noFill/>
          <a:ln/>
        </p:spPr>
        <p:txBody>
          <a:bodyPr wrap="square" lIns="0" tIns="0" rIns="0" bIns="0" rtlCol="0" anchor="ctr"/>
          <a:lstStyle/>
          <a:p>
            <a:pPr indent="0" marL="0">
              <a:buNone/>
            </a:pPr>
            <a:r>
              <a:rPr lang="en-US" sz="2400" b="1" dirty="0">
                <a:solidFill>
                  <a:srgbClr val="F5A623"/>
                </a:solidFill>
                <a:latin typeface="Cambria" pitchFamily="34" charset="0"/>
                <a:ea typeface="Cambria" pitchFamily="34" charset="-122"/>
                <a:cs typeface="Cambria" pitchFamily="34" charset="-120"/>
              </a:rPr>
              <a:t>04</a:t>
            </a:r>
            <a:endParaRPr lang="en-US" sz="2400" dirty="0"/>
          </a:p>
        </p:txBody>
      </p:sp>
      <p:sp>
        <p:nvSpPr>
          <p:cNvPr id="18" name="Text 16"/>
          <p:cNvSpPr txBox="1"/>
          <p:nvPr/>
        </p:nvSpPr>
        <p:spPr>
          <a:xfrm>
            <a:off x="9326880" y="2999232"/>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Find their errors</a:t>
            </a:r>
            <a:endParaRPr lang="en-US" sz="1500" dirty="0"/>
          </a:p>
        </p:txBody>
      </p:sp>
      <p:sp>
        <p:nvSpPr>
          <p:cNvPr id="19" name="Text 17"/>
          <p:cNvSpPr txBox="1"/>
          <p:nvPr/>
        </p:nvSpPr>
        <p:spPr>
          <a:xfrm>
            <a:off x="9326880" y="3383280"/>
            <a:ext cx="2084832" cy="1600200"/>
          </a:xfrm>
          <a:prstGeom prst="rect">
            <a:avLst/>
          </a:prstGeom>
          <a:noFill/>
          <a:ln/>
        </p:spPr>
        <p:txBody>
          <a:bodyPr wrap="square" lIns="0" tIns="0" rIns="0" bIns="0" rtlCol="0" anchor="ctr"/>
          <a:lstStyle/>
          <a:p>
            <a:pPr indent="0" marL="0">
              <a:lnSpc>
                <a:spcPts val="1550"/>
              </a:lnSpc>
              <a:buNone/>
            </a:pPr>
            <a:r>
              <a:rPr lang="en-US" sz="1150" dirty="0">
                <a:solidFill>
                  <a:srgbClr val="CADCFC"/>
                </a:solidFill>
                <a:latin typeface="Calibri" pitchFamily="34" charset="0"/>
                <a:ea typeface="Calibri" pitchFamily="34" charset="-122"/>
                <a:cs typeface="Calibri" pitchFamily="34" charset="-120"/>
              </a:rPr>
              <a:t>One in five payroll cycles contains errors; ~15 corrections per cycle is typical. We will find them. The sale makes itself.</a:t>
            </a:r>
            <a:endParaRPr lang="en-US" sz="1150" dirty="0"/>
          </a:p>
        </p:txBody>
      </p:sp>
      <p:sp>
        <p:nvSpPr>
          <p:cNvPr id="20" name="Text 18"/>
          <p:cNvSpPr txBox="1"/>
          <p:nvPr/>
        </p:nvSpPr>
        <p:spPr>
          <a:xfrm>
            <a:off x="640080" y="5486400"/>
            <a:ext cx="10881360" cy="457200"/>
          </a:xfrm>
          <a:prstGeom prst="rect">
            <a:avLst/>
          </a:prstGeom>
          <a:noFill/>
          <a:ln/>
        </p:spPr>
        <p:txBody>
          <a:bodyPr wrap="square" lIns="0" tIns="0" rIns="0" bIns="0" rtlCol="0" anchor="ctr"/>
          <a:lstStyle/>
          <a:p>
            <a:pPr indent="0" marL="0">
              <a:lnSpc>
                <a:spcPts val="2000"/>
              </a:lnSpc>
              <a:buNone/>
            </a:pPr>
            <a:r>
              <a:rPr lang="en-US" sz="1400" i="1" dirty="0">
                <a:solidFill>
                  <a:srgbClr val="FFFFFF"/>
                </a:solidFill>
                <a:latin typeface="Calibri" pitchFamily="34" charset="0"/>
                <a:ea typeface="Calibri" pitchFamily="34" charset="-122"/>
                <a:cs typeface="Calibri" pitchFamily="34" charset="-120"/>
              </a:rPr>
              <a:t>This inverts the risk of the sale. The buyer isn't betting on a new vendor — they're running a free audit that either validates their incumbent or indicts it.</a:t>
            </a:r>
            <a:endParaRPr lang="en-US" sz="1400" dirty="0"/>
          </a:p>
        </p:txBody>
      </p:sp>
      <p:sp>
        <p:nvSpPr>
          <p:cNvPr id="21" name="Text 19"/>
          <p:cNvSpPr txBox="1"/>
          <p:nvPr/>
        </p:nvSpPr>
        <p:spPr>
          <a:xfrm>
            <a:off x="640080" y="6400800"/>
            <a:ext cx="10908792" cy="237744"/>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Payroll error benchmarks: EY payroll accuracy survey; industry non-compliance cost estimates exceed $845 per employee per year.</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8229600" cy="256032"/>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BEACHHEAD</a:t>
            </a:r>
            <a:endParaRPr lang="en-US" sz="10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Multi-entity groups, where incumbents are weakest</a:t>
            </a:r>
            <a:endParaRPr lang="en-US" sz="3200" dirty="0"/>
          </a:p>
        </p:txBody>
      </p:sp>
      <p:sp>
        <p:nvSpPr>
          <p:cNvPr id="4" name="Shape 2"/>
          <p:cNvSpPr/>
          <p:nvPr/>
        </p:nvSpPr>
        <p:spPr>
          <a:xfrm>
            <a:off x="640080" y="1645920"/>
            <a:ext cx="5577840" cy="2194560"/>
          </a:xfrm>
          <a:prstGeom prst="roundRect">
            <a:avLst>
              <a:gd name="adj" fmla="val 3333"/>
            </a:avLst>
          </a:prstGeom>
          <a:solidFill>
            <a:srgbClr val="F7F9FD"/>
          </a:solidFill>
          <a:ln w="9525">
            <a:solidFill>
              <a:srgbClr val="D6DEEC"/>
            </a:solidFill>
            <a:prstDash val="solid"/>
          </a:ln>
        </p:spPr>
      </p:sp>
      <p:sp>
        <p:nvSpPr>
          <p:cNvPr id="5" name="Text 3"/>
          <p:cNvSpPr txBox="1"/>
          <p:nvPr/>
        </p:nvSpPr>
        <p:spPr>
          <a:xfrm>
            <a:off x="1024128" y="1828800"/>
            <a:ext cx="4754880" cy="29260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Target customer</a:t>
            </a:r>
            <a:endParaRPr lang="en-US" sz="1500" dirty="0"/>
          </a:p>
        </p:txBody>
      </p:sp>
      <p:sp>
        <p:nvSpPr>
          <p:cNvPr id="6" name="Text 4"/>
          <p:cNvSpPr txBox="1"/>
          <p:nvPr/>
        </p:nvSpPr>
        <p:spPr>
          <a:xfrm>
            <a:off x="1024128" y="2212848"/>
            <a:ext cx="4846320" cy="155448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5A6472"/>
                </a:solidFill>
                <a:latin typeface="Calibri" pitchFamily="34" charset="0"/>
                <a:ea typeface="Calibri" pitchFamily="34" charset="-122"/>
                <a:cs typeface="Calibri" pitchFamily="34" charset="-120"/>
              </a:rPr>
              <a:t>500–25,000 employees</a:t>
            </a:r>
            <a:endParaRPr lang="en-US" sz="1200" dirty="0"/>
          </a:p>
          <a:p>
            <a:pPr marL="342900" indent="-342900">
              <a:spcAft>
                <a:spcPts val="500"/>
              </a:spcAft>
              <a:buSzPct val="100000"/>
              <a:buChar char="•"/>
            </a:pPr>
            <a:r>
              <a:rPr lang="en-US" sz="1200" dirty="0">
                <a:solidFill>
                  <a:srgbClr val="5A6472"/>
                </a:solidFill>
                <a:latin typeface="Calibri" pitchFamily="34" charset="0"/>
                <a:ea typeface="Calibri" pitchFamily="34" charset="-122"/>
                <a:cs typeface="Calibri" pitchFamily="34" charset="-120"/>
              </a:rPr>
              <a:t>3+ legal entities, often 10+ branches</a:t>
            </a:r>
            <a:endParaRPr lang="en-US" sz="1200" dirty="0"/>
          </a:p>
          <a:p>
            <a:pPr marL="342900" indent="-342900">
              <a:spcAft>
                <a:spcPts val="500"/>
              </a:spcAft>
              <a:buSzPct val="100000"/>
              <a:buChar char="•"/>
            </a:pPr>
            <a:r>
              <a:rPr lang="en-US" sz="1200" dirty="0">
                <a:solidFill>
                  <a:srgbClr val="5A6472"/>
                </a:solidFill>
                <a:latin typeface="Calibri" pitchFamily="34" charset="0"/>
                <a:ea typeface="Calibri" pitchFamily="34" charset="-122"/>
                <a:cs typeface="Calibri" pitchFamily="34" charset="-120"/>
              </a:rPr>
              <a:t>2+ countries, or one with high statutory complexity</a:t>
            </a:r>
            <a:endParaRPr lang="en-US" sz="1200" dirty="0"/>
          </a:p>
          <a:p>
            <a:pPr marL="342900" indent="-342900">
              <a:spcAft>
                <a:spcPts val="500"/>
              </a:spcAft>
              <a:buSzPct val="100000"/>
              <a:buChar char="•"/>
            </a:pPr>
            <a:r>
              <a:rPr lang="en-US" sz="1200" dirty="0">
                <a:solidFill>
                  <a:srgbClr val="5A6472"/>
                </a:solidFill>
                <a:latin typeface="Calibri" pitchFamily="34" charset="0"/>
                <a:ea typeface="Calibri" pitchFamily="34" charset="-122"/>
                <a:cs typeface="Calibri" pitchFamily="34" charset="-120"/>
              </a:rPr>
              <a:t>Outgrown a mid-market HRIS; spreadsheets bridge the gaps</a:t>
            </a:r>
            <a:endParaRPr lang="en-US" sz="1200" dirty="0"/>
          </a:p>
          <a:p>
            <a:pPr marL="342900" indent="-342900">
              <a:spcAft>
                <a:spcPts val="500"/>
              </a:spcAft>
              <a:buSzPct val="100000"/>
              <a:buChar char="•"/>
            </a:pPr>
            <a:r>
              <a:rPr lang="en-US" sz="1200" dirty="0">
                <a:solidFill>
                  <a:srgbClr val="5A6472"/>
                </a:solidFill>
                <a:latin typeface="Calibri" pitchFamily="34" charset="0"/>
                <a:ea typeface="Calibri" pitchFamily="34" charset="-122"/>
                <a:cs typeface="Calibri" pitchFamily="34" charset="-120"/>
              </a:rPr>
              <a:t>Manufacturing, BPO, retail, healthcare, logistics, financial services</a:t>
            </a:r>
            <a:endParaRPr lang="en-US" sz="1200" dirty="0"/>
          </a:p>
        </p:txBody>
      </p:sp>
      <p:sp>
        <p:nvSpPr>
          <p:cNvPr id="7" name="Shape 5"/>
          <p:cNvSpPr/>
          <p:nvPr/>
        </p:nvSpPr>
        <p:spPr>
          <a:xfrm>
            <a:off x="6583680" y="1645920"/>
            <a:ext cx="4965192" cy="2194560"/>
          </a:xfrm>
          <a:prstGeom prst="roundRect">
            <a:avLst>
              <a:gd name="adj" fmla="val 3333"/>
            </a:avLst>
          </a:prstGeom>
          <a:solidFill>
            <a:srgbClr val="1E2761"/>
          </a:solidFill>
          <a:ln w="9525">
            <a:solidFill>
              <a:srgbClr val="D6DEEC"/>
            </a:solidFill>
            <a:prstDash val="solid"/>
          </a:ln>
        </p:spPr>
      </p:sp>
      <p:sp>
        <p:nvSpPr>
          <p:cNvPr id="8" name="Text 6"/>
          <p:cNvSpPr txBox="1"/>
          <p:nvPr/>
        </p:nvSpPr>
        <p:spPr>
          <a:xfrm>
            <a:off x="6967728" y="1828800"/>
            <a:ext cx="4206240" cy="292608"/>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Why this segment</a:t>
            </a:r>
            <a:endParaRPr lang="en-US" sz="1500" dirty="0"/>
          </a:p>
        </p:txBody>
      </p:sp>
      <p:sp>
        <p:nvSpPr>
          <p:cNvPr id="9" name="Text 7"/>
          <p:cNvSpPr txBox="1"/>
          <p:nvPr/>
        </p:nvSpPr>
        <p:spPr>
          <a:xfrm>
            <a:off x="6967728" y="2212848"/>
            <a:ext cx="4206240" cy="1554480"/>
          </a:xfrm>
          <a:prstGeom prst="rect">
            <a:avLst/>
          </a:prstGeom>
          <a:noFill/>
          <a:ln/>
        </p:spPr>
        <p:txBody>
          <a:bodyPr wrap="square" lIns="0" tIns="0" rIns="0" bIns="0" rtlCol="0" anchor="ctr"/>
          <a:lstStyle/>
          <a:p>
            <a:pPr indent="0" marL="0">
              <a:lnSpc>
                <a:spcPts val="1600"/>
              </a:lnSpc>
              <a:buNone/>
            </a:pPr>
            <a:r>
              <a:rPr lang="en-US" sz="1200" dirty="0">
                <a:solidFill>
                  <a:srgbClr val="CADCFC"/>
                </a:solidFill>
                <a:latin typeface="Calibri" pitchFamily="34" charset="0"/>
                <a:ea typeface="Calibri" pitchFamily="34" charset="-122"/>
                <a:cs typeface="Calibri" pitchFamily="34" charset="-120"/>
              </a:rPr>
              <a:t>41% of organisations cite multi-EIN and multi-entity structure as the blocker that adds 6–12 months to an HR automation implementation.</a:t>
            </a:r>
            <a:endParaRPr lang="en-US" sz="1200" dirty="0"/>
          </a:p>
          <a:p>
            <a:pPr indent="0" marL="0">
              <a:lnSpc>
                <a:spcPts val="1600"/>
              </a:lnSpc>
              <a:buNone/>
            </a:pPr>
            <a:endParaRPr lang="en-US" sz="1200" dirty="0"/>
          </a:p>
          <a:p>
            <a:pPr indent="0" marL="0">
              <a:lnSpc>
                <a:spcPts val="1600"/>
              </a:lnSpc>
              <a:buNone/>
            </a:pPr>
            <a:r>
              <a:rPr lang="en-US" sz="1200" dirty="0">
                <a:solidFill>
                  <a:srgbClr val="CADCFC"/>
                </a:solidFill>
                <a:latin typeface="Calibri" pitchFamily="34" charset="0"/>
                <a:ea typeface="Calibri" pitchFamily="34" charset="-122"/>
                <a:cs typeface="Calibri" pitchFamily="34" charset="-120"/>
              </a:rPr>
              <a:t>Every incumbent treats this as an edge case to be configured around. We treat the corporate group as the primary object.</a:t>
            </a:r>
            <a:endParaRPr lang="en-US" sz="1200" dirty="0"/>
          </a:p>
        </p:txBody>
      </p:sp>
      <p:sp>
        <p:nvSpPr>
          <p:cNvPr id="10" name="Text 8"/>
          <p:cNvSpPr txBox="1"/>
          <p:nvPr/>
        </p:nvSpPr>
        <p:spPr>
          <a:xfrm>
            <a:off x="640080" y="4041648"/>
            <a:ext cx="5486400" cy="274320"/>
          </a:xfrm>
          <a:prstGeom prst="rect">
            <a:avLst/>
          </a:prstGeom>
          <a:noFill/>
          <a:ln/>
        </p:spPr>
        <p:txBody>
          <a:bodyPr wrap="square" lIns="0" tIns="0" rIns="0" bIns="0" rtlCol="0" anchor="ctr"/>
          <a:lstStyle/>
          <a:p>
            <a:pPr indent="0" marL="0">
              <a:buNone/>
            </a:pPr>
            <a:r>
              <a:rPr lang="en-US" sz="1100" b="1" spc="150" kern="0" dirty="0">
                <a:solidFill>
                  <a:srgbClr val="F5A623"/>
                </a:solidFill>
                <a:latin typeface="Calibri" pitchFamily="34" charset="0"/>
                <a:ea typeface="Calibri" pitchFamily="34" charset="-122"/>
                <a:cs typeface="Calibri" pitchFamily="34" charset="-120"/>
              </a:rPr>
              <a:t>GEOGRAPHIC SEQUENCE</a:t>
            </a:r>
            <a:endParaRPr lang="en-US" sz="1100" dirty="0"/>
          </a:p>
        </p:txBody>
      </p:sp>
      <p:sp>
        <p:nvSpPr>
          <p:cNvPr id="11" name="Shape 9"/>
          <p:cNvSpPr/>
          <p:nvPr/>
        </p:nvSpPr>
        <p:spPr>
          <a:xfrm>
            <a:off x="640080" y="4352544"/>
            <a:ext cx="1005840" cy="384048"/>
          </a:xfrm>
          <a:prstGeom prst="roundRect">
            <a:avLst>
              <a:gd name="adj" fmla="val 11905"/>
            </a:avLst>
          </a:prstGeom>
          <a:solidFill>
            <a:srgbClr val="F5A623"/>
          </a:solidFill>
          <a:ln/>
        </p:spPr>
      </p:sp>
      <p:sp>
        <p:nvSpPr>
          <p:cNvPr id="12" name="Text 10"/>
          <p:cNvSpPr txBox="1"/>
          <p:nvPr/>
        </p:nvSpPr>
        <p:spPr>
          <a:xfrm>
            <a:off x="640080" y="4352544"/>
            <a:ext cx="1005840" cy="384048"/>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Yr 1–2</a:t>
            </a:r>
            <a:endParaRPr lang="en-US" sz="1050" dirty="0"/>
          </a:p>
        </p:txBody>
      </p:sp>
      <p:sp>
        <p:nvSpPr>
          <p:cNvPr id="13" name="Text 11"/>
          <p:cNvSpPr txBox="1"/>
          <p:nvPr/>
        </p:nvSpPr>
        <p:spPr>
          <a:xfrm>
            <a:off x="1810512" y="4370832"/>
            <a:ext cx="2331720" cy="32918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ASEAN + Middle East</a:t>
            </a:r>
            <a:endParaRPr lang="en-US" sz="1250" dirty="0"/>
          </a:p>
        </p:txBody>
      </p:sp>
      <p:sp>
        <p:nvSpPr>
          <p:cNvPr id="14" name="Text 12"/>
          <p:cNvSpPr txBox="1"/>
          <p:nvPr/>
        </p:nvSpPr>
        <p:spPr>
          <a:xfrm>
            <a:off x="4251960" y="4379976"/>
            <a:ext cx="7178040" cy="384048"/>
          </a:xfrm>
          <a:prstGeom prst="rect">
            <a:avLst/>
          </a:prstGeom>
          <a:noFill/>
          <a:ln/>
        </p:spPr>
        <p:txBody>
          <a:bodyPr wrap="square" lIns="0" tIns="0" rIns="0" bIns="0" rtlCol="0" anchor="ctr"/>
          <a:lstStyle/>
          <a:p>
            <a:pPr indent="0" marL="0">
              <a:lnSpc>
                <a:spcPts val="1400"/>
              </a:lnSpc>
              <a:buNone/>
            </a:pPr>
            <a:r>
              <a:rPr lang="en-US" sz="1150" dirty="0">
                <a:solidFill>
                  <a:srgbClr val="5A6472"/>
                </a:solidFill>
                <a:latin typeface="Calibri" pitchFamily="34" charset="0"/>
                <a:ea typeface="Calibri" pitchFamily="34" charset="-122"/>
                <a:cs typeface="Calibri" pitchFamily="34" charset="-120"/>
              </a:rPr>
              <a:t>Dense conglomerate structures, high statutory complexity, weak incumbent localisation, price sensitivity that punishes Workday and Oracle.</a:t>
            </a:r>
            <a:endParaRPr lang="en-US" sz="1150" dirty="0"/>
          </a:p>
        </p:txBody>
      </p:sp>
      <p:sp>
        <p:nvSpPr>
          <p:cNvPr id="15" name="Shape 13"/>
          <p:cNvSpPr/>
          <p:nvPr/>
        </p:nvSpPr>
        <p:spPr>
          <a:xfrm>
            <a:off x="640080" y="4864608"/>
            <a:ext cx="1005840" cy="384048"/>
          </a:xfrm>
          <a:prstGeom prst="roundRect">
            <a:avLst>
              <a:gd name="adj" fmla="val 11905"/>
            </a:avLst>
          </a:prstGeom>
          <a:solidFill>
            <a:srgbClr val="F5A623"/>
          </a:solidFill>
          <a:ln/>
        </p:spPr>
      </p:sp>
      <p:sp>
        <p:nvSpPr>
          <p:cNvPr id="16" name="Text 14"/>
          <p:cNvSpPr txBox="1"/>
          <p:nvPr/>
        </p:nvSpPr>
        <p:spPr>
          <a:xfrm>
            <a:off x="640080" y="4864608"/>
            <a:ext cx="1005840" cy="384048"/>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Yr 2–3</a:t>
            </a:r>
            <a:endParaRPr lang="en-US" sz="1050" dirty="0"/>
          </a:p>
        </p:txBody>
      </p:sp>
      <p:sp>
        <p:nvSpPr>
          <p:cNvPr id="17" name="Text 15"/>
          <p:cNvSpPr txBox="1"/>
          <p:nvPr/>
        </p:nvSpPr>
        <p:spPr>
          <a:xfrm>
            <a:off x="1810512" y="4882896"/>
            <a:ext cx="2331720" cy="32918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India + wider APAC</a:t>
            </a:r>
            <a:endParaRPr lang="en-US" sz="1250" dirty="0"/>
          </a:p>
        </p:txBody>
      </p:sp>
      <p:sp>
        <p:nvSpPr>
          <p:cNvPr id="18" name="Text 16"/>
          <p:cNvSpPr txBox="1"/>
          <p:nvPr/>
        </p:nvSpPr>
        <p:spPr>
          <a:xfrm>
            <a:off x="4251960" y="4892040"/>
            <a:ext cx="7178040" cy="384048"/>
          </a:xfrm>
          <a:prstGeom prst="rect">
            <a:avLst/>
          </a:prstGeom>
          <a:noFill/>
          <a:ln/>
        </p:spPr>
        <p:txBody>
          <a:bodyPr wrap="square" lIns="0" tIns="0" rIns="0" bIns="0" rtlCol="0" anchor="ctr"/>
          <a:lstStyle/>
          <a:p>
            <a:pPr indent="0" marL="0">
              <a:lnSpc>
                <a:spcPts val="1400"/>
              </a:lnSpc>
              <a:buNone/>
            </a:pPr>
            <a:r>
              <a:rPr lang="en-US" sz="1150" dirty="0">
                <a:solidFill>
                  <a:srgbClr val="5A6472"/>
                </a:solidFill>
                <a:latin typeface="Calibri" pitchFamily="34" charset="0"/>
                <a:ea typeface="Calibri" pitchFamily="34" charset="-122"/>
                <a:cs typeface="Calibri" pitchFamily="34" charset="-120"/>
              </a:rPr>
              <a:t>Scale plays. Darwinbox is the competitor to beat, and the fight is on architecture.</a:t>
            </a:r>
            <a:endParaRPr lang="en-US" sz="1150" dirty="0"/>
          </a:p>
        </p:txBody>
      </p:sp>
      <p:sp>
        <p:nvSpPr>
          <p:cNvPr id="19" name="Shape 17"/>
          <p:cNvSpPr/>
          <p:nvPr/>
        </p:nvSpPr>
        <p:spPr>
          <a:xfrm>
            <a:off x="640080" y="5376672"/>
            <a:ext cx="1005840" cy="384048"/>
          </a:xfrm>
          <a:prstGeom prst="roundRect">
            <a:avLst>
              <a:gd name="adj" fmla="val 11905"/>
            </a:avLst>
          </a:prstGeom>
          <a:solidFill>
            <a:srgbClr val="F5A623"/>
          </a:solidFill>
          <a:ln/>
        </p:spPr>
      </p:sp>
      <p:sp>
        <p:nvSpPr>
          <p:cNvPr id="20" name="Text 18"/>
          <p:cNvSpPr txBox="1"/>
          <p:nvPr/>
        </p:nvSpPr>
        <p:spPr>
          <a:xfrm>
            <a:off x="640080" y="5376672"/>
            <a:ext cx="1005840" cy="384048"/>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Yr 3–4</a:t>
            </a:r>
            <a:endParaRPr lang="en-US" sz="1050" dirty="0"/>
          </a:p>
        </p:txBody>
      </p:sp>
      <p:sp>
        <p:nvSpPr>
          <p:cNvPr id="21" name="Text 19"/>
          <p:cNvSpPr txBox="1"/>
          <p:nvPr/>
        </p:nvSpPr>
        <p:spPr>
          <a:xfrm>
            <a:off x="1810512" y="5394960"/>
            <a:ext cx="2331720" cy="32918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EMEA</a:t>
            </a:r>
            <a:endParaRPr lang="en-US" sz="1250" dirty="0"/>
          </a:p>
        </p:txBody>
      </p:sp>
      <p:sp>
        <p:nvSpPr>
          <p:cNvPr id="22" name="Text 20"/>
          <p:cNvSpPr txBox="1"/>
          <p:nvPr/>
        </p:nvSpPr>
        <p:spPr>
          <a:xfrm>
            <a:off x="4251960" y="5404104"/>
            <a:ext cx="7178040" cy="384048"/>
          </a:xfrm>
          <a:prstGeom prst="rect">
            <a:avLst/>
          </a:prstGeom>
          <a:noFill/>
          <a:ln/>
        </p:spPr>
        <p:txBody>
          <a:bodyPr wrap="square" lIns="0" tIns="0" rIns="0" bIns="0" rtlCol="0" anchor="ctr"/>
          <a:lstStyle/>
          <a:p>
            <a:pPr indent="0" marL="0">
              <a:lnSpc>
                <a:spcPts val="1400"/>
              </a:lnSpc>
              <a:buNone/>
            </a:pPr>
            <a:r>
              <a:rPr lang="en-US" sz="1150" dirty="0">
                <a:solidFill>
                  <a:srgbClr val="5A6472"/>
                </a:solidFill>
                <a:latin typeface="Calibri" pitchFamily="34" charset="0"/>
                <a:ea typeface="Calibri" pitchFamily="34" charset="-122"/>
                <a:cs typeface="Calibri" pitchFamily="34" charset="-120"/>
              </a:rPr>
              <a:t>Enter on the compliance story: EU AI Act and Pay Transparency, with works-council-ready evidence as the wedge.</a:t>
            </a:r>
            <a:endParaRPr lang="en-US" sz="1150" dirty="0"/>
          </a:p>
        </p:txBody>
      </p:sp>
      <p:sp>
        <p:nvSpPr>
          <p:cNvPr id="23" name="Shape 21"/>
          <p:cNvSpPr/>
          <p:nvPr/>
        </p:nvSpPr>
        <p:spPr>
          <a:xfrm>
            <a:off x="640080" y="5888736"/>
            <a:ext cx="1005840" cy="384048"/>
          </a:xfrm>
          <a:prstGeom prst="roundRect">
            <a:avLst>
              <a:gd name="adj" fmla="val 11905"/>
            </a:avLst>
          </a:prstGeom>
          <a:solidFill>
            <a:srgbClr val="F5A623"/>
          </a:solidFill>
          <a:ln/>
        </p:spPr>
      </p:sp>
      <p:sp>
        <p:nvSpPr>
          <p:cNvPr id="24" name="Text 22"/>
          <p:cNvSpPr txBox="1"/>
          <p:nvPr/>
        </p:nvSpPr>
        <p:spPr>
          <a:xfrm>
            <a:off x="640080" y="5888736"/>
            <a:ext cx="1005840" cy="384048"/>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Yr 4–5</a:t>
            </a:r>
            <a:endParaRPr lang="en-US" sz="1050" dirty="0"/>
          </a:p>
        </p:txBody>
      </p:sp>
      <p:sp>
        <p:nvSpPr>
          <p:cNvPr id="25" name="Text 23"/>
          <p:cNvSpPr txBox="1"/>
          <p:nvPr/>
        </p:nvSpPr>
        <p:spPr>
          <a:xfrm>
            <a:off x="1810512" y="5907024"/>
            <a:ext cx="2331720" cy="329184"/>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North America</a:t>
            </a:r>
            <a:endParaRPr lang="en-US" sz="1250" dirty="0"/>
          </a:p>
        </p:txBody>
      </p:sp>
      <p:sp>
        <p:nvSpPr>
          <p:cNvPr id="26" name="Text 24"/>
          <p:cNvSpPr txBox="1"/>
          <p:nvPr/>
        </p:nvSpPr>
        <p:spPr>
          <a:xfrm>
            <a:off x="4251960" y="5916168"/>
            <a:ext cx="7178040" cy="384048"/>
          </a:xfrm>
          <a:prstGeom prst="rect">
            <a:avLst/>
          </a:prstGeom>
          <a:noFill/>
          <a:ln/>
        </p:spPr>
        <p:txBody>
          <a:bodyPr wrap="square" lIns="0" tIns="0" rIns="0" bIns="0" rtlCol="0" anchor="ctr"/>
          <a:lstStyle/>
          <a:p>
            <a:pPr indent="0" marL="0">
              <a:lnSpc>
                <a:spcPts val="1400"/>
              </a:lnSpc>
              <a:buNone/>
            </a:pPr>
            <a:r>
              <a:rPr lang="en-US" sz="1150" dirty="0">
                <a:solidFill>
                  <a:srgbClr val="5A6472"/>
                </a:solidFill>
                <a:latin typeface="Calibri" pitchFamily="34" charset="0"/>
                <a:ea typeface="Calibri" pitchFamily="34" charset="-122"/>
                <a:cs typeface="Calibri" pitchFamily="34" charset="-120"/>
              </a:rPr>
              <a:t>Through multinationals already running us elsewhere, and the mid-market upgrade path. We earn the right to face ADP; we don't start there.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8229600" cy="256032"/>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BUSINESS MODEL</a:t>
            </a:r>
            <a:endParaRPr lang="en-US" sz="10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Three lines. No consumption roulette.</a:t>
            </a:r>
            <a:endParaRPr lang="en-US" sz="3200" dirty="0"/>
          </a:p>
        </p:txBody>
      </p:sp>
      <p:sp>
        <p:nvSpPr>
          <p:cNvPr id="4" name="Shape 2"/>
          <p:cNvSpPr/>
          <p:nvPr/>
        </p:nvSpPr>
        <p:spPr>
          <a:xfrm>
            <a:off x="640080" y="1645920"/>
            <a:ext cx="3520440" cy="2606040"/>
          </a:xfrm>
          <a:prstGeom prst="roundRect">
            <a:avLst>
              <a:gd name="adj" fmla="val 3509"/>
            </a:avLst>
          </a:prstGeom>
          <a:solidFill>
            <a:srgbClr val="F7F9FD"/>
          </a:solidFill>
          <a:ln w="9525">
            <a:solidFill>
              <a:srgbClr val="D6DEEC"/>
            </a:solidFill>
            <a:prstDash val="solid"/>
          </a:ln>
        </p:spPr>
      </p:sp>
      <p:sp>
        <p:nvSpPr>
          <p:cNvPr id="5" name="Text 3"/>
          <p:cNvSpPr txBox="1"/>
          <p:nvPr/>
        </p:nvSpPr>
        <p:spPr>
          <a:xfrm>
            <a:off x="987552" y="1847088"/>
            <a:ext cx="2926080" cy="310896"/>
          </a:xfrm>
          <a:prstGeom prst="rect">
            <a:avLst/>
          </a:prstGeom>
          <a:noFill/>
          <a:ln/>
        </p:spPr>
        <p:txBody>
          <a:bodyPr wrap="square" lIns="0" tIns="0" rIns="0" bIns="0" rtlCol="0" anchor="ctr"/>
          <a:lstStyle/>
          <a:p>
            <a:pPr indent="0" marL="0">
              <a:buNone/>
            </a:pPr>
            <a:r>
              <a:rPr lang="en-US" sz="1400" b="1" dirty="0">
                <a:solidFill>
                  <a:srgbClr val="5A6472"/>
                </a:solidFill>
                <a:latin typeface="Calibri" pitchFamily="34" charset="0"/>
                <a:ea typeface="Calibri" pitchFamily="34" charset="-122"/>
                <a:cs typeface="Calibri" pitchFamily="34" charset="-120"/>
              </a:rPr>
              <a:t>Deterministic Core</a:t>
            </a:r>
            <a:endParaRPr lang="en-US" sz="1400" dirty="0"/>
          </a:p>
        </p:txBody>
      </p:sp>
      <p:sp>
        <p:nvSpPr>
          <p:cNvPr id="6" name="Text 4"/>
          <p:cNvSpPr txBox="1"/>
          <p:nvPr/>
        </p:nvSpPr>
        <p:spPr>
          <a:xfrm>
            <a:off x="987552" y="2212848"/>
            <a:ext cx="2926080" cy="457200"/>
          </a:xfrm>
          <a:prstGeom prst="rect">
            <a:avLst/>
          </a:prstGeom>
          <a:noFill/>
          <a:ln/>
        </p:spPr>
        <p:txBody>
          <a:bodyPr wrap="square" lIns="0" tIns="0" rIns="0" bIns="0" rtlCol="0" anchor="ctr"/>
          <a:lstStyle/>
          <a:p>
            <a:pPr indent="0" marL="0">
              <a:buNone/>
            </a:pPr>
            <a:r>
              <a:rPr lang="en-US" sz="2300" b="1" dirty="0">
                <a:solidFill>
                  <a:srgbClr val="1E2761"/>
                </a:solidFill>
                <a:latin typeface="Cambria" pitchFamily="34" charset="0"/>
                <a:ea typeface="Cambria" pitchFamily="34" charset="-122"/>
                <a:cs typeface="Cambria" pitchFamily="34" charset="-120"/>
              </a:rPr>
              <a:t>$9–14 PEPM</a:t>
            </a:r>
            <a:endParaRPr lang="en-US" sz="2300" dirty="0"/>
          </a:p>
        </p:txBody>
      </p:sp>
      <p:sp>
        <p:nvSpPr>
          <p:cNvPr id="7" name="Text 5"/>
          <p:cNvSpPr txBox="1"/>
          <p:nvPr/>
        </p:nvSpPr>
        <p:spPr>
          <a:xfrm>
            <a:off x="987552" y="2761488"/>
            <a:ext cx="2889504" cy="1325880"/>
          </a:xfrm>
          <a:prstGeom prst="rect">
            <a:avLst/>
          </a:prstGeom>
          <a:noFill/>
          <a:ln/>
        </p:spPr>
        <p:txBody>
          <a:bodyPr wrap="square" lIns="0" tIns="0" rIns="0" bIns="0" rtlCol="0" anchor="ctr"/>
          <a:lstStyle/>
          <a:p>
            <a:pPr indent="0" marL="0">
              <a:lnSpc>
                <a:spcPts val="1550"/>
              </a:lnSpc>
              <a:buNone/>
            </a:pPr>
            <a:r>
              <a:rPr lang="en-US" sz="1150" dirty="0">
                <a:solidFill>
                  <a:srgbClr val="5A6472"/>
                </a:solidFill>
                <a:latin typeface="Calibri" pitchFamily="34" charset="0"/>
                <a:ea typeface="Calibri" pitchFamily="34" charset="-122"/>
                <a:cs typeface="Calibri" pitchFamily="34" charset="-120"/>
              </a:rPr>
              <a:t>All 203 modules. Unlimited manual use. Full L3 capability. Modules are never sold separately — the bundle removes the upsell conversation that makes incumbent renewals adversarial.</a:t>
            </a:r>
            <a:endParaRPr lang="en-US" sz="1150" dirty="0"/>
          </a:p>
        </p:txBody>
      </p:sp>
      <p:sp>
        <p:nvSpPr>
          <p:cNvPr id="8" name="Shape 6"/>
          <p:cNvSpPr/>
          <p:nvPr/>
        </p:nvSpPr>
        <p:spPr>
          <a:xfrm>
            <a:off x="4352544" y="1645920"/>
            <a:ext cx="3520440" cy="2606040"/>
          </a:xfrm>
          <a:prstGeom prst="roundRect">
            <a:avLst>
              <a:gd name="adj" fmla="val 3509"/>
            </a:avLst>
          </a:prstGeom>
          <a:solidFill>
            <a:srgbClr val="1E2761"/>
          </a:solidFill>
          <a:ln w="9525">
            <a:solidFill>
              <a:srgbClr val="1E2761"/>
            </a:solidFill>
            <a:prstDash val="solid"/>
          </a:ln>
        </p:spPr>
      </p:sp>
      <p:sp>
        <p:nvSpPr>
          <p:cNvPr id="9" name="Text 7"/>
          <p:cNvSpPr txBox="1"/>
          <p:nvPr/>
        </p:nvSpPr>
        <p:spPr>
          <a:xfrm>
            <a:off x="4700016" y="1847088"/>
            <a:ext cx="292608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Agent Plane</a:t>
            </a:r>
            <a:endParaRPr lang="en-US" sz="1400" dirty="0"/>
          </a:p>
        </p:txBody>
      </p:sp>
      <p:sp>
        <p:nvSpPr>
          <p:cNvPr id="10" name="Text 8"/>
          <p:cNvSpPr txBox="1"/>
          <p:nvPr/>
        </p:nvSpPr>
        <p:spPr>
          <a:xfrm>
            <a:off x="4700016" y="2212848"/>
            <a:ext cx="2926080" cy="457200"/>
          </a:xfrm>
          <a:prstGeom prst="rect">
            <a:avLst/>
          </a:prstGeom>
          <a:noFill/>
          <a:ln/>
        </p:spPr>
        <p:txBody>
          <a:bodyPr wrap="square" lIns="0" tIns="0" rIns="0" bIns="0" rtlCol="0" anchor="ctr"/>
          <a:lstStyle/>
          <a:p>
            <a:pPr indent="0" marL="0">
              <a:buNone/>
            </a:pPr>
            <a:r>
              <a:rPr lang="en-US" sz="2300" b="1" dirty="0">
                <a:solidFill>
                  <a:srgbClr val="F5A623"/>
                </a:solidFill>
                <a:latin typeface="Cambria" pitchFamily="34" charset="0"/>
                <a:ea typeface="Cambria" pitchFamily="34" charset="-122"/>
                <a:cs typeface="Cambria" pitchFamily="34" charset="-120"/>
              </a:rPr>
              <a:t>$5–8 PEPM</a:t>
            </a:r>
            <a:endParaRPr lang="en-US" sz="2300" dirty="0"/>
          </a:p>
        </p:txBody>
      </p:sp>
      <p:sp>
        <p:nvSpPr>
          <p:cNvPr id="11" name="Text 9"/>
          <p:cNvSpPr txBox="1"/>
          <p:nvPr/>
        </p:nvSpPr>
        <p:spPr>
          <a:xfrm>
            <a:off x="4700016" y="2761488"/>
            <a:ext cx="2889504" cy="1325880"/>
          </a:xfrm>
          <a:prstGeom prst="rect">
            <a:avLst/>
          </a:prstGeom>
          <a:noFill/>
          <a:ln/>
        </p:spPr>
        <p:txBody>
          <a:bodyPr wrap="square" lIns="0" tIns="0" rIns="0" bIns="0" rtlCol="0" anchor="ctr"/>
          <a:lstStyle/>
          <a:p>
            <a:pPr indent="0" marL="0">
              <a:lnSpc>
                <a:spcPts val="1550"/>
              </a:lnSpc>
              <a:buNone/>
            </a:pPr>
            <a:r>
              <a:rPr lang="en-US" sz="1150" dirty="0">
                <a:solidFill>
                  <a:srgbClr val="CADCFC"/>
                </a:solidFill>
                <a:latin typeface="Calibri" pitchFamily="34" charset="0"/>
                <a:ea typeface="Calibri" pitchFamily="34" charset="-122"/>
                <a:cs typeface="Calibri" pitchFamily="34" charset="-120"/>
              </a:rPr>
              <a:t>Flat. Not metered. No credits, no tokens, no year-end surprise. We absorb inference variability because the deterministic core does the expensive computation and model routing is ours to optimise.</a:t>
            </a:r>
            <a:endParaRPr lang="en-US" sz="1150" dirty="0"/>
          </a:p>
        </p:txBody>
      </p:sp>
      <p:sp>
        <p:nvSpPr>
          <p:cNvPr id="12" name="Shape 10"/>
          <p:cNvSpPr/>
          <p:nvPr/>
        </p:nvSpPr>
        <p:spPr>
          <a:xfrm>
            <a:off x="8065008" y="1645920"/>
            <a:ext cx="3520440" cy="2606040"/>
          </a:xfrm>
          <a:prstGeom prst="roundRect">
            <a:avLst>
              <a:gd name="adj" fmla="val 3509"/>
            </a:avLst>
          </a:prstGeom>
          <a:solidFill>
            <a:srgbClr val="F7F9FD"/>
          </a:solidFill>
          <a:ln w="9525">
            <a:solidFill>
              <a:srgbClr val="D6DEEC"/>
            </a:solidFill>
            <a:prstDash val="solid"/>
          </a:ln>
        </p:spPr>
      </p:sp>
      <p:sp>
        <p:nvSpPr>
          <p:cNvPr id="13" name="Text 11"/>
          <p:cNvSpPr txBox="1"/>
          <p:nvPr/>
        </p:nvSpPr>
        <p:spPr>
          <a:xfrm>
            <a:off x="8412480" y="1847088"/>
            <a:ext cx="2926080" cy="310896"/>
          </a:xfrm>
          <a:prstGeom prst="rect">
            <a:avLst/>
          </a:prstGeom>
          <a:noFill/>
          <a:ln/>
        </p:spPr>
        <p:txBody>
          <a:bodyPr wrap="square" lIns="0" tIns="0" rIns="0" bIns="0" rtlCol="0" anchor="ctr"/>
          <a:lstStyle/>
          <a:p>
            <a:pPr indent="0" marL="0">
              <a:buNone/>
            </a:pPr>
            <a:r>
              <a:rPr lang="en-US" sz="1400" b="1" dirty="0">
                <a:solidFill>
                  <a:srgbClr val="5A6472"/>
                </a:solidFill>
                <a:latin typeface="Calibri" pitchFamily="34" charset="0"/>
                <a:ea typeface="Calibri" pitchFamily="34" charset="-122"/>
                <a:cs typeface="Calibri" pitchFamily="34" charset="-120"/>
              </a:rPr>
              <a:t>Jurisdiction Packs</a:t>
            </a:r>
            <a:endParaRPr lang="en-US" sz="1400" dirty="0"/>
          </a:p>
        </p:txBody>
      </p:sp>
      <p:sp>
        <p:nvSpPr>
          <p:cNvPr id="14" name="Text 12"/>
          <p:cNvSpPr txBox="1"/>
          <p:nvPr/>
        </p:nvSpPr>
        <p:spPr>
          <a:xfrm>
            <a:off x="8412480" y="2212848"/>
            <a:ext cx="2926080" cy="457200"/>
          </a:xfrm>
          <a:prstGeom prst="rect">
            <a:avLst/>
          </a:prstGeom>
          <a:noFill/>
          <a:ln/>
        </p:spPr>
        <p:txBody>
          <a:bodyPr wrap="square" lIns="0" tIns="0" rIns="0" bIns="0" rtlCol="0" anchor="ctr"/>
          <a:lstStyle/>
          <a:p>
            <a:pPr indent="0" marL="0">
              <a:buNone/>
            </a:pPr>
            <a:r>
              <a:rPr lang="en-US" sz="2300" b="1" dirty="0">
                <a:solidFill>
                  <a:srgbClr val="1E2761"/>
                </a:solidFill>
                <a:latin typeface="Cambria" pitchFamily="34" charset="0"/>
                <a:ea typeface="Cambria" pitchFamily="34" charset="-122"/>
                <a:cs typeface="Cambria" pitchFamily="34" charset="-120"/>
              </a:rPr>
              <a:t>$2–12k / entity / yr</a:t>
            </a:r>
            <a:endParaRPr lang="en-US" sz="2300" dirty="0"/>
          </a:p>
        </p:txBody>
      </p:sp>
      <p:sp>
        <p:nvSpPr>
          <p:cNvPr id="15" name="Text 13"/>
          <p:cNvSpPr txBox="1"/>
          <p:nvPr/>
        </p:nvSpPr>
        <p:spPr>
          <a:xfrm>
            <a:off x="8412480" y="2761488"/>
            <a:ext cx="2889504" cy="1325880"/>
          </a:xfrm>
          <a:prstGeom prst="rect">
            <a:avLst/>
          </a:prstGeom>
          <a:noFill/>
          <a:ln/>
        </p:spPr>
        <p:txBody>
          <a:bodyPr wrap="square" lIns="0" tIns="0" rIns="0" bIns="0" rtlCol="0" anchor="ctr"/>
          <a:lstStyle/>
          <a:p>
            <a:pPr indent="0" marL="0">
              <a:lnSpc>
                <a:spcPts val="1550"/>
              </a:lnSpc>
              <a:buNone/>
            </a:pPr>
            <a:r>
              <a:rPr lang="en-US" sz="1150" dirty="0">
                <a:solidFill>
                  <a:srgbClr val="5A6472"/>
                </a:solidFill>
                <a:latin typeface="Calibri" pitchFamily="34" charset="0"/>
                <a:ea typeface="Calibri" pitchFamily="34" charset="-122"/>
                <a:cs typeface="Calibri" pitchFamily="34" charset="-120"/>
              </a:rPr>
              <a:t>Statutory payroll, tax, leave and reporting rules as signed, versioned, golden-tested artifacts. Partner-buildable on our SDK with revenue share.</a:t>
            </a:r>
            <a:endParaRPr lang="en-US" sz="1150" dirty="0"/>
          </a:p>
        </p:txBody>
      </p:sp>
      <p:sp>
        <p:nvSpPr>
          <p:cNvPr id="16" name="Shape 14"/>
          <p:cNvSpPr/>
          <p:nvPr/>
        </p:nvSpPr>
        <p:spPr>
          <a:xfrm>
            <a:off x="640080" y="4480560"/>
            <a:ext cx="10908792" cy="960120"/>
          </a:xfrm>
          <a:prstGeom prst="roundRect">
            <a:avLst>
              <a:gd name="adj" fmla="val 7619"/>
            </a:avLst>
          </a:prstGeom>
          <a:solidFill>
            <a:srgbClr val="FFF4E0"/>
          </a:solidFill>
          <a:ln w="12700">
            <a:solidFill>
              <a:srgbClr val="F5A623"/>
            </a:solidFill>
            <a:prstDash val="solid"/>
          </a:ln>
        </p:spPr>
      </p:sp>
      <p:sp>
        <p:nvSpPr>
          <p:cNvPr id="17" name="Text 15"/>
          <p:cNvSpPr txBox="1"/>
          <p:nvPr/>
        </p:nvSpPr>
        <p:spPr>
          <a:xfrm>
            <a:off x="1024128" y="4645152"/>
            <a:ext cx="10140696" cy="658368"/>
          </a:xfrm>
          <a:prstGeom prst="rect">
            <a:avLst/>
          </a:prstGeom>
          <a:noFill/>
          <a:ln/>
        </p:spPr>
        <p:txBody>
          <a:bodyPr wrap="square" lIns="0" tIns="0" rIns="0" bIns="0" rtlCol="0" anchor="ctr"/>
          <a:lstStyle/>
          <a:p>
            <a:pPr indent="0" marL="0">
              <a:lnSpc>
                <a:spcPts val="1700"/>
              </a:lnSpc>
              <a:buNone/>
            </a:pPr>
            <a:r>
              <a:rPr lang="en-US" sz="1250" dirty="0">
                <a:solidFill>
                  <a:srgbClr val="1E2761"/>
                </a:solidFill>
                <a:latin typeface="Calibri" pitchFamily="34" charset="0"/>
                <a:ea typeface="Calibri" pitchFamily="34" charset="-122"/>
                <a:cs typeface="Calibri" pitchFamily="34" charset="-120"/>
              </a:rPr>
              <a:t>The sharpest weapon in the deck: Workday sells agents on consumption credits, so an HR director cannot forecast next year's agent spend. Oracle's answer is to give agents away, which makes them strategically secondary. Ours is a predictable line item for a product with a roadmap.</a:t>
            </a:r>
            <a:endParaRPr lang="en-US" sz="1250" dirty="0"/>
          </a:p>
        </p:txBody>
      </p:sp>
      <p:sp>
        <p:nvSpPr>
          <p:cNvPr id="18" name="Text 16"/>
          <p:cNvSpPr txBox="1"/>
          <p:nvPr/>
        </p:nvSpPr>
        <p:spPr>
          <a:xfrm>
            <a:off x="640080" y="5669280"/>
            <a:ext cx="1554480" cy="384048"/>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77%</a:t>
            </a:r>
            <a:endParaRPr lang="en-US" sz="2400" dirty="0"/>
          </a:p>
        </p:txBody>
      </p:sp>
      <p:sp>
        <p:nvSpPr>
          <p:cNvPr id="19" name="Text 17"/>
          <p:cNvSpPr txBox="1"/>
          <p:nvPr/>
        </p:nvSpPr>
        <p:spPr>
          <a:xfrm>
            <a:off x="640080" y="6071616"/>
            <a:ext cx="2194560" cy="256032"/>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gross margin</a:t>
            </a:r>
            <a:endParaRPr lang="en-US" sz="1050" dirty="0"/>
          </a:p>
        </p:txBody>
      </p:sp>
      <p:sp>
        <p:nvSpPr>
          <p:cNvPr id="20" name="Text 18"/>
          <p:cNvSpPr txBox="1"/>
          <p:nvPr/>
        </p:nvSpPr>
        <p:spPr>
          <a:xfrm>
            <a:off x="3383280" y="5669280"/>
            <a:ext cx="1554480" cy="384048"/>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~8 mo</a:t>
            </a:r>
            <a:endParaRPr lang="en-US" sz="2400" dirty="0"/>
          </a:p>
        </p:txBody>
      </p:sp>
      <p:sp>
        <p:nvSpPr>
          <p:cNvPr id="21" name="Text 19"/>
          <p:cNvSpPr txBox="1"/>
          <p:nvPr/>
        </p:nvSpPr>
        <p:spPr>
          <a:xfrm>
            <a:off x="3383280" y="6071616"/>
            <a:ext cx="2194560" cy="256032"/>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GM payback</a:t>
            </a:r>
            <a:endParaRPr lang="en-US" sz="1050" dirty="0"/>
          </a:p>
        </p:txBody>
      </p:sp>
      <p:sp>
        <p:nvSpPr>
          <p:cNvPr id="22" name="Text 20"/>
          <p:cNvSpPr txBox="1"/>
          <p:nvPr/>
        </p:nvSpPr>
        <p:spPr>
          <a:xfrm>
            <a:off x="6126480" y="5669280"/>
            <a:ext cx="1554480" cy="384048"/>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125%</a:t>
            </a:r>
            <a:endParaRPr lang="en-US" sz="2400" dirty="0"/>
          </a:p>
        </p:txBody>
      </p:sp>
      <p:sp>
        <p:nvSpPr>
          <p:cNvPr id="23" name="Text 21"/>
          <p:cNvSpPr txBox="1"/>
          <p:nvPr/>
        </p:nvSpPr>
        <p:spPr>
          <a:xfrm>
            <a:off x="6126480" y="6071616"/>
            <a:ext cx="2194560" cy="256032"/>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target NRR</a:t>
            </a:r>
            <a:endParaRPr lang="en-US" sz="1050" dirty="0"/>
          </a:p>
        </p:txBody>
      </p:sp>
      <p:sp>
        <p:nvSpPr>
          <p:cNvPr id="24" name="Text 22"/>
          <p:cNvSpPr txBox="1"/>
          <p:nvPr/>
        </p:nvSpPr>
        <p:spPr>
          <a:xfrm>
            <a:off x="8869680" y="5669280"/>
            <a:ext cx="1554480" cy="384048"/>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$894k</a:t>
            </a:r>
            <a:endParaRPr lang="en-US" sz="2400" dirty="0"/>
          </a:p>
        </p:txBody>
      </p:sp>
      <p:sp>
        <p:nvSpPr>
          <p:cNvPr id="25" name="Text 23"/>
          <p:cNvSpPr txBox="1"/>
          <p:nvPr/>
        </p:nvSpPr>
        <p:spPr>
          <a:xfrm>
            <a:off x="8869680" y="6071616"/>
            <a:ext cx="2194560" cy="256032"/>
          </a:xfrm>
          <a:prstGeom prst="rect">
            <a:avLst/>
          </a:prstGeom>
          <a:noFill/>
          <a:ln/>
        </p:spPr>
        <p:txBody>
          <a:bodyPr wrap="square" lIns="0" tIns="0" rIns="0" bIns="0" rtlCol="0" anchor="ctr"/>
          <a:lstStyle/>
          <a:p>
            <a:pPr indent="0" marL="0">
              <a:buNone/>
            </a:pPr>
            <a:r>
              <a:rPr lang="en-US" sz="1050" dirty="0">
                <a:solidFill>
                  <a:srgbClr val="5A6472"/>
                </a:solidFill>
                <a:latin typeface="Calibri" pitchFamily="34" charset="0"/>
                <a:ea typeface="Calibri" pitchFamily="34" charset="-122"/>
                <a:cs typeface="Calibri" pitchFamily="34" charset="-120"/>
              </a:rPr>
              <a:t>reference ACV</a:t>
            </a:r>
            <a:endParaRPr lang="en-US" sz="1050" dirty="0"/>
          </a:p>
        </p:txBody>
      </p:sp>
      <p:sp>
        <p:nvSpPr>
          <p:cNvPr id="26" name="Text 24"/>
          <p:cNvSpPr txBox="1"/>
          <p:nvPr/>
        </p:nvSpPr>
        <p:spPr>
          <a:xfrm>
            <a:off x="640080" y="6400800"/>
            <a:ext cx="10908792" cy="237744"/>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Illustrative planning assumptions on a 4,000-employee, 9-entity, 4-country reference customer. See the Pricing Model sheet in the Matrix workbook.</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8229600" cy="256032"/>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ROADMAP</a:t>
            </a:r>
            <a:endParaRPr lang="en-US" sz="10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Three horizons, sequenced by what payroll requires</a:t>
            </a:r>
            <a:endParaRPr lang="en-US" sz="3200" dirty="0"/>
          </a:p>
        </p:txBody>
      </p:sp>
      <p:sp>
        <p:nvSpPr>
          <p:cNvPr id="4" name="Shape 2"/>
          <p:cNvSpPr/>
          <p:nvPr/>
        </p:nvSpPr>
        <p:spPr>
          <a:xfrm>
            <a:off x="640080" y="1691640"/>
            <a:ext cx="10908792" cy="1371600"/>
          </a:xfrm>
          <a:prstGeom prst="roundRect">
            <a:avLst>
              <a:gd name="adj" fmla="val 5333"/>
            </a:avLst>
          </a:prstGeom>
          <a:solidFill>
            <a:srgbClr val="1E2761"/>
          </a:solidFill>
          <a:ln w="9525">
            <a:solidFill>
              <a:srgbClr val="1E2761"/>
            </a:solidFill>
            <a:prstDash val="solid"/>
          </a:ln>
        </p:spPr>
      </p:sp>
      <p:sp>
        <p:nvSpPr>
          <p:cNvPr id="5" name="Shape 3"/>
          <p:cNvSpPr/>
          <p:nvPr/>
        </p:nvSpPr>
        <p:spPr>
          <a:xfrm>
            <a:off x="960120" y="1947672"/>
            <a:ext cx="502920" cy="502920"/>
          </a:xfrm>
          <a:prstGeom prst="ellipse">
            <a:avLst/>
          </a:prstGeom>
          <a:solidFill>
            <a:srgbClr val="F5A623"/>
          </a:solidFill>
          <a:ln/>
        </p:spPr>
      </p:sp>
      <p:sp>
        <p:nvSpPr>
          <p:cNvPr id="6" name="Text 4"/>
          <p:cNvSpPr txBox="1"/>
          <p:nvPr/>
        </p:nvSpPr>
        <p:spPr>
          <a:xfrm>
            <a:off x="960120" y="1947672"/>
            <a:ext cx="502920" cy="50292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H1</a:t>
            </a:r>
            <a:endParaRPr lang="en-US" sz="1500" dirty="0"/>
          </a:p>
        </p:txBody>
      </p:sp>
      <p:sp>
        <p:nvSpPr>
          <p:cNvPr id="7" name="Text 5"/>
          <p:cNvSpPr txBox="1"/>
          <p:nvPr/>
        </p:nvSpPr>
        <p:spPr>
          <a:xfrm>
            <a:off x="1627632" y="1874520"/>
            <a:ext cx="329184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The Keel</a:t>
            </a:r>
            <a:endParaRPr lang="en-US" sz="1900" dirty="0"/>
          </a:p>
        </p:txBody>
      </p:sp>
      <p:sp>
        <p:nvSpPr>
          <p:cNvPr id="8" name="Text 6"/>
          <p:cNvSpPr txBox="1"/>
          <p:nvPr/>
        </p:nvSpPr>
        <p:spPr>
          <a:xfrm>
            <a:off x="1627632" y="2258568"/>
            <a:ext cx="3108960" cy="274320"/>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Months 0–18</a:t>
            </a:r>
            <a:endParaRPr lang="en-US" sz="1100" dirty="0"/>
          </a:p>
        </p:txBody>
      </p:sp>
      <p:sp>
        <p:nvSpPr>
          <p:cNvPr id="9" name="Text 7"/>
          <p:cNvSpPr txBox="1"/>
          <p:nvPr/>
        </p:nvSpPr>
        <p:spPr>
          <a:xfrm>
            <a:off x="4983480" y="1874520"/>
            <a:ext cx="6537960" cy="713232"/>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Bitemporal ledger, tenancy kernel, policy compiler. Core HR, Time, Leave, Payroll (3 jurisdictions). Full manual UI, mobile, offline. Control Gate and Decision Records built. Parallel-run engine. L3 and L4 operational and game-day tested.</a:t>
            </a:r>
            <a:endParaRPr lang="en-US" sz="1150" dirty="0"/>
          </a:p>
        </p:txBody>
      </p:sp>
      <p:sp>
        <p:nvSpPr>
          <p:cNvPr id="10" name="Text 8"/>
          <p:cNvSpPr txBox="1"/>
          <p:nvPr/>
        </p:nvSpPr>
        <p:spPr>
          <a:xfrm>
            <a:off x="4983480" y="2624328"/>
            <a:ext cx="6537960" cy="292608"/>
          </a:xfrm>
          <a:prstGeom prst="rect">
            <a:avLst/>
          </a:prstGeom>
          <a:noFill/>
          <a:ln/>
        </p:spPr>
        <p:txBody>
          <a:bodyPr wrap="square" lIns="0" tIns="0" rIns="0" bIns="0" rtlCol="0" anchor="ctr"/>
          <a:lstStyle/>
          <a:p>
            <a:pPr indent="0" marL="0">
              <a:buNone/>
            </a:pPr>
            <a:r>
              <a:rPr lang="en-US" sz="1100" b="1" i="1" dirty="0">
                <a:solidFill>
                  <a:srgbClr val="F5A623"/>
                </a:solidFill>
                <a:latin typeface="Calibri" pitchFamily="34" charset="0"/>
                <a:ea typeface="Calibri" pitchFamily="34" charset="-122"/>
                <a:cs typeface="Calibri" pitchFamily="34" charset="-120"/>
              </a:rPr>
              <a:t>Milestone: a customer runs three consecutive error-free payroll cycles with zero AI in the loop.</a:t>
            </a:r>
            <a:endParaRPr lang="en-US" sz="1100" dirty="0"/>
          </a:p>
        </p:txBody>
      </p:sp>
      <p:sp>
        <p:nvSpPr>
          <p:cNvPr id="11" name="Shape 9"/>
          <p:cNvSpPr/>
          <p:nvPr/>
        </p:nvSpPr>
        <p:spPr>
          <a:xfrm>
            <a:off x="640080" y="3182112"/>
            <a:ext cx="10908792" cy="1371600"/>
          </a:xfrm>
          <a:prstGeom prst="roundRect">
            <a:avLst>
              <a:gd name="adj" fmla="val 5333"/>
            </a:avLst>
          </a:prstGeom>
          <a:solidFill>
            <a:srgbClr val="F7F9FD"/>
          </a:solidFill>
          <a:ln w="9525">
            <a:solidFill>
              <a:srgbClr val="D6DEEC"/>
            </a:solidFill>
            <a:prstDash val="solid"/>
          </a:ln>
        </p:spPr>
      </p:sp>
      <p:sp>
        <p:nvSpPr>
          <p:cNvPr id="12" name="Shape 10"/>
          <p:cNvSpPr/>
          <p:nvPr/>
        </p:nvSpPr>
        <p:spPr>
          <a:xfrm>
            <a:off x="960120" y="3438144"/>
            <a:ext cx="502920" cy="502920"/>
          </a:xfrm>
          <a:prstGeom prst="ellipse">
            <a:avLst/>
          </a:prstGeom>
          <a:solidFill>
            <a:srgbClr val="F5A623"/>
          </a:solidFill>
          <a:ln/>
        </p:spPr>
      </p:sp>
      <p:sp>
        <p:nvSpPr>
          <p:cNvPr id="13" name="Text 11"/>
          <p:cNvSpPr txBox="1"/>
          <p:nvPr/>
        </p:nvSpPr>
        <p:spPr>
          <a:xfrm>
            <a:off x="960120" y="3438144"/>
            <a:ext cx="502920" cy="50292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H2</a:t>
            </a:r>
            <a:endParaRPr lang="en-US" sz="1500" dirty="0"/>
          </a:p>
        </p:txBody>
      </p:sp>
      <p:sp>
        <p:nvSpPr>
          <p:cNvPr id="14" name="Text 12"/>
          <p:cNvSpPr txBox="1"/>
          <p:nvPr/>
        </p:nvSpPr>
        <p:spPr>
          <a:xfrm>
            <a:off x="1627632" y="3364992"/>
            <a:ext cx="329184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The Agent Plane</a:t>
            </a:r>
            <a:endParaRPr lang="en-US" sz="1900" dirty="0"/>
          </a:p>
        </p:txBody>
      </p:sp>
      <p:sp>
        <p:nvSpPr>
          <p:cNvPr id="15" name="Text 13"/>
          <p:cNvSpPr txBox="1"/>
          <p:nvPr/>
        </p:nvSpPr>
        <p:spPr>
          <a:xfrm>
            <a:off x="1627632" y="3749040"/>
            <a:ext cx="3108960" cy="274320"/>
          </a:xfrm>
          <a:prstGeom prst="rect">
            <a:avLst/>
          </a:prstGeom>
          <a:noFill/>
          <a:ln/>
        </p:spPr>
        <p:txBody>
          <a:bodyPr wrap="square" lIns="0" tIns="0" rIns="0" bIns="0" rtlCol="0" anchor="ctr"/>
          <a:lstStyle/>
          <a:p>
            <a:pPr indent="0" marL="0">
              <a:buNone/>
            </a:pPr>
            <a:r>
              <a:rPr lang="en-US" sz="1100" b="1" dirty="0">
                <a:solidFill>
                  <a:srgbClr val="5A6472"/>
                </a:solidFill>
                <a:latin typeface="Calibri" pitchFamily="34" charset="0"/>
                <a:ea typeface="Calibri" pitchFamily="34" charset="-122"/>
                <a:cs typeface="Calibri" pitchFamily="34" charset="-120"/>
              </a:rPr>
              <a:t>Months 12–36</a:t>
            </a:r>
            <a:endParaRPr lang="en-US" sz="1100" dirty="0"/>
          </a:p>
        </p:txBody>
      </p:sp>
      <p:sp>
        <p:nvSpPr>
          <p:cNvPr id="16" name="Text 14"/>
          <p:cNvSpPr txBox="1"/>
          <p:nvPr/>
        </p:nvSpPr>
        <p:spPr>
          <a:xfrm>
            <a:off x="4983480" y="3364992"/>
            <a:ext cx="6537960" cy="713232"/>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Agent registry, charters, budgets, evaluation harness, shadow mode. Operations and service agents. Continuity controller and kill switch. Talent, Performance, Compensation, Learning. MCP server. 12 jurisdiction packs. First independent continuity attestation.</a:t>
            </a:r>
            <a:endParaRPr lang="en-US" sz="1150" dirty="0"/>
          </a:p>
        </p:txBody>
      </p:sp>
      <p:sp>
        <p:nvSpPr>
          <p:cNvPr id="17" name="Text 15"/>
          <p:cNvSpPr txBox="1"/>
          <p:nvPr/>
        </p:nvSpPr>
        <p:spPr>
          <a:xfrm>
            <a:off x="4983480" y="4114800"/>
            <a:ext cx="6537960" cy="292608"/>
          </a:xfrm>
          <a:prstGeom prst="rect">
            <a:avLst/>
          </a:prstGeom>
          <a:noFill/>
          <a:ln/>
        </p:spPr>
        <p:txBody>
          <a:bodyPr wrap="square" lIns="0" tIns="0" rIns="0" bIns="0" rtlCol="0" anchor="ctr"/>
          <a:lstStyle/>
          <a:p>
            <a:pPr indent="0" marL="0">
              <a:buNone/>
            </a:pPr>
            <a:r>
              <a:rPr lang="en-US" sz="1100" b="1" i="1" dirty="0">
                <a:solidFill>
                  <a:srgbClr val="1E2761"/>
                </a:solidFill>
                <a:latin typeface="Calibri" pitchFamily="34" charset="0"/>
                <a:ea typeface="Calibri" pitchFamily="34" charset="-122"/>
                <a:cs typeface="Calibri" pitchFamily="34" charset="-120"/>
              </a:rPr>
              <a:t>Milestone: a customer voluntarily runs a full month at L3 and reports no capability loss.</a:t>
            </a:r>
            <a:endParaRPr lang="en-US" sz="1100" dirty="0"/>
          </a:p>
        </p:txBody>
      </p:sp>
      <p:sp>
        <p:nvSpPr>
          <p:cNvPr id="18" name="Shape 16"/>
          <p:cNvSpPr/>
          <p:nvPr/>
        </p:nvSpPr>
        <p:spPr>
          <a:xfrm>
            <a:off x="640080" y="4672584"/>
            <a:ext cx="10908792" cy="1371600"/>
          </a:xfrm>
          <a:prstGeom prst="roundRect">
            <a:avLst>
              <a:gd name="adj" fmla="val 5333"/>
            </a:avLst>
          </a:prstGeom>
          <a:solidFill>
            <a:srgbClr val="F7F9FD"/>
          </a:solidFill>
          <a:ln w="9525">
            <a:solidFill>
              <a:srgbClr val="D6DEEC"/>
            </a:solidFill>
            <a:prstDash val="solid"/>
          </a:ln>
        </p:spPr>
      </p:sp>
      <p:sp>
        <p:nvSpPr>
          <p:cNvPr id="19" name="Shape 17"/>
          <p:cNvSpPr/>
          <p:nvPr/>
        </p:nvSpPr>
        <p:spPr>
          <a:xfrm>
            <a:off x="960120" y="4928616"/>
            <a:ext cx="502920" cy="502920"/>
          </a:xfrm>
          <a:prstGeom prst="ellipse">
            <a:avLst/>
          </a:prstGeom>
          <a:solidFill>
            <a:srgbClr val="F5A623"/>
          </a:solidFill>
          <a:ln/>
        </p:spPr>
      </p:sp>
      <p:sp>
        <p:nvSpPr>
          <p:cNvPr id="20" name="Text 18"/>
          <p:cNvSpPr txBox="1"/>
          <p:nvPr/>
        </p:nvSpPr>
        <p:spPr>
          <a:xfrm>
            <a:off x="960120" y="4928616"/>
            <a:ext cx="502920" cy="50292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H3</a:t>
            </a:r>
            <a:endParaRPr lang="en-US" sz="1500" dirty="0"/>
          </a:p>
        </p:txBody>
      </p:sp>
      <p:sp>
        <p:nvSpPr>
          <p:cNvPr id="21" name="Text 19"/>
          <p:cNvSpPr txBox="1"/>
          <p:nvPr/>
        </p:nvSpPr>
        <p:spPr>
          <a:xfrm>
            <a:off x="1627632" y="4855464"/>
            <a:ext cx="329184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The Operating System</a:t>
            </a:r>
            <a:endParaRPr lang="en-US" sz="1900" dirty="0"/>
          </a:p>
        </p:txBody>
      </p:sp>
      <p:sp>
        <p:nvSpPr>
          <p:cNvPr id="22" name="Text 20"/>
          <p:cNvSpPr txBox="1"/>
          <p:nvPr/>
        </p:nvSpPr>
        <p:spPr>
          <a:xfrm>
            <a:off x="1627632" y="5239512"/>
            <a:ext cx="3108960" cy="274320"/>
          </a:xfrm>
          <a:prstGeom prst="rect">
            <a:avLst/>
          </a:prstGeom>
          <a:noFill/>
          <a:ln/>
        </p:spPr>
        <p:txBody>
          <a:bodyPr wrap="square" lIns="0" tIns="0" rIns="0" bIns="0" rtlCol="0" anchor="ctr"/>
          <a:lstStyle/>
          <a:p>
            <a:pPr indent="0" marL="0">
              <a:buNone/>
            </a:pPr>
            <a:r>
              <a:rPr lang="en-US" sz="1100" b="1" dirty="0">
                <a:solidFill>
                  <a:srgbClr val="5A6472"/>
                </a:solidFill>
                <a:latin typeface="Calibri" pitchFamily="34" charset="0"/>
                <a:ea typeface="Calibri" pitchFamily="34" charset="-122"/>
                <a:cs typeface="Calibri" pitchFamily="34" charset="-120"/>
              </a:rPr>
              <a:t>Months 30–60</a:t>
            </a:r>
            <a:endParaRPr lang="en-US" sz="1100" dirty="0"/>
          </a:p>
        </p:txBody>
      </p:sp>
      <p:sp>
        <p:nvSpPr>
          <p:cNvPr id="23" name="Text 21"/>
          <p:cNvSpPr txBox="1"/>
          <p:nvPr/>
        </p:nvSpPr>
        <p:spPr>
          <a:xfrm>
            <a:off x="4983480" y="4855464"/>
            <a:ext cx="6537960" cy="713232"/>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Full Workforce Register — agents as managed workers with cost, performance and lifecycle. Agent marketplace under our Control Gate. Scenario planning. 40+ jurisdiction packs, majority partner-built. EMEA and NA at scale. Agent-to-agent commerce under signed mandates.</a:t>
            </a:r>
            <a:endParaRPr lang="en-US" sz="1150" dirty="0"/>
          </a:p>
        </p:txBody>
      </p:sp>
      <p:sp>
        <p:nvSpPr>
          <p:cNvPr id="24" name="Text 22"/>
          <p:cNvSpPr txBox="1"/>
          <p:nvPr/>
        </p:nvSpPr>
        <p:spPr>
          <a:xfrm>
            <a:off x="4983480" y="5605272"/>
            <a:ext cx="6537960" cy="292608"/>
          </a:xfrm>
          <a:prstGeom prst="rect">
            <a:avLst/>
          </a:prstGeom>
          <a:noFill/>
          <a:ln/>
        </p:spPr>
        <p:txBody>
          <a:bodyPr wrap="square" lIns="0" tIns="0" rIns="0" bIns="0" rtlCol="0" anchor="ctr"/>
          <a:lstStyle/>
          <a:p>
            <a:pPr indent="0" marL="0">
              <a:buNone/>
            </a:pPr>
            <a:r>
              <a:rPr lang="en-US" sz="1100" b="1" i="1" dirty="0">
                <a:solidFill>
                  <a:srgbClr val="1E2761"/>
                </a:solidFill>
                <a:latin typeface="Calibri" pitchFamily="34" charset="0"/>
                <a:ea typeface="Calibri" pitchFamily="34" charset="-122"/>
                <a:cs typeface="Calibri" pitchFamily="34" charset="-120"/>
              </a:rPr>
              <a:t>Milestone: the reference implementation for governed agents in a regulated domain.</a:t>
            </a:r>
            <a:endParaRPr lang="en-US" sz="1100" dirty="0"/>
          </a:p>
        </p:txBody>
      </p:sp>
      <p:sp>
        <p:nvSpPr>
          <p:cNvPr id="25" name="Text 23"/>
          <p:cNvSpPr txBox="1"/>
          <p:nvPr/>
        </p:nvSpPr>
        <p:spPr>
          <a:xfrm>
            <a:off x="640080" y="6263640"/>
            <a:ext cx="10881360" cy="274320"/>
          </a:xfrm>
          <a:prstGeom prst="rect">
            <a:avLst/>
          </a:prstGeom>
          <a:noFill/>
          <a:ln/>
        </p:spPr>
        <p:txBody>
          <a:bodyPr wrap="square" lIns="0" tIns="0" rIns="0" bIns="0" rtlCol="0" anchor="ctr"/>
          <a:lstStyle/>
          <a:p>
            <a:pPr indent="0" marL="0">
              <a:buNone/>
            </a:pPr>
            <a:r>
              <a:rPr lang="en-US" sz="1250" b="1" i="1" dirty="0">
                <a:solidFill>
                  <a:srgbClr val="1E2761"/>
                </a:solidFill>
                <a:latin typeface="Calibri" pitchFamily="34" charset="0"/>
                <a:ea typeface="Calibri" pitchFamily="34" charset="-122"/>
                <a:cs typeface="Calibri" pitchFamily="34" charset="-120"/>
              </a:rPr>
              <a:t>Horizon 1 is a complete, sellable HRIS on its own. A customer can run their entire HR operation on Horizon 1 scope with the AI switched off.</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8229600" cy="256032"/>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ILLUSTRATIVE MODEL</a:t>
            </a:r>
            <a:endParaRPr lang="en-US" sz="1050" dirty="0"/>
          </a:p>
        </p:txBody>
      </p:sp>
      <p:sp>
        <p:nvSpPr>
          <p:cNvPr id="3" name="Text 1"/>
          <p:cNvSpPr txBox="1"/>
          <p:nvPr/>
        </p:nvSpPr>
        <p:spPr>
          <a:xfrm>
            <a:off x="640080" y="658368"/>
            <a:ext cx="10908792"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Revenue build — deterministic core first, agents compound</a:t>
            </a:r>
            <a:endParaRPr lang="en-US" sz="3000" dirty="0"/>
          </a:p>
        </p:txBody>
      </p:sp>
      <p:graphicFrame>
        <p:nvGraphicFramePr>
          <p:cNvPr id="4" name="Chart 0" descr=""/>
          <p:cNvGraphicFramePr/>
          <p:nvPr/>
        </p:nvGraphicFramePr>
        <p:xfrm>
          <a:off x="502920" y="1508760"/>
          <a:ext cx="7040880" cy="4160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737360"/>
            <a:ext cx="3749040" cy="1325880"/>
          </a:xfrm>
          <a:prstGeom prst="roundRect">
            <a:avLst>
              <a:gd name="adj" fmla="val 5517"/>
            </a:avLst>
          </a:prstGeom>
          <a:solidFill>
            <a:srgbClr val="F7F9FD"/>
          </a:solidFill>
          <a:ln w="9525">
            <a:solidFill>
              <a:srgbClr val="D6DEEC"/>
            </a:solidFill>
            <a:prstDash val="solid"/>
          </a:ln>
        </p:spPr>
      </p:sp>
      <p:sp>
        <p:nvSpPr>
          <p:cNvPr id="6" name="Text 3"/>
          <p:cNvSpPr txBox="1"/>
          <p:nvPr/>
        </p:nvSpPr>
        <p:spPr>
          <a:xfrm>
            <a:off x="8183880" y="1883664"/>
            <a:ext cx="3108960" cy="274320"/>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Y1–Y2</a:t>
            </a:r>
            <a:endParaRPr lang="en-US" sz="1300" dirty="0"/>
          </a:p>
        </p:txBody>
      </p:sp>
      <p:sp>
        <p:nvSpPr>
          <p:cNvPr id="7" name="Text 4"/>
          <p:cNvSpPr txBox="1"/>
          <p:nvPr/>
        </p:nvSpPr>
        <p:spPr>
          <a:xfrm>
            <a:off x="8183880" y="2194560"/>
            <a:ext cx="3127248" cy="777240"/>
          </a:xfrm>
          <a:prstGeom prst="rect">
            <a:avLst/>
          </a:prstGeom>
          <a:noFill/>
          <a:ln/>
        </p:spPr>
        <p:txBody>
          <a:bodyPr wrap="square" lIns="0" tIns="0" rIns="0" bIns="0" rtlCol="0" anchor="ctr"/>
          <a:lstStyle/>
          <a:p>
            <a:pPr indent="0" marL="0">
              <a:lnSpc>
                <a:spcPts val="1450"/>
              </a:lnSpc>
              <a:buNone/>
            </a:pPr>
            <a:r>
              <a:rPr lang="en-US" sz="1100" dirty="0">
                <a:solidFill>
                  <a:srgbClr val="5A6472"/>
                </a:solidFill>
                <a:latin typeface="Calibri" pitchFamily="34" charset="0"/>
                <a:ea typeface="Calibri" pitchFamily="34" charset="-122"/>
                <a:cs typeface="Calibri" pitchFamily="34" charset="-120"/>
              </a:rPr>
              <a:t>Design partners and first 40 customers. Deterministic core carries the P&amp;L; the agent tier is why they choose us over a legacy HRIS, not yet how we make money.</a:t>
            </a:r>
            <a:endParaRPr lang="en-US" sz="1100" dirty="0"/>
          </a:p>
        </p:txBody>
      </p:sp>
      <p:sp>
        <p:nvSpPr>
          <p:cNvPr id="8" name="Shape 5"/>
          <p:cNvSpPr/>
          <p:nvPr/>
        </p:nvSpPr>
        <p:spPr>
          <a:xfrm>
            <a:off x="7863840" y="3182112"/>
            <a:ext cx="3749040" cy="1325880"/>
          </a:xfrm>
          <a:prstGeom prst="roundRect">
            <a:avLst>
              <a:gd name="adj" fmla="val 5517"/>
            </a:avLst>
          </a:prstGeom>
          <a:solidFill>
            <a:srgbClr val="F7F9FD"/>
          </a:solidFill>
          <a:ln w="9525">
            <a:solidFill>
              <a:srgbClr val="D6DEEC"/>
            </a:solidFill>
            <a:prstDash val="solid"/>
          </a:ln>
        </p:spPr>
      </p:sp>
      <p:sp>
        <p:nvSpPr>
          <p:cNvPr id="9" name="Text 6"/>
          <p:cNvSpPr txBox="1"/>
          <p:nvPr/>
        </p:nvSpPr>
        <p:spPr>
          <a:xfrm>
            <a:off x="8183880" y="3328416"/>
            <a:ext cx="3108960" cy="274320"/>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Y3</a:t>
            </a:r>
            <a:endParaRPr lang="en-US" sz="1300" dirty="0"/>
          </a:p>
        </p:txBody>
      </p:sp>
      <p:sp>
        <p:nvSpPr>
          <p:cNvPr id="10" name="Text 7"/>
          <p:cNvSpPr txBox="1"/>
          <p:nvPr/>
        </p:nvSpPr>
        <p:spPr>
          <a:xfrm>
            <a:off x="8183880" y="3639312"/>
            <a:ext cx="3127248" cy="777240"/>
          </a:xfrm>
          <a:prstGeom prst="rect">
            <a:avLst/>
          </a:prstGeom>
          <a:noFill/>
          <a:ln/>
        </p:spPr>
        <p:txBody>
          <a:bodyPr wrap="square" lIns="0" tIns="0" rIns="0" bIns="0" rtlCol="0" anchor="ctr"/>
          <a:lstStyle/>
          <a:p>
            <a:pPr indent="0" marL="0">
              <a:lnSpc>
                <a:spcPts val="1450"/>
              </a:lnSpc>
              <a:buNone/>
            </a:pPr>
            <a:r>
              <a:rPr lang="en-US" sz="1100" dirty="0">
                <a:solidFill>
                  <a:srgbClr val="5A6472"/>
                </a:solidFill>
                <a:latin typeface="Calibri" pitchFamily="34" charset="0"/>
                <a:ea typeface="Calibri" pitchFamily="34" charset="-122"/>
                <a:cs typeface="Calibri" pitchFamily="34" charset="-120"/>
              </a:rPr>
              <a:t>Agent attach passes 60% of the base. Jurisdiction packs turn partner-led as the SDK opens.</a:t>
            </a:r>
            <a:endParaRPr lang="en-US" sz="1100" dirty="0"/>
          </a:p>
        </p:txBody>
      </p:sp>
      <p:sp>
        <p:nvSpPr>
          <p:cNvPr id="11" name="Shape 8"/>
          <p:cNvSpPr/>
          <p:nvPr/>
        </p:nvSpPr>
        <p:spPr>
          <a:xfrm>
            <a:off x="7863840" y="4626864"/>
            <a:ext cx="3749040" cy="1325880"/>
          </a:xfrm>
          <a:prstGeom prst="roundRect">
            <a:avLst>
              <a:gd name="adj" fmla="val 5517"/>
            </a:avLst>
          </a:prstGeom>
          <a:solidFill>
            <a:srgbClr val="F7F9FD"/>
          </a:solidFill>
          <a:ln w="9525">
            <a:solidFill>
              <a:srgbClr val="D6DEEC"/>
            </a:solidFill>
            <a:prstDash val="solid"/>
          </a:ln>
        </p:spPr>
      </p:sp>
      <p:sp>
        <p:nvSpPr>
          <p:cNvPr id="12" name="Text 9"/>
          <p:cNvSpPr txBox="1"/>
          <p:nvPr/>
        </p:nvSpPr>
        <p:spPr>
          <a:xfrm>
            <a:off x="8183880" y="4773168"/>
            <a:ext cx="3108960" cy="274320"/>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Y4–Y5</a:t>
            </a:r>
            <a:endParaRPr lang="en-US" sz="1300" dirty="0"/>
          </a:p>
        </p:txBody>
      </p:sp>
      <p:sp>
        <p:nvSpPr>
          <p:cNvPr id="13" name="Text 10"/>
          <p:cNvSpPr txBox="1"/>
          <p:nvPr/>
        </p:nvSpPr>
        <p:spPr>
          <a:xfrm>
            <a:off x="8183880" y="5084064"/>
            <a:ext cx="3127248" cy="777240"/>
          </a:xfrm>
          <a:prstGeom prst="rect">
            <a:avLst/>
          </a:prstGeom>
          <a:noFill/>
          <a:ln/>
        </p:spPr>
        <p:txBody>
          <a:bodyPr wrap="square" lIns="0" tIns="0" rIns="0" bIns="0" rtlCol="0" anchor="ctr"/>
          <a:lstStyle/>
          <a:p>
            <a:pPr indent="0" marL="0">
              <a:lnSpc>
                <a:spcPts val="1450"/>
              </a:lnSpc>
              <a:buNone/>
            </a:pPr>
            <a:r>
              <a:rPr lang="en-US" sz="1100" dirty="0">
                <a:solidFill>
                  <a:srgbClr val="5A6472"/>
                </a:solidFill>
                <a:latin typeface="Calibri" pitchFamily="34" charset="0"/>
                <a:ea typeface="Calibri" pitchFamily="34" charset="-122"/>
                <a:cs typeface="Calibri" pitchFamily="34" charset="-120"/>
              </a:rPr>
              <a:t>Expansion, not acquisition, drives the curve: entities, countries and agent attach inside existing groups at 125% NRR.</a:t>
            </a:r>
            <a:endParaRPr lang="en-US" sz="1100" dirty="0"/>
          </a:p>
        </p:txBody>
      </p:sp>
      <p:sp>
        <p:nvSpPr>
          <p:cNvPr id="14" name="Text 11"/>
          <p:cNvSpPr txBox="1"/>
          <p:nvPr/>
        </p:nvSpPr>
        <p:spPr>
          <a:xfrm>
            <a:off x="640080" y="6400800"/>
            <a:ext cx="10908792" cy="237744"/>
          </a:xfrm>
          <a:prstGeom prst="rect">
            <a:avLst/>
          </a:prstGeom>
          <a:noFill/>
          <a:ln/>
        </p:spPr>
        <p:txBody>
          <a:bodyPr wrap="square" lIns="0" tIns="0" rIns="0" bIns="0"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Illustrative planning model, not a forecast. Figures require validation against actual pipeline and pricing before external use.</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alibri" pitchFamily="34" charset="0"/>
                <a:ea typeface="Calibri" pitchFamily="34" charset="-122"/>
                <a:cs typeface="Calibri" pitchFamily="34" charset="-120"/>
              </a:rPr>
              <a:t>DEFENSIBILITY</a:t>
            </a:r>
            <a:endParaRPr lang="en-US" sz="1100" dirty="0"/>
          </a:p>
        </p:txBody>
      </p:sp>
      <p:sp>
        <p:nvSpPr>
          <p:cNvPr id="3" name="Text 1"/>
          <p:cNvSpPr txBox="1"/>
          <p:nvPr/>
        </p:nvSpPr>
        <p:spPr>
          <a:xfrm>
            <a:off x="640080" y="777240"/>
            <a:ext cx="914400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Six moats, ranked by durability</a:t>
            </a:r>
            <a:endParaRPr lang="en-US" sz="3400" dirty="0"/>
          </a:p>
        </p:txBody>
      </p:sp>
      <p:sp>
        <p:nvSpPr>
          <p:cNvPr id="4" name="Shape 2"/>
          <p:cNvSpPr/>
          <p:nvPr/>
        </p:nvSpPr>
        <p:spPr>
          <a:xfrm>
            <a:off x="640080" y="1783080"/>
            <a:ext cx="3520440" cy="1920240"/>
          </a:xfrm>
          <a:prstGeom prst="roundRect">
            <a:avLst>
              <a:gd name="adj" fmla="val 3810"/>
            </a:avLst>
          </a:prstGeom>
          <a:solidFill>
            <a:srgbClr val="141B45"/>
          </a:solidFill>
          <a:ln w="9525">
            <a:solidFill>
              <a:srgbClr val="35407C"/>
            </a:solidFill>
            <a:prstDash val="solid"/>
          </a:ln>
        </p:spPr>
      </p:sp>
      <p:sp>
        <p:nvSpPr>
          <p:cNvPr id="5" name="Text 3"/>
          <p:cNvSpPr txBox="1"/>
          <p:nvPr/>
        </p:nvSpPr>
        <p:spPr>
          <a:xfrm>
            <a:off x="960120" y="1965960"/>
            <a:ext cx="2926080" cy="329184"/>
          </a:xfrm>
          <a:prstGeom prst="rect">
            <a:avLst/>
          </a:prstGeom>
          <a:noFill/>
          <a:ln/>
        </p:spPr>
        <p:txBody>
          <a:bodyPr wrap="square" lIns="0" tIns="0" rIns="0" bIns="0" rtlCol="0" anchor="ctr"/>
          <a:lstStyle/>
          <a:p>
            <a:pPr indent="0" marL="0">
              <a:buNone/>
            </a:pPr>
            <a:r>
              <a:rPr lang="en-US" sz="1700" b="1" dirty="0">
                <a:solidFill>
                  <a:srgbClr val="F5A623"/>
                </a:solidFill>
                <a:latin typeface="Cambria" pitchFamily="34" charset="0"/>
                <a:ea typeface="Cambria" pitchFamily="34" charset="-122"/>
                <a:cs typeface="Cambria" pitchFamily="34" charset="-120"/>
              </a:rPr>
              <a:t>Architectural</a:t>
            </a:r>
            <a:endParaRPr lang="en-US" sz="1700" dirty="0"/>
          </a:p>
        </p:txBody>
      </p:sp>
      <p:sp>
        <p:nvSpPr>
          <p:cNvPr id="6" name="Text 4"/>
          <p:cNvSpPr txBox="1"/>
          <p:nvPr/>
        </p:nvSpPr>
        <p:spPr>
          <a:xfrm>
            <a:off x="960120" y="2386584"/>
            <a:ext cx="2971800" cy="1170432"/>
          </a:xfrm>
          <a:prstGeom prst="rect">
            <a:avLst/>
          </a:prstGeom>
          <a:noFill/>
          <a:ln/>
        </p:spPr>
        <p:txBody>
          <a:bodyPr wrap="square" lIns="0" tIns="0" rIns="0" bIns="0" rtlCol="0" anchor="ctr"/>
          <a:lstStyle/>
          <a:p>
            <a:pPr indent="0" marL="0">
              <a:lnSpc>
                <a:spcPts val="1550"/>
              </a:lnSpc>
              <a:buNone/>
            </a:pPr>
            <a:r>
              <a:rPr lang="en-US" sz="1150" dirty="0">
                <a:solidFill>
                  <a:srgbClr val="CADCFC"/>
                </a:solidFill>
                <a:latin typeface="Calibri" pitchFamily="34" charset="0"/>
                <a:ea typeface="Calibri" pitchFamily="34" charset="-122"/>
                <a:cs typeface="Calibri" pitchFamily="34" charset="-120"/>
              </a:rPr>
              <a:t>Bitemporal event sourcing plus deterministic policy compilation cannot be retrofitted. Incumbents would have to replace their persistence layer under a live installed base.</a:t>
            </a:r>
            <a:endParaRPr lang="en-US" sz="1150" dirty="0"/>
          </a:p>
        </p:txBody>
      </p:sp>
      <p:sp>
        <p:nvSpPr>
          <p:cNvPr id="7" name="Shape 5"/>
          <p:cNvSpPr/>
          <p:nvPr/>
        </p:nvSpPr>
        <p:spPr>
          <a:xfrm>
            <a:off x="4352544" y="1783080"/>
            <a:ext cx="3520440" cy="1920240"/>
          </a:xfrm>
          <a:prstGeom prst="roundRect">
            <a:avLst>
              <a:gd name="adj" fmla="val 3810"/>
            </a:avLst>
          </a:prstGeom>
          <a:solidFill>
            <a:srgbClr val="141B45"/>
          </a:solidFill>
          <a:ln w="9525">
            <a:solidFill>
              <a:srgbClr val="35407C"/>
            </a:solidFill>
            <a:prstDash val="solid"/>
          </a:ln>
        </p:spPr>
      </p:sp>
      <p:sp>
        <p:nvSpPr>
          <p:cNvPr id="8" name="Text 6"/>
          <p:cNvSpPr txBox="1"/>
          <p:nvPr/>
        </p:nvSpPr>
        <p:spPr>
          <a:xfrm>
            <a:off x="4672584" y="1965960"/>
            <a:ext cx="2926080" cy="329184"/>
          </a:xfrm>
          <a:prstGeom prst="rect">
            <a:avLst/>
          </a:prstGeom>
          <a:noFill/>
          <a:ln/>
        </p:spPr>
        <p:txBody>
          <a:bodyPr wrap="square" lIns="0" tIns="0" rIns="0" bIns="0" rtlCol="0" anchor="ctr"/>
          <a:lstStyle/>
          <a:p>
            <a:pPr indent="0" marL="0">
              <a:buNone/>
            </a:pPr>
            <a:r>
              <a:rPr lang="en-US" sz="1700" b="1" dirty="0">
                <a:solidFill>
                  <a:srgbClr val="F5A623"/>
                </a:solidFill>
                <a:latin typeface="Cambria" pitchFamily="34" charset="0"/>
                <a:ea typeface="Cambria" pitchFamily="34" charset="-122"/>
                <a:cs typeface="Cambria" pitchFamily="34" charset="-120"/>
              </a:rPr>
              <a:t>Evidentiary</a:t>
            </a:r>
            <a:endParaRPr lang="en-US" sz="1700" dirty="0"/>
          </a:p>
        </p:txBody>
      </p:sp>
      <p:sp>
        <p:nvSpPr>
          <p:cNvPr id="9" name="Text 7"/>
          <p:cNvSpPr txBox="1"/>
          <p:nvPr/>
        </p:nvSpPr>
        <p:spPr>
          <a:xfrm>
            <a:off x="4672584" y="2386584"/>
            <a:ext cx="2971800" cy="1170432"/>
          </a:xfrm>
          <a:prstGeom prst="rect">
            <a:avLst/>
          </a:prstGeom>
          <a:noFill/>
          <a:ln/>
        </p:spPr>
        <p:txBody>
          <a:bodyPr wrap="square" lIns="0" tIns="0" rIns="0" bIns="0" rtlCol="0" anchor="ctr"/>
          <a:lstStyle/>
          <a:p>
            <a:pPr indent="0" marL="0">
              <a:lnSpc>
                <a:spcPts val="1550"/>
              </a:lnSpc>
              <a:buNone/>
            </a:pPr>
            <a:r>
              <a:rPr lang="en-US" sz="1150" dirty="0">
                <a:solidFill>
                  <a:srgbClr val="CADCFC"/>
                </a:solidFill>
                <a:latin typeface="Calibri" pitchFamily="34" charset="0"/>
                <a:ea typeface="Calibri" pitchFamily="34" charset="-122"/>
                <a:cs typeface="Calibri" pitchFamily="34" charset="-120"/>
              </a:rPr>
              <a:t>Once a customer's Decision Records and replayable history live with us, we are the system of proof for their employment decisions. Stickier than the data itself.</a:t>
            </a:r>
            <a:endParaRPr lang="en-US" sz="1150" dirty="0"/>
          </a:p>
        </p:txBody>
      </p:sp>
      <p:sp>
        <p:nvSpPr>
          <p:cNvPr id="10" name="Shape 8"/>
          <p:cNvSpPr/>
          <p:nvPr/>
        </p:nvSpPr>
        <p:spPr>
          <a:xfrm>
            <a:off x="8065008" y="1783080"/>
            <a:ext cx="3520440" cy="1920240"/>
          </a:xfrm>
          <a:prstGeom prst="roundRect">
            <a:avLst>
              <a:gd name="adj" fmla="val 3810"/>
            </a:avLst>
          </a:prstGeom>
          <a:solidFill>
            <a:srgbClr val="141B45"/>
          </a:solidFill>
          <a:ln w="9525">
            <a:solidFill>
              <a:srgbClr val="35407C"/>
            </a:solidFill>
            <a:prstDash val="solid"/>
          </a:ln>
        </p:spPr>
      </p:sp>
      <p:sp>
        <p:nvSpPr>
          <p:cNvPr id="11" name="Text 9"/>
          <p:cNvSpPr txBox="1"/>
          <p:nvPr/>
        </p:nvSpPr>
        <p:spPr>
          <a:xfrm>
            <a:off x="8385048" y="1965960"/>
            <a:ext cx="2926080" cy="329184"/>
          </a:xfrm>
          <a:prstGeom prst="rect">
            <a:avLst/>
          </a:prstGeom>
          <a:noFill/>
          <a:ln/>
        </p:spPr>
        <p:txBody>
          <a:bodyPr wrap="square" lIns="0" tIns="0" rIns="0" bIns="0" rtlCol="0" anchor="ctr"/>
          <a:lstStyle/>
          <a:p>
            <a:pPr indent="0" marL="0">
              <a:buNone/>
            </a:pPr>
            <a:r>
              <a:rPr lang="en-US" sz="1700" b="1" dirty="0">
                <a:solidFill>
                  <a:srgbClr val="F5A623"/>
                </a:solidFill>
                <a:latin typeface="Cambria" pitchFamily="34" charset="0"/>
                <a:ea typeface="Cambria" pitchFamily="34" charset="-122"/>
                <a:cs typeface="Cambria" pitchFamily="34" charset="-120"/>
              </a:rPr>
              <a:t>Regulatory</a:t>
            </a:r>
            <a:endParaRPr lang="en-US" sz="1700" dirty="0"/>
          </a:p>
        </p:txBody>
      </p:sp>
      <p:sp>
        <p:nvSpPr>
          <p:cNvPr id="12" name="Text 10"/>
          <p:cNvSpPr txBox="1"/>
          <p:nvPr/>
        </p:nvSpPr>
        <p:spPr>
          <a:xfrm>
            <a:off x="8385048" y="2386584"/>
            <a:ext cx="2971800" cy="1170432"/>
          </a:xfrm>
          <a:prstGeom prst="rect">
            <a:avLst/>
          </a:prstGeom>
          <a:noFill/>
          <a:ln/>
        </p:spPr>
        <p:txBody>
          <a:bodyPr wrap="square" lIns="0" tIns="0" rIns="0" bIns="0" rtlCol="0" anchor="ctr"/>
          <a:lstStyle/>
          <a:p>
            <a:pPr indent="0" marL="0">
              <a:lnSpc>
                <a:spcPts val="1550"/>
              </a:lnSpc>
              <a:buNone/>
            </a:pPr>
            <a:r>
              <a:rPr lang="en-US" sz="1150" dirty="0">
                <a:solidFill>
                  <a:srgbClr val="CADCFC"/>
                </a:solidFill>
                <a:latin typeface="Calibri" pitchFamily="34" charset="0"/>
                <a:ea typeface="Calibri" pitchFamily="34" charset="-122"/>
                <a:cs typeface="Calibri" pitchFamily="34" charset="-120"/>
              </a:rPr>
              <a:t>First to ship EU AI Act deployer obligations as product features, and first to hold an independent continuity attestation. A procurement checkbox we wrote.</a:t>
            </a:r>
            <a:endParaRPr lang="en-US" sz="1150" dirty="0"/>
          </a:p>
        </p:txBody>
      </p:sp>
      <p:sp>
        <p:nvSpPr>
          <p:cNvPr id="13" name="Shape 11"/>
          <p:cNvSpPr/>
          <p:nvPr/>
        </p:nvSpPr>
        <p:spPr>
          <a:xfrm>
            <a:off x="640080" y="3977640"/>
            <a:ext cx="3520440" cy="1920240"/>
          </a:xfrm>
          <a:prstGeom prst="roundRect">
            <a:avLst>
              <a:gd name="adj" fmla="val 3810"/>
            </a:avLst>
          </a:prstGeom>
          <a:solidFill>
            <a:srgbClr val="141B45"/>
          </a:solidFill>
          <a:ln w="9525">
            <a:solidFill>
              <a:srgbClr val="35407C"/>
            </a:solidFill>
            <a:prstDash val="solid"/>
          </a:ln>
        </p:spPr>
      </p:sp>
      <p:sp>
        <p:nvSpPr>
          <p:cNvPr id="14" name="Text 12"/>
          <p:cNvSpPr txBox="1"/>
          <p:nvPr/>
        </p:nvSpPr>
        <p:spPr>
          <a:xfrm>
            <a:off x="960120" y="4160520"/>
            <a:ext cx="2926080" cy="329184"/>
          </a:xfrm>
          <a:prstGeom prst="rect">
            <a:avLst/>
          </a:prstGeom>
          <a:noFill/>
          <a:ln/>
        </p:spPr>
        <p:txBody>
          <a:bodyPr wrap="square" lIns="0" tIns="0" rIns="0" bIns="0" rtlCol="0" anchor="ctr"/>
          <a:lstStyle/>
          <a:p>
            <a:pPr indent="0" marL="0">
              <a:buNone/>
            </a:pPr>
            <a:r>
              <a:rPr lang="en-US" sz="1700" b="1" dirty="0">
                <a:solidFill>
                  <a:srgbClr val="F5A623"/>
                </a:solidFill>
                <a:latin typeface="Cambria" pitchFamily="34" charset="0"/>
                <a:ea typeface="Cambria" pitchFamily="34" charset="-122"/>
                <a:cs typeface="Cambria" pitchFamily="34" charset="-120"/>
              </a:rPr>
              <a:t>Network</a:t>
            </a:r>
            <a:endParaRPr lang="en-US" sz="1700" dirty="0"/>
          </a:p>
        </p:txBody>
      </p:sp>
      <p:sp>
        <p:nvSpPr>
          <p:cNvPr id="15" name="Text 13"/>
          <p:cNvSpPr txBox="1"/>
          <p:nvPr/>
        </p:nvSpPr>
        <p:spPr>
          <a:xfrm>
            <a:off x="960120" y="4581144"/>
            <a:ext cx="2971800" cy="1170432"/>
          </a:xfrm>
          <a:prstGeom prst="rect">
            <a:avLst/>
          </a:prstGeom>
          <a:noFill/>
          <a:ln/>
        </p:spPr>
        <p:txBody>
          <a:bodyPr wrap="square" lIns="0" tIns="0" rIns="0" bIns="0" rtlCol="0" anchor="ctr"/>
          <a:lstStyle/>
          <a:p>
            <a:pPr indent="0" marL="0">
              <a:lnSpc>
                <a:spcPts val="1550"/>
              </a:lnSpc>
              <a:buNone/>
            </a:pPr>
            <a:r>
              <a:rPr lang="en-US" sz="1150" dirty="0">
                <a:solidFill>
                  <a:srgbClr val="CADCFC"/>
                </a:solidFill>
                <a:latin typeface="Calibri" pitchFamily="34" charset="0"/>
                <a:ea typeface="Calibri" pitchFamily="34" charset="-122"/>
                <a:cs typeface="Calibri" pitchFamily="34" charset="-120"/>
              </a:rPr>
              <a:t>Jurisdiction packs built by local labour-law and tax partners on revenue share. Each pack raises the barrier for the next entrant in that country.</a:t>
            </a:r>
            <a:endParaRPr lang="en-US" sz="1150" dirty="0"/>
          </a:p>
        </p:txBody>
      </p:sp>
      <p:sp>
        <p:nvSpPr>
          <p:cNvPr id="16" name="Shape 14"/>
          <p:cNvSpPr/>
          <p:nvPr/>
        </p:nvSpPr>
        <p:spPr>
          <a:xfrm>
            <a:off x="4352544" y="3977640"/>
            <a:ext cx="3520440" cy="1920240"/>
          </a:xfrm>
          <a:prstGeom prst="roundRect">
            <a:avLst>
              <a:gd name="adj" fmla="val 3810"/>
            </a:avLst>
          </a:prstGeom>
          <a:solidFill>
            <a:srgbClr val="141B45"/>
          </a:solidFill>
          <a:ln w="9525">
            <a:solidFill>
              <a:srgbClr val="35407C"/>
            </a:solidFill>
            <a:prstDash val="solid"/>
          </a:ln>
        </p:spPr>
      </p:sp>
      <p:sp>
        <p:nvSpPr>
          <p:cNvPr id="17" name="Text 15"/>
          <p:cNvSpPr txBox="1"/>
          <p:nvPr/>
        </p:nvSpPr>
        <p:spPr>
          <a:xfrm>
            <a:off x="4672584" y="4160520"/>
            <a:ext cx="2926080" cy="329184"/>
          </a:xfrm>
          <a:prstGeom prst="rect">
            <a:avLst/>
          </a:prstGeom>
          <a:noFill/>
          <a:ln/>
        </p:spPr>
        <p:txBody>
          <a:bodyPr wrap="square" lIns="0" tIns="0" rIns="0" bIns="0" rtlCol="0" anchor="ctr"/>
          <a:lstStyle/>
          <a:p>
            <a:pPr indent="0" marL="0">
              <a:buNone/>
            </a:pPr>
            <a:r>
              <a:rPr lang="en-US" sz="1700" b="1" dirty="0">
                <a:solidFill>
                  <a:srgbClr val="F5A623"/>
                </a:solidFill>
                <a:latin typeface="Cambria" pitchFamily="34" charset="0"/>
                <a:ea typeface="Cambria" pitchFamily="34" charset="-122"/>
                <a:cs typeface="Cambria" pitchFamily="34" charset="-120"/>
              </a:rPr>
              <a:t>Data</a:t>
            </a:r>
            <a:endParaRPr lang="en-US" sz="1700" dirty="0"/>
          </a:p>
        </p:txBody>
      </p:sp>
      <p:sp>
        <p:nvSpPr>
          <p:cNvPr id="18" name="Text 16"/>
          <p:cNvSpPr txBox="1"/>
          <p:nvPr/>
        </p:nvSpPr>
        <p:spPr>
          <a:xfrm>
            <a:off x="4672584" y="4581144"/>
            <a:ext cx="2971800" cy="1170432"/>
          </a:xfrm>
          <a:prstGeom prst="rect">
            <a:avLst/>
          </a:prstGeom>
          <a:noFill/>
          <a:ln/>
        </p:spPr>
        <p:txBody>
          <a:bodyPr wrap="square" lIns="0" tIns="0" rIns="0" bIns="0" rtlCol="0" anchor="ctr"/>
          <a:lstStyle/>
          <a:p>
            <a:pPr indent="0" marL="0">
              <a:lnSpc>
                <a:spcPts val="1550"/>
              </a:lnSpc>
              <a:buNone/>
            </a:pPr>
            <a:r>
              <a:rPr lang="en-US" sz="1150" dirty="0">
                <a:solidFill>
                  <a:srgbClr val="CADCFC"/>
                </a:solidFill>
                <a:latin typeface="Calibri" pitchFamily="34" charset="0"/>
                <a:ea typeface="Calibri" pitchFamily="34" charset="-122"/>
                <a:cs typeface="Calibri" pitchFamily="34" charset="-120"/>
              </a:rPr>
              <a:t>Every parallel run produces a validated corpus of real-world payroll edge cases per jurisdiction. The most valuable proprietary dataset in the business, compounding per deal.</a:t>
            </a:r>
            <a:endParaRPr lang="en-US" sz="1150" dirty="0"/>
          </a:p>
        </p:txBody>
      </p:sp>
      <p:sp>
        <p:nvSpPr>
          <p:cNvPr id="19" name="Shape 17"/>
          <p:cNvSpPr/>
          <p:nvPr/>
        </p:nvSpPr>
        <p:spPr>
          <a:xfrm>
            <a:off x="8065008" y="3977640"/>
            <a:ext cx="3520440" cy="1920240"/>
          </a:xfrm>
          <a:prstGeom prst="roundRect">
            <a:avLst>
              <a:gd name="adj" fmla="val 3810"/>
            </a:avLst>
          </a:prstGeom>
          <a:solidFill>
            <a:srgbClr val="141B45"/>
          </a:solidFill>
          <a:ln w="9525">
            <a:solidFill>
              <a:srgbClr val="35407C"/>
            </a:solidFill>
            <a:prstDash val="solid"/>
          </a:ln>
        </p:spPr>
      </p:sp>
      <p:sp>
        <p:nvSpPr>
          <p:cNvPr id="20" name="Text 18"/>
          <p:cNvSpPr txBox="1"/>
          <p:nvPr/>
        </p:nvSpPr>
        <p:spPr>
          <a:xfrm>
            <a:off x="8385048" y="4160520"/>
            <a:ext cx="2926080" cy="329184"/>
          </a:xfrm>
          <a:prstGeom prst="rect">
            <a:avLst/>
          </a:prstGeom>
          <a:noFill/>
          <a:ln/>
        </p:spPr>
        <p:txBody>
          <a:bodyPr wrap="square" lIns="0" tIns="0" rIns="0" bIns="0" rtlCol="0" anchor="ctr"/>
          <a:lstStyle/>
          <a:p>
            <a:pPr indent="0" marL="0">
              <a:buNone/>
            </a:pPr>
            <a:r>
              <a:rPr lang="en-US" sz="1700" b="1" dirty="0">
                <a:solidFill>
                  <a:srgbClr val="F5A623"/>
                </a:solidFill>
                <a:latin typeface="Cambria" pitchFamily="34" charset="0"/>
                <a:ea typeface="Cambria" pitchFamily="34" charset="-122"/>
                <a:cs typeface="Cambria" pitchFamily="34" charset="-120"/>
              </a:rPr>
              <a:t>Brand</a:t>
            </a:r>
            <a:endParaRPr lang="en-US" sz="1700" dirty="0"/>
          </a:p>
        </p:txBody>
      </p:sp>
      <p:sp>
        <p:nvSpPr>
          <p:cNvPr id="21" name="Text 19"/>
          <p:cNvSpPr txBox="1"/>
          <p:nvPr/>
        </p:nvSpPr>
        <p:spPr>
          <a:xfrm>
            <a:off x="8385048" y="4581144"/>
            <a:ext cx="2971800" cy="1170432"/>
          </a:xfrm>
          <a:prstGeom prst="rect">
            <a:avLst/>
          </a:prstGeom>
          <a:noFill/>
          <a:ln/>
        </p:spPr>
        <p:txBody>
          <a:bodyPr wrap="square" lIns="0" tIns="0" rIns="0" bIns="0" rtlCol="0" anchor="ctr"/>
          <a:lstStyle/>
          <a:p>
            <a:pPr indent="0" marL="0">
              <a:lnSpc>
                <a:spcPts val="1550"/>
              </a:lnSpc>
              <a:buNone/>
            </a:pPr>
            <a:r>
              <a:rPr lang="en-US" sz="1150" dirty="0">
                <a:solidFill>
                  <a:srgbClr val="CADCFC"/>
                </a:solidFill>
                <a:latin typeface="Calibri" pitchFamily="34" charset="0"/>
                <a:ea typeface="Calibri" pitchFamily="34" charset="-122"/>
                <a:cs typeface="Calibri" pitchFamily="34" charset="-120"/>
              </a:rPr>
              <a:t>The vendor whose AI you can turn off. No AI-first competitor can adopt this position without undermining their own narrative.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8229600" cy="256032"/>
          </a:xfrm>
          <a:prstGeom prst="rect">
            <a:avLst/>
          </a:prstGeom>
          <a:noFill/>
          <a:ln/>
        </p:spPr>
        <p:txBody>
          <a:bodyPr wrap="square" lIns="0" tIns="0" rIns="0" bIns="0" rtlCol="0" anchor="ctr"/>
          <a:lstStyle/>
          <a:p>
            <a:pPr indent="0" marL="0">
              <a:buNone/>
            </a:pPr>
            <a:r>
              <a:rPr lang="en-US" sz="1050" b="1" spc="200" kern="0" dirty="0">
                <a:solidFill>
                  <a:srgbClr val="F5A623"/>
                </a:solidFill>
                <a:latin typeface="Calibri" pitchFamily="34" charset="0"/>
                <a:ea typeface="Calibri" pitchFamily="34" charset="-122"/>
                <a:cs typeface="Calibri" pitchFamily="34" charset="-120"/>
              </a:rPr>
              <a:t>RISKS</a:t>
            </a:r>
            <a:endParaRPr lang="en-US" sz="10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could kill us — and what we're doing about it</a:t>
            </a:r>
            <a:endParaRPr lang="en-US" sz="3200" dirty="0"/>
          </a:p>
        </p:txBody>
      </p:sp>
      <p:sp>
        <p:nvSpPr>
          <p:cNvPr id="4" name="Shape 2"/>
          <p:cNvSpPr/>
          <p:nvPr/>
        </p:nvSpPr>
        <p:spPr>
          <a:xfrm>
            <a:off x="640080" y="1600200"/>
            <a:ext cx="10908792" cy="896112"/>
          </a:xfrm>
          <a:prstGeom prst="rect">
            <a:avLst/>
          </a:prstGeom>
          <a:solidFill>
            <a:srgbClr val="F7F9FD"/>
          </a:solidFill>
          <a:ln w="6350">
            <a:solidFill>
              <a:srgbClr val="F7F9FD"/>
            </a:solidFill>
            <a:prstDash val="solid"/>
          </a:ln>
        </p:spPr>
      </p:sp>
      <p:sp>
        <p:nvSpPr>
          <p:cNvPr id="5" name="Text 3"/>
          <p:cNvSpPr txBox="1"/>
          <p:nvPr/>
        </p:nvSpPr>
        <p:spPr>
          <a:xfrm>
            <a:off x="777240" y="1700784"/>
            <a:ext cx="2148840" cy="457200"/>
          </a:xfrm>
          <a:prstGeom prst="rect">
            <a:avLst/>
          </a:prstGeom>
          <a:noFill/>
          <a:ln/>
        </p:spPr>
        <p:txBody>
          <a:bodyPr wrap="square" lIns="0" tIns="0" rIns="0" bIns="0" rtlCol="0" anchor="ctr"/>
          <a:lstStyle/>
          <a:p>
            <a:pPr indent="0" marL="0">
              <a:lnSpc>
                <a:spcPts val="1500"/>
              </a:lnSpc>
              <a:buNone/>
            </a:pPr>
            <a:r>
              <a:rPr lang="en-US" sz="1300" b="1" dirty="0">
                <a:solidFill>
                  <a:srgbClr val="1E2761"/>
                </a:solidFill>
                <a:latin typeface="Calibri" pitchFamily="34" charset="0"/>
                <a:ea typeface="Calibri" pitchFamily="34" charset="-122"/>
                <a:cs typeface="Calibri" pitchFamily="34" charset="-120"/>
              </a:rPr>
              <a:t>Scope</a:t>
            </a:r>
            <a:endParaRPr lang="en-US" sz="1300" dirty="0"/>
          </a:p>
        </p:txBody>
      </p:sp>
      <p:sp>
        <p:nvSpPr>
          <p:cNvPr id="6" name="Text 4"/>
          <p:cNvSpPr txBox="1"/>
          <p:nvPr/>
        </p:nvSpPr>
        <p:spPr>
          <a:xfrm>
            <a:off x="3017520" y="1700784"/>
            <a:ext cx="3931920" cy="731520"/>
          </a:xfrm>
          <a:prstGeom prst="rect">
            <a:avLst/>
          </a:prstGeom>
          <a:noFill/>
          <a:ln/>
        </p:spPr>
        <p:txBody>
          <a:bodyPr wrap="square" lIns="0" tIns="0" rIns="0" bIns="0" rtlCol="0" anchor="ctr"/>
          <a:lstStyle/>
          <a:p>
            <a:pPr indent="0" marL="0">
              <a:lnSpc>
                <a:spcPts val="1400"/>
              </a:lnSpc>
              <a:buNone/>
            </a:pPr>
            <a:r>
              <a:rPr lang="en-US" sz="1100" dirty="0">
                <a:solidFill>
                  <a:srgbClr val="5A6472"/>
                </a:solidFill>
                <a:latin typeface="Calibri" pitchFamily="34" charset="0"/>
                <a:ea typeface="Calibri" pitchFamily="34" charset="-122"/>
                <a:cs typeface="Calibri" pitchFamily="34" charset="-120"/>
              </a:rPr>
              <a:t>A complete HRIS is 203 modules. Horizon 1 is 18 months before we sell beyond design partners.</a:t>
            </a:r>
            <a:endParaRPr lang="en-US" sz="1100" dirty="0"/>
          </a:p>
        </p:txBody>
      </p:sp>
      <p:sp>
        <p:nvSpPr>
          <p:cNvPr id="7" name="Text 5"/>
          <p:cNvSpPr txBox="1"/>
          <p:nvPr/>
        </p:nvSpPr>
        <p:spPr>
          <a:xfrm>
            <a:off x="7086600" y="1700784"/>
            <a:ext cx="4526280" cy="731520"/>
          </a:xfrm>
          <a:prstGeom prst="rect">
            <a:avLst/>
          </a:prstGeom>
          <a:noFill/>
          <a:ln/>
        </p:spPr>
        <p:txBody>
          <a:bodyPr wrap="square" lIns="0" tIns="0" rIns="0" bIns="0" rtlCol="0" anchor="ctr"/>
          <a:lstStyle/>
          <a:p>
            <a:pPr indent="0" marL="0">
              <a:lnSpc>
                <a:spcPts val="1400"/>
              </a:lnSpc>
              <a:buNone/>
            </a:pPr>
            <a:r>
              <a:rPr lang="en-US" sz="1100" dirty="0">
                <a:solidFill>
                  <a:srgbClr val="1E2761"/>
                </a:solidFill>
                <a:latin typeface="Calibri" pitchFamily="34" charset="0"/>
                <a:ea typeface="Calibri" pitchFamily="34" charset="-122"/>
                <a:cs typeface="Calibri" pitchFamily="34" charset="-120"/>
              </a:rPr>
              <a:t>The deterministic kernel makes each subsequent module cheaper, not dearer. We sequence by what payroll requires, not by what a feature matrix requires.</a:t>
            </a:r>
            <a:endParaRPr lang="en-US" sz="1100" dirty="0"/>
          </a:p>
        </p:txBody>
      </p:sp>
      <p:sp>
        <p:nvSpPr>
          <p:cNvPr id="8" name="Text 6"/>
          <p:cNvSpPr txBox="1"/>
          <p:nvPr/>
        </p:nvSpPr>
        <p:spPr>
          <a:xfrm>
            <a:off x="777240" y="2615184"/>
            <a:ext cx="2148840" cy="457200"/>
          </a:xfrm>
          <a:prstGeom prst="rect">
            <a:avLst/>
          </a:prstGeom>
          <a:noFill/>
          <a:ln/>
        </p:spPr>
        <p:txBody>
          <a:bodyPr wrap="square" lIns="0" tIns="0" rIns="0" bIns="0" rtlCol="0" anchor="ctr"/>
          <a:lstStyle/>
          <a:p>
            <a:pPr indent="0" marL="0">
              <a:lnSpc>
                <a:spcPts val="1500"/>
              </a:lnSpc>
              <a:buNone/>
            </a:pPr>
            <a:r>
              <a:rPr lang="en-US" sz="1300" b="1" dirty="0">
                <a:solidFill>
                  <a:srgbClr val="1E2761"/>
                </a:solidFill>
                <a:latin typeface="Calibri" pitchFamily="34" charset="0"/>
                <a:ea typeface="Calibri" pitchFamily="34" charset="-122"/>
                <a:cs typeface="Calibri" pitchFamily="34" charset="-120"/>
              </a:rPr>
              <a:t>Incumbent bundling</a:t>
            </a:r>
            <a:endParaRPr lang="en-US" sz="1300" dirty="0"/>
          </a:p>
        </p:txBody>
      </p:sp>
      <p:sp>
        <p:nvSpPr>
          <p:cNvPr id="9" name="Text 7"/>
          <p:cNvSpPr txBox="1"/>
          <p:nvPr/>
        </p:nvSpPr>
        <p:spPr>
          <a:xfrm>
            <a:off x="3017520" y="2615184"/>
            <a:ext cx="3931920" cy="731520"/>
          </a:xfrm>
          <a:prstGeom prst="rect">
            <a:avLst/>
          </a:prstGeom>
          <a:noFill/>
          <a:ln/>
        </p:spPr>
        <p:txBody>
          <a:bodyPr wrap="square" lIns="0" tIns="0" rIns="0" bIns="0" rtlCol="0" anchor="ctr"/>
          <a:lstStyle/>
          <a:p>
            <a:pPr indent="0" marL="0">
              <a:lnSpc>
                <a:spcPts val="1400"/>
              </a:lnSpc>
              <a:buNone/>
            </a:pPr>
            <a:r>
              <a:rPr lang="en-US" sz="1100" dirty="0">
                <a:solidFill>
                  <a:srgbClr val="5A6472"/>
                </a:solidFill>
                <a:latin typeface="Calibri" pitchFamily="34" charset="0"/>
                <a:ea typeface="Calibri" pitchFamily="34" charset="-122"/>
                <a:cs typeface="Calibri" pitchFamily="34" charset="-120"/>
              </a:rPr>
              <a:t>Oracle already gives agents away. If suites cut PEPM and free the agents, our agent tier compresses.</a:t>
            </a:r>
            <a:endParaRPr lang="en-US" sz="1100" dirty="0"/>
          </a:p>
        </p:txBody>
      </p:sp>
      <p:sp>
        <p:nvSpPr>
          <p:cNvPr id="10" name="Text 8"/>
          <p:cNvSpPr txBox="1"/>
          <p:nvPr/>
        </p:nvSpPr>
        <p:spPr>
          <a:xfrm>
            <a:off x="7086600" y="2615184"/>
            <a:ext cx="4526280" cy="731520"/>
          </a:xfrm>
          <a:prstGeom prst="rect">
            <a:avLst/>
          </a:prstGeom>
          <a:noFill/>
          <a:ln/>
        </p:spPr>
        <p:txBody>
          <a:bodyPr wrap="square" lIns="0" tIns="0" rIns="0" bIns="0" rtlCol="0" anchor="ctr"/>
          <a:lstStyle/>
          <a:p>
            <a:pPr indent="0" marL="0">
              <a:lnSpc>
                <a:spcPts val="1400"/>
              </a:lnSpc>
              <a:buNone/>
            </a:pPr>
            <a:r>
              <a:rPr lang="en-US" sz="1100" dirty="0">
                <a:solidFill>
                  <a:srgbClr val="1E2761"/>
                </a:solidFill>
                <a:latin typeface="Calibri" pitchFamily="34" charset="0"/>
                <a:ea typeface="Calibri" pitchFamily="34" charset="-122"/>
                <a:cs typeface="Calibri" pitchFamily="34" charset="-120"/>
              </a:rPr>
              <a:t>The agent tier doesn't need to be profitable in Horizon 1. The deterministic core carries the P&amp;L; agents are why customers choose us over a legacy HRIS.</a:t>
            </a:r>
            <a:endParaRPr lang="en-US" sz="1100" dirty="0"/>
          </a:p>
        </p:txBody>
      </p:sp>
      <p:sp>
        <p:nvSpPr>
          <p:cNvPr id="11" name="Shape 9"/>
          <p:cNvSpPr/>
          <p:nvPr/>
        </p:nvSpPr>
        <p:spPr>
          <a:xfrm>
            <a:off x="640080" y="3429000"/>
            <a:ext cx="10908792" cy="896112"/>
          </a:xfrm>
          <a:prstGeom prst="rect">
            <a:avLst/>
          </a:prstGeom>
          <a:solidFill>
            <a:srgbClr val="F7F9FD"/>
          </a:solidFill>
          <a:ln w="6350">
            <a:solidFill>
              <a:srgbClr val="F7F9FD"/>
            </a:solidFill>
            <a:prstDash val="solid"/>
          </a:ln>
        </p:spPr>
      </p:sp>
      <p:sp>
        <p:nvSpPr>
          <p:cNvPr id="12" name="Text 10"/>
          <p:cNvSpPr txBox="1"/>
          <p:nvPr/>
        </p:nvSpPr>
        <p:spPr>
          <a:xfrm>
            <a:off x="777240" y="3529584"/>
            <a:ext cx="2148840" cy="457200"/>
          </a:xfrm>
          <a:prstGeom prst="rect">
            <a:avLst/>
          </a:prstGeom>
          <a:noFill/>
          <a:ln/>
        </p:spPr>
        <p:txBody>
          <a:bodyPr wrap="square" lIns="0" tIns="0" rIns="0" bIns="0" rtlCol="0" anchor="ctr"/>
          <a:lstStyle/>
          <a:p>
            <a:pPr indent="0" marL="0">
              <a:lnSpc>
                <a:spcPts val="1500"/>
              </a:lnSpc>
              <a:buNone/>
            </a:pPr>
            <a:r>
              <a:rPr lang="en-US" sz="1300" b="1" dirty="0">
                <a:solidFill>
                  <a:srgbClr val="1E2761"/>
                </a:solidFill>
                <a:latin typeface="Calibri" pitchFamily="34" charset="0"/>
                <a:ea typeface="Calibri" pitchFamily="34" charset="-122"/>
                <a:cs typeface="Calibri" pitchFamily="34" charset="-120"/>
              </a:rPr>
              <a:t>A fast follower</a:t>
            </a:r>
            <a:endParaRPr lang="en-US" sz="1300" dirty="0"/>
          </a:p>
        </p:txBody>
      </p:sp>
      <p:sp>
        <p:nvSpPr>
          <p:cNvPr id="13" name="Text 11"/>
          <p:cNvSpPr txBox="1"/>
          <p:nvPr/>
        </p:nvSpPr>
        <p:spPr>
          <a:xfrm>
            <a:off x="3017520" y="3529584"/>
            <a:ext cx="3931920" cy="731520"/>
          </a:xfrm>
          <a:prstGeom prst="rect">
            <a:avLst/>
          </a:prstGeom>
          <a:noFill/>
          <a:ln/>
        </p:spPr>
        <p:txBody>
          <a:bodyPr wrap="square" lIns="0" tIns="0" rIns="0" bIns="0" rtlCol="0" anchor="ctr"/>
          <a:lstStyle/>
          <a:p>
            <a:pPr indent="0" marL="0">
              <a:lnSpc>
                <a:spcPts val="1400"/>
              </a:lnSpc>
              <a:buNone/>
            </a:pPr>
            <a:r>
              <a:rPr lang="en-US" sz="1100" dirty="0">
                <a:solidFill>
                  <a:srgbClr val="5A6472"/>
                </a:solidFill>
                <a:latin typeface="Calibri" pitchFamily="34" charset="0"/>
                <a:ea typeface="Calibri" pitchFamily="34" charset="-122"/>
                <a:cs typeface="Calibri" pitchFamily="34" charset="-120"/>
              </a:rPr>
              <a:t>Rippling has the velocity and capital. Dayforce under Thoma Bravo has the closest architecture and now the patience.</a:t>
            </a:r>
            <a:endParaRPr lang="en-US" sz="1100" dirty="0"/>
          </a:p>
        </p:txBody>
      </p:sp>
      <p:sp>
        <p:nvSpPr>
          <p:cNvPr id="14" name="Text 12"/>
          <p:cNvSpPr txBox="1"/>
          <p:nvPr/>
        </p:nvSpPr>
        <p:spPr>
          <a:xfrm>
            <a:off x="7086600" y="3529584"/>
            <a:ext cx="4526280" cy="731520"/>
          </a:xfrm>
          <a:prstGeom prst="rect">
            <a:avLst/>
          </a:prstGeom>
          <a:noFill/>
          <a:ln/>
        </p:spPr>
        <p:txBody>
          <a:bodyPr wrap="square" lIns="0" tIns="0" rIns="0" bIns="0" rtlCol="0" anchor="ctr"/>
          <a:lstStyle/>
          <a:p>
            <a:pPr indent="0" marL="0">
              <a:lnSpc>
                <a:spcPts val="1400"/>
              </a:lnSpc>
              <a:buNone/>
            </a:pPr>
            <a:r>
              <a:rPr lang="en-US" sz="1100" dirty="0">
                <a:solidFill>
                  <a:srgbClr val="1E2761"/>
                </a:solidFill>
                <a:latin typeface="Calibri" pitchFamily="34" charset="0"/>
                <a:ea typeface="Calibri" pitchFamily="34" charset="-122"/>
                <a:cs typeface="Calibri" pitchFamily="34" charset="-120"/>
              </a:rPr>
              <a:t>Speed and beachhead focus. We win multi-entity emerging markets before either turns to look at it.</a:t>
            </a:r>
            <a:endParaRPr lang="en-US" sz="1100" dirty="0"/>
          </a:p>
        </p:txBody>
      </p:sp>
      <p:sp>
        <p:nvSpPr>
          <p:cNvPr id="15" name="Text 13"/>
          <p:cNvSpPr txBox="1"/>
          <p:nvPr/>
        </p:nvSpPr>
        <p:spPr>
          <a:xfrm>
            <a:off x="777240" y="4443984"/>
            <a:ext cx="2148840" cy="457200"/>
          </a:xfrm>
          <a:prstGeom prst="rect">
            <a:avLst/>
          </a:prstGeom>
          <a:noFill/>
          <a:ln/>
        </p:spPr>
        <p:txBody>
          <a:bodyPr wrap="square" lIns="0" tIns="0" rIns="0" bIns="0" rtlCol="0" anchor="ctr"/>
          <a:lstStyle/>
          <a:p>
            <a:pPr indent="0" marL="0">
              <a:lnSpc>
                <a:spcPts val="1500"/>
              </a:lnSpc>
              <a:buNone/>
            </a:pPr>
            <a:r>
              <a:rPr lang="en-US" sz="1300" b="1" dirty="0">
                <a:solidFill>
                  <a:srgbClr val="1E2761"/>
                </a:solidFill>
                <a:latin typeface="Calibri" pitchFamily="34" charset="0"/>
                <a:ea typeface="Calibri" pitchFamily="34" charset="-122"/>
                <a:cs typeface="Calibri" pitchFamily="34" charset="-120"/>
              </a:rPr>
              <a:t>Payroll is unforgiving</a:t>
            </a:r>
            <a:endParaRPr lang="en-US" sz="1300" dirty="0"/>
          </a:p>
        </p:txBody>
      </p:sp>
      <p:sp>
        <p:nvSpPr>
          <p:cNvPr id="16" name="Text 14"/>
          <p:cNvSpPr txBox="1"/>
          <p:nvPr/>
        </p:nvSpPr>
        <p:spPr>
          <a:xfrm>
            <a:off x="3017520" y="4443984"/>
            <a:ext cx="3931920" cy="731520"/>
          </a:xfrm>
          <a:prstGeom prst="rect">
            <a:avLst/>
          </a:prstGeom>
          <a:noFill/>
          <a:ln/>
        </p:spPr>
        <p:txBody>
          <a:bodyPr wrap="square" lIns="0" tIns="0" rIns="0" bIns="0" rtlCol="0" anchor="ctr"/>
          <a:lstStyle/>
          <a:p>
            <a:pPr indent="0" marL="0">
              <a:lnSpc>
                <a:spcPts val="1400"/>
              </a:lnSpc>
              <a:buNone/>
            </a:pPr>
            <a:r>
              <a:rPr lang="en-US" sz="1100" dirty="0">
                <a:solidFill>
                  <a:srgbClr val="5A6472"/>
                </a:solidFill>
                <a:latin typeface="Calibri" pitchFamily="34" charset="0"/>
                <a:ea typeface="Calibri" pitchFamily="34" charset="-122"/>
                <a:cs typeface="Calibri" pitchFamily="34" charset="-120"/>
              </a:rPr>
              <a:t>One catastrophic error at a reference customer is an existential brand event.</a:t>
            </a:r>
            <a:endParaRPr lang="en-US" sz="1100" dirty="0"/>
          </a:p>
        </p:txBody>
      </p:sp>
      <p:sp>
        <p:nvSpPr>
          <p:cNvPr id="17" name="Text 15"/>
          <p:cNvSpPr txBox="1"/>
          <p:nvPr/>
        </p:nvSpPr>
        <p:spPr>
          <a:xfrm>
            <a:off x="7086600" y="4443984"/>
            <a:ext cx="4526280" cy="731520"/>
          </a:xfrm>
          <a:prstGeom prst="rect">
            <a:avLst/>
          </a:prstGeom>
          <a:noFill/>
          <a:ln/>
        </p:spPr>
        <p:txBody>
          <a:bodyPr wrap="square" lIns="0" tIns="0" rIns="0" bIns="0" rtlCol="0" anchor="ctr"/>
          <a:lstStyle/>
          <a:p>
            <a:pPr indent="0" marL="0">
              <a:lnSpc>
                <a:spcPts val="1400"/>
              </a:lnSpc>
              <a:buNone/>
            </a:pPr>
            <a:r>
              <a:rPr lang="en-US" sz="1100" dirty="0">
                <a:solidFill>
                  <a:srgbClr val="1E2761"/>
                </a:solidFill>
                <a:latin typeface="Calibri" pitchFamily="34" charset="0"/>
                <a:ea typeface="Calibri" pitchFamily="34" charset="-122"/>
                <a:cs typeface="Calibri" pitchFamily="34" charset="-120"/>
              </a:rPr>
              <a:t>Parallel run before every go-live. Dual control on every run approval. L4 statutory packs so the customer is never without a payable output.</a:t>
            </a:r>
            <a:endParaRPr lang="en-US" sz="1100" dirty="0"/>
          </a:p>
        </p:txBody>
      </p:sp>
      <p:sp>
        <p:nvSpPr>
          <p:cNvPr id="18" name="Shape 16"/>
          <p:cNvSpPr/>
          <p:nvPr/>
        </p:nvSpPr>
        <p:spPr>
          <a:xfrm>
            <a:off x="640080" y="5257800"/>
            <a:ext cx="10908792" cy="896112"/>
          </a:xfrm>
          <a:prstGeom prst="rect">
            <a:avLst/>
          </a:prstGeom>
          <a:solidFill>
            <a:srgbClr val="F7F9FD"/>
          </a:solidFill>
          <a:ln w="6350">
            <a:solidFill>
              <a:srgbClr val="F7F9FD"/>
            </a:solidFill>
            <a:prstDash val="solid"/>
          </a:ln>
        </p:spPr>
      </p:sp>
      <p:sp>
        <p:nvSpPr>
          <p:cNvPr id="19" name="Text 17"/>
          <p:cNvSpPr txBox="1"/>
          <p:nvPr/>
        </p:nvSpPr>
        <p:spPr>
          <a:xfrm>
            <a:off x="777240" y="5358384"/>
            <a:ext cx="2148840" cy="457200"/>
          </a:xfrm>
          <a:prstGeom prst="rect">
            <a:avLst/>
          </a:prstGeom>
          <a:noFill/>
          <a:ln/>
        </p:spPr>
        <p:txBody>
          <a:bodyPr wrap="square" lIns="0" tIns="0" rIns="0" bIns="0" rtlCol="0" anchor="ctr"/>
          <a:lstStyle/>
          <a:p>
            <a:pPr indent="0" marL="0">
              <a:lnSpc>
                <a:spcPts val="1500"/>
              </a:lnSpc>
              <a:buNone/>
            </a:pPr>
            <a:r>
              <a:rPr lang="en-US" sz="1300" b="1" dirty="0">
                <a:solidFill>
                  <a:srgbClr val="1E2761"/>
                </a:solidFill>
                <a:latin typeface="Calibri" pitchFamily="34" charset="0"/>
                <a:ea typeface="Calibri" pitchFamily="34" charset="-122"/>
                <a:cs typeface="Calibri" pitchFamily="34" charset="-120"/>
              </a:rPr>
              <a:t>Statutory depth</a:t>
            </a:r>
            <a:endParaRPr lang="en-US" sz="1300" dirty="0"/>
          </a:p>
        </p:txBody>
      </p:sp>
      <p:sp>
        <p:nvSpPr>
          <p:cNvPr id="20" name="Text 18"/>
          <p:cNvSpPr txBox="1"/>
          <p:nvPr/>
        </p:nvSpPr>
        <p:spPr>
          <a:xfrm>
            <a:off x="3017520" y="5358384"/>
            <a:ext cx="3931920" cy="731520"/>
          </a:xfrm>
          <a:prstGeom prst="rect">
            <a:avLst/>
          </a:prstGeom>
          <a:noFill/>
          <a:ln/>
        </p:spPr>
        <p:txBody>
          <a:bodyPr wrap="square" lIns="0" tIns="0" rIns="0" bIns="0" rtlCol="0" anchor="ctr"/>
          <a:lstStyle/>
          <a:p>
            <a:pPr indent="0" marL="0">
              <a:lnSpc>
                <a:spcPts val="1400"/>
              </a:lnSpc>
              <a:buNone/>
            </a:pPr>
            <a:r>
              <a:rPr lang="en-US" sz="1100" dirty="0">
                <a:solidFill>
                  <a:srgbClr val="5A6472"/>
                </a:solidFill>
                <a:latin typeface="Calibri" pitchFamily="34" charset="0"/>
                <a:ea typeface="Calibri" pitchFamily="34" charset="-122"/>
                <a:cs typeface="Calibri" pitchFamily="34" charset="-120"/>
              </a:rPr>
              <a:t>We are strong on architecture and weak, today, on the accumulated statutory knowledge ADP spent 75 years acquiring.</a:t>
            </a:r>
            <a:endParaRPr lang="en-US" sz="1100" dirty="0"/>
          </a:p>
        </p:txBody>
      </p:sp>
      <p:sp>
        <p:nvSpPr>
          <p:cNvPr id="21" name="Text 19"/>
          <p:cNvSpPr txBox="1"/>
          <p:nvPr/>
        </p:nvSpPr>
        <p:spPr>
          <a:xfrm>
            <a:off x="7086600" y="5358384"/>
            <a:ext cx="4526280" cy="731520"/>
          </a:xfrm>
          <a:prstGeom prst="rect">
            <a:avLst/>
          </a:prstGeom>
          <a:noFill/>
          <a:ln/>
        </p:spPr>
        <p:txBody>
          <a:bodyPr wrap="square" lIns="0" tIns="0" rIns="0" bIns="0" rtlCol="0" anchor="ctr"/>
          <a:lstStyle/>
          <a:p>
            <a:pPr indent="0" marL="0">
              <a:lnSpc>
                <a:spcPts val="1400"/>
              </a:lnSpc>
              <a:buNone/>
            </a:pPr>
            <a:r>
              <a:rPr lang="en-US" sz="1100" dirty="0">
                <a:solidFill>
                  <a:srgbClr val="1E2761"/>
                </a:solidFill>
                <a:latin typeface="Calibri" pitchFamily="34" charset="0"/>
                <a:ea typeface="Calibri" pitchFamily="34" charset="-122"/>
                <a:cs typeface="Calibri" pitchFamily="34" charset="-120"/>
              </a:rPr>
              <a:t>Acquire it through the jurisdiction pack partner network rather than trying to build it. This is a partnership strategy, and we say so plainly.</a:t>
            </a:r>
            <a:endParaRPr lang="en-US" sz="1100" dirty="0"/>
          </a:p>
        </p:txBody>
      </p:sp>
      <p:sp>
        <p:nvSpPr>
          <p:cNvPr id="22" name="Text 20"/>
          <p:cNvSpPr txBox="1"/>
          <p:nvPr/>
        </p:nvSpPr>
        <p:spPr>
          <a:xfrm>
            <a:off x="3017520" y="1371600"/>
            <a:ext cx="1828800" cy="219456"/>
          </a:xfrm>
          <a:prstGeom prst="rect">
            <a:avLst/>
          </a:prstGeom>
          <a:noFill/>
          <a:ln/>
        </p:spPr>
        <p:txBody>
          <a:bodyPr wrap="square" lIns="0" tIns="0" rIns="0" bIns="0" rtlCol="0" anchor="ctr"/>
          <a:lstStyle/>
          <a:p>
            <a:pPr indent="0" marL="0">
              <a:buNone/>
            </a:pPr>
            <a:r>
              <a:rPr lang="en-US" sz="950" b="1" spc="150" kern="0" dirty="0">
                <a:solidFill>
                  <a:srgbClr val="F5A623"/>
                </a:solidFill>
                <a:latin typeface="Calibri" pitchFamily="34" charset="0"/>
                <a:ea typeface="Calibri" pitchFamily="34" charset="-122"/>
                <a:cs typeface="Calibri" pitchFamily="34" charset="-120"/>
              </a:rPr>
              <a:t>RISK</a:t>
            </a:r>
            <a:endParaRPr lang="en-US" sz="950" dirty="0"/>
          </a:p>
        </p:txBody>
      </p:sp>
      <p:sp>
        <p:nvSpPr>
          <p:cNvPr id="23" name="Text 21"/>
          <p:cNvSpPr txBox="1"/>
          <p:nvPr/>
        </p:nvSpPr>
        <p:spPr>
          <a:xfrm>
            <a:off x="7086600" y="1371600"/>
            <a:ext cx="2286000" cy="219456"/>
          </a:xfrm>
          <a:prstGeom prst="rect">
            <a:avLst/>
          </a:prstGeom>
          <a:noFill/>
          <a:ln/>
        </p:spPr>
        <p:txBody>
          <a:bodyPr wrap="square" lIns="0" tIns="0" rIns="0" bIns="0" rtlCol="0" anchor="ctr"/>
          <a:lstStyle/>
          <a:p>
            <a:pPr indent="0" marL="0">
              <a:buNone/>
            </a:pPr>
            <a:r>
              <a:rPr lang="en-US" sz="950" b="1" spc="150" kern="0" dirty="0">
                <a:solidFill>
                  <a:srgbClr val="F5A623"/>
                </a:solidFill>
                <a:latin typeface="Calibri" pitchFamily="34" charset="0"/>
                <a:ea typeface="Calibri" pitchFamily="34" charset="-122"/>
                <a:cs typeface="Calibri" pitchFamily="34" charset="-120"/>
              </a:rPr>
              <a:t>MITIGATION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74320"/>
          </a:xfrm>
          <a:prstGeom prst="rect">
            <a:avLst/>
          </a:prstGeom>
          <a:noFill/>
          <a:ln/>
        </p:spPr>
        <p:txBody>
          <a:bodyPr wrap="square" lIns="0" tIns="0" rIns="0" bIns="0" rtlCol="0" anchor="ctr"/>
          <a:lstStyle/>
          <a:p>
            <a:pPr indent="0" marL="0">
              <a:buNone/>
            </a:pPr>
            <a:r>
              <a:rPr lang="en-US" sz="1100" b="1" spc="200" kern="0" dirty="0">
                <a:solidFill>
                  <a:srgbClr val="F5A623"/>
                </a:solidFill>
                <a:latin typeface="Calibri" pitchFamily="34" charset="0"/>
                <a:ea typeface="Calibri" pitchFamily="34" charset="-122"/>
                <a:cs typeface="Calibri" pitchFamily="34" charset="-120"/>
              </a:rPr>
              <a:t>THE ASK</a:t>
            </a:r>
            <a:endParaRPr lang="en-US" sz="1100" dirty="0"/>
          </a:p>
        </p:txBody>
      </p:sp>
      <p:sp>
        <p:nvSpPr>
          <p:cNvPr id="3" name="Text 1"/>
          <p:cNvSpPr txBox="1"/>
          <p:nvPr/>
        </p:nvSpPr>
        <p:spPr>
          <a:xfrm>
            <a:off x="640080" y="868680"/>
            <a:ext cx="7315200" cy="868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$25M Series A</a:t>
            </a:r>
            <a:endParaRPr lang="en-US" sz="4800" dirty="0"/>
          </a:p>
        </p:txBody>
      </p:sp>
      <p:sp>
        <p:nvSpPr>
          <p:cNvPr id="4" name="Text 2"/>
          <p:cNvSpPr txBox="1"/>
          <p:nvPr/>
        </p:nvSpPr>
        <p:spPr>
          <a:xfrm>
            <a:off x="640080" y="1783080"/>
            <a:ext cx="8778240" cy="548640"/>
          </a:xfrm>
          <a:prstGeom prst="rect">
            <a:avLst/>
          </a:prstGeom>
          <a:noFill/>
          <a:ln/>
        </p:spPr>
        <p:txBody>
          <a:bodyPr wrap="square" lIns="0" tIns="0" rIns="0" bIns="0" rtlCol="0" anchor="ctr"/>
          <a:lstStyle/>
          <a:p>
            <a:pPr indent="0" marL="0">
              <a:lnSpc>
                <a:spcPts val="2100"/>
              </a:lnSpc>
              <a:buNone/>
            </a:pPr>
            <a:r>
              <a:rPr lang="en-US" sz="1500" dirty="0">
                <a:solidFill>
                  <a:srgbClr val="CADCFC"/>
                </a:solidFill>
                <a:latin typeface="Calibri" pitchFamily="34" charset="0"/>
                <a:ea typeface="Calibri" pitchFamily="34" charset="-122"/>
                <a:cs typeface="Calibri" pitchFamily="34" charset="-120"/>
              </a:rPr>
              <a:t>30 months of runway to complete Horizon 1, ship the governed agent plane, and reach 100+ customers across ASEAN and the Middle East.</a:t>
            </a:r>
            <a:endParaRPr lang="en-US" sz="1500" dirty="0"/>
          </a:p>
        </p:txBody>
      </p:sp>
      <p:sp>
        <p:nvSpPr>
          <p:cNvPr id="5" name="Text 3"/>
          <p:cNvSpPr txBox="1"/>
          <p:nvPr/>
        </p:nvSpPr>
        <p:spPr>
          <a:xfrm>
            <a:off x="640080" y="2651760"/>
            <a:ext cx="1143000" cy="457200"/>
          </a:xfrm>
          <a:prstGeom prst="rect">
            <a:avLst/>
          </a:prstGeom>
          <a:noFill/>
          <a:ln/>
        </p:spPr>
        <p:txBody>
          <a:bodyPr wrap="square" lIns="0" tIns="0" rIns="0" bIns="0"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52%</a:t>
            </a:r>
            <a:endParaRPr lang="en-US" sz="2600" dirty="0"/>
          </a:p>
        </p:txBody>
      </p:sp>
      <p:sp>
        <p:nvSpPr>
          <p:cNvPr id="6" name="Text 4"/>
          <p:cNvSpPr txBox="1"/>
          <p:nvPr/>
        </p:nvSpPr>
        <p:spPr>
          <a:xfrm>
            <a:off x="1920240" y="2670048"/>
            <a:ext cx="27432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Engineering</a:t>
            </a:r>
            <a:endParaRPr lang="en-US" sz="1500" dirty="0"/>
          </a:p>
        </p:txBody>
      </p:sp>
      <p:sp>
        <p:nvSpPr>
          <p:cNvPr id="7" name="Text 5"/>
          <p:cNvSpPr txBox="1"/>
          <p:nvPr/>
        </p:nvSpPr>
        <p:spPr>
          <a:xfrm>
            <a:off x="4754880" y="2688336"/>
            <a:ext cx="5852160" cy="548640"/>
          </a:xfrm>
          <a:prstGeom prst="rect">
            <a:avLst/>
          </a:prstGeom>
          <a:noFill/>
          <a:ln/>
        </p:spPr>
        <p:txBody>
          <a:bodyPr wrap="square" lIns="0" tIns="0" rIns="0" bIns="0" rtlCol="0" anchor="ctr"/>
          <a:lstStyle/>
          <a:p>
            <a:pPr indent="0" marL="0">
              <a:lnSpc>
                <a:spcPts val="1550"/>
              </a:lnSpc>
              <a:buNone/>
            </a:pPr>
            <a:r>
              <a:rPr lang="en-US" sz="1200" dirty="0">
                <a:solidFill>
                  <a:srgbClr val="CADCFC"/>
                </a:solidFill>
                <a:latin typeface="Calibri" pitchFamily="34" charset="0"/>
                <a:ea typeface="Calibri" pitchFamily="34" charset="-122"/>
                <a:cs typeface="Calibri" pitchFamily="34" charset="-120"/>
              </a:rPr>
              <a:t>25 hires: platform, payroll &amp; compliance engineering, agent plane, product and design.</a:t>
            </a:r>
            <a:endParaRPr lang="en-US" sz="1200" dirty="0"/>
          </a:p>
        </p:txBody>
      </p:sp>
      <p:sp>
        <p:nvSpPr>
          <p:cNvPr id="8" name="Text 6"/>
          <p:cNvSpPr txBox="1"/>
          <p:nvPr/>
        </p:nvSpPr>
        <p:spPr>
          <a:xfrm>
            <a:off x="640080" y="3429000"/>
            <a:ext cx="1143000" cy="457200"/>
          </a:xfrm>
          <a:prstGeom prst="rect">
            <a:avLst/>
          </a:prstGeom>
          <a:noFill/>
          <a:ln/>
        </p:spPr>
        <p:txBody>
          <a:bodyPr wrap="square" lIns="0" tIns="0" rIns="0" bIns="0"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18%</a:t>
            </a:r>
            <a:endParaRPr lang="en-US" sz="2600" dirty="0"/>
          </a:p>
        </p:txBody>
      </p:sp>
      <p:sp>
        <p:nvSpPr>
          <p:cNvPr id="9" name="Text 7"/>
          <p:cNvSpPr txBox="1"/>
          <p:nvPr/>
        </p:nvSpPr>
        <p:spPr>
          <a:xfrm>
            <a:off x="1920240" y="3447288"/>
            <a:ext cx="27432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Jurisdiction packs</a:t>
            </a:r>
            <a:endParaRPr lang="en-US" sz="1500" dirty="0"/>
          </a:p>
        </p:txBody>
      </p:sp>
      <p:sp>
        <p:nvSpPr>
          <p:cNvPr id="10" name="Text 8"/>
          <p:cNvSpPr txBox="1"/>
          <p:nvPr/>
        </p:nvSpPr>
        <p:spPr>
          <a:xfrm>
            <a:off x="4754880" y="3465576"/>
            <a:ext cx="5852160" cy="548640"/>
          </a:xfrm>
          <a:prstGeom prst="rect">
            <a:avLst/>
          </a:prstGeom>
          <a:noFill/>
          <a:ln/>
        </p:spPr>
        <p:txBody>
          <a:bodyPr wrap="square" lIns="0" tIns="0" rIns="0" bIns="0" rtlCol="0" anchor="ctr"/>
          <a:lstStyle/>
          <a:p>
            <a:pPr indent="0" marL="0">
              <a:lnSpc>
                <a:spcPts val="1550"/>
              </a:lnSpc>
              <a:buNone/>
            </a:pPr>
            <a:r>
              <a:rPr lang="en-US" sz="1200" dirty="0">
                <a:solidFill>
                  <a:srgbClr val="CADCFC"/>
                </a:solidFill>
                <a:latin typeface="Calibri" pitchFamily="34" charset="0"/>
                <a:ea typeface="Calibri" pitchFamily="34" charset="-122"/>
                <a:cs typeface="Calibri" pitchFamily="34" charset="-120"/>
              </a:rPr>
              <a:t>12 country packs, the Pack SDK, and the partner network that builds the next 28.</a:t>
            </a:r>
            <a:endParaRPr lang="en-US" sz="1200" dirty="0"/>
          </a:p>
        </p:txBody>
      </p:sp>
      <p:sp>
        <p:nvSpPr>
          <p:cNvPr id="11" name="Text 9"/>
          <p:cNvSpPr txBox="1"/>
          <p:nvPr/>
        </p:nvSpPr>
        <p:spPr>
          <a:xfrm>
            <a:off x="640080" y="4206240"/>
            <a:ext cx="1143000" cy="457200"/>
          </a:xfrm>
          <a:prstGeom prst="rect">
            <a:avLst/>
          </a:prstGeom>
          <a:noFill/>
          <a:ln/>
        </p:spPr>
        <p:txBody>
          <a:bodyPr wrap="square" lIns="0" tIns="0" rIns="0" bIns="0"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17%</a:t>
            </a:r>
            <a:endParaRPr lang="en-US" sz="2600" dirty="0"/>
          </a:p>
        </p:txBody>
      </p:sp>
      <p:sp>
        <p:nvSpPr>
          <p:cNvPr id="12" name="Text 10"/>
          <p:cNvSpPr txBox="1"/>
          <p:nvPr/>
        </p:nvSpPr>
        <p:spPr>
          <a:xfrm>
            <a:off x="1920240" y="4224528"/>
            <a:ext cx="27432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Go to market</a:t>
            </a:r>
            <a:endParaRPr lang="en-US" sz="1500" dirty="0"/>
          </a:p>
        </p:txBody>
      </p:sp>
      <p:sp>
        <p:nvSpPr>
          <p:cNvPr id="13" name="Text 11"/>
          <p:cNvSpPr txBox="1"/>
          <p:nvPr/>
        </p:nvSpPr>
        <p:spPr>
          <a:xfrm>
            <a:off x="4754880" y="4242816"/>
            <a:ext cx="5852160" cy="548640"/>
          </a:xfrm>
          <a:prstGeom prst="rect">
            <a:avLst/>
          </a:prstGeom>
          <a:noFill/>
          <a:ln/>
        </p:spPr>
        <p:txBody>
          <a:bodyPr wrap="square" lIns="0" tIns="0" rIns="0" bIns="0" rtlCol="0" anchor="ctr"/>
          <a:lstStyle/>
          <a:p>
            <a:pPr indent="0" marL="0">
              <a:lnSpc>
                <a:spcPts val="1550"/>
              </a:lnSpc>
              <a:buNone/>
            </a:pPr>
            <a:r>
              <a:rPr lang="en-US" sz="1200" dirty="0">
                <a:solidFill>
                  <a:srgbClr val="CADCFC"/>
                </a:solidFill>
                <a:latin typeface="Calibri" pitchFamily="34" charset="0"/>
                <a:ea typeface="Calibri" pitchFamily="34" charset="-122"/>
                <a:cs typeface="Calibri" pitchFamily="34" charset="-120"/>
              </a:rPr>
              <a:t>Founder-led sales to 30 customers, then two regional teams. Parallel runs are charged here.</a:t>
            </a:r>
            <a:endParaRPr lang="en-US" sz="1200" dirty="0"/>
          </a:p>
        </p:txBody>
      </p:sp>
      <p:sp>
        <p:nvSpPr>
          <p:cNvPr id="14" name="Text 12"/>
          <p:cNvSpPr txBox="1"/>
          <p:nvPr/>
        </p:nvSpPr>
        <p:spPr>
          <a:xfrm>
            <a:off x="640080" y="4983480"/>
            <a:ext cx="1143000" cy="457200"/>
          </a:xfrm>
          <a:prstGeom prst="rect">
            <a:avLst/>
          </a:prstGeom>
          <a:noFill/>
          <a:ln/>
        </p:spPr>
        <p:txBody>
          <a:bodyPr wrap="square" lIns="0" tIns="0" rIns="0" bIns="0" rtlCol="0" anchor="ctr"/>
          <a:lstStyle/>
          <a:p>
            <a:pPr indent="0" marL="0">
              <a:buNone/>
            </a:pPr>
            <a:r>
              <a:rPr lang="en-US" sz="2600" b="1" dirty="0">
                <a:solidFill>
                  <a:srgbClr val="F5A623"/>
                </a:solidFill>
                <a:latin typeface="Cambria" pitchFamily="34" charset="0"/>
                <a:ea typeface="Cambria" pitchFamily="34" charset="-122"/>
                <a:cs typeface="Cambria" pitchFamily="34" charset="-120"/>
              </a:rPr>
              <a:t>13%</a:t>
            </a:r>
            <a:endParaRPr lang="en-US" sz="2600" dirty="0"/>
          </a:p>
        </p:txBody>
      </p:sp>
      <p:sp>
        <p:nvSpPr>
          <p:cNvPr id="15" name="Text 13"/>
          <p:cNvSpPr txBox="1"/>
          <p:nvPr/>
        </p:nvSpPr>
        <p:spPr>
          <a:xfrm>
            <a:off x="1920240" y="5001768"/>
            <a:ext cx="27432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Assurance</a:t>
            </a:r>
            <a:endParaRPr lang="en-US" sz="1500" dirty="0"/>
          </a:p>
        </p:txBody>
      </p:sp>
      <p:sp>
        <p:nvSpPr>
          <p:cNvPr id="16" name="Text 14"/>
          <p:cNvSpPr txBox="1"/>
          <p:nvPr/>
        </p:nvSpPr>
        <p:spPr>
          <a:xfrm>
            <a:off x="4754880" y="5020056"/>
            <a:ext cx="5852160" cy="548640"/>
          </a:xfrm>
          <a:prstGeom prst="rect">
            <a:avLst/>
          </a:prstGeom>
          <a:noFill/>
          <a:ln/>
        </p:spPr>
        <p:txBody>
          <a:bodyPr wrap="square" lIns="0" tIns="0" rIns="0" bIns="0" rtlCol="0" anchor="ctr"/>
          <a:lstStyle/>
          <a:p>
            <a:pPr indent="0" marL="0">
              <a:lnSpc>
                <a:spcPts val="1550"/>
              </a:lnSpc>
              <a:buNone/>
            </a:pPr>
            <a:r>
              <a:rPr lang="en-US" sz="1200" dirty="0">
                <a:solidFill>
                  <a:srgbClr val="CADCFC"/>
                </a:solidFill>
                <a:latin typeface="Calibri" pitchFamily="34" charset="0"/>
                <a:ea typeface="Calibri" pitchFamily="34" charset="-122"/>
                <a:cs typeface="Calibri" pitchFamily="34" charset="-120"/>
              </a:rPr>
              <a:t>SOC 2, ISO 27001, independent continuity attestation, and the compliance evidence programme.</a:t>
            </a:r>
            <a:endParaRPr lang="en-US" sz="1200" dirty="0"/>
          </a:p>
        </p:txBody>
      </p:sp>
      <p:sp>
        <p:nvSpPr>
          <p:cNvPr id="17" name="Shape 15"/>
          <p:cNvSpPr/>
          <p:nvPr/>
        </p:nvSpPr>
        <p:spPr>
          <a:xfrm>
            <a:off x="640080" y="5806440"/>
            <a:ext cx="1371600" cy="32004"/>
          </a:xfrm>
          <a:prstGeom prst="rect">
            <a:avLst/>
          </a:prstGeom>
          <a:solidFill>
            <a:srgbClr val="F5A623"/>
          </a:solidFill>
          <a:ln/>
        </p:spPr>
      </p:sp>
      <p:sp>
        <p:nvSpPr>
          <p:cNvPr id="18" name="Text 16"/>
          <p:cNvSpPr txBox="1"/>
          <p:nvPr/>
        </p:nvSpPr>
        <p:spPr>
          <a:xfrm>
            <a:off x="640080" y="6035040"/>
            <a:ext cx="10424160" cy="457200"/>
          </a:xfrm>
          <a:prstGeom prst="rect">
            <a:avLst/>
          </a:prstGeom>
          <a:noFill/>
          <a:ln/>
        </p:spPr>
        <p:txBody>
          <a:bodyPr wrap="square" lIns="0" tIns="0" rIns="0" bIns="0" rtlCol="0" anchor="ctr"/>
          <a:lstStyle/>
          <a:p>
            <a:pPr indent="0" marL="0">
              <a:lnSpc>
                <a:spcPts val="1900"/>
              </a:lnSpc>
              <a:buNone/>
            </a:pPr>
            <a:r>
              <a:rPr lang="en-US" sz="1350" i="1" dirty="0">
                <a:solidFill>
                  <a:srgbClr val="FFFFFF"/>
                </a:solidFill>
                <a:latin typeface="Calibri" pitchFamily="34" charset="0"/>
                <a:ea typeface="Calibri" pitchFamily="34" charset="-122"/>
                <a:cs typeface="Calibri" pitchFamily="34" charset="-120"/>
              </a:rPr>
              <a:t>Milestone at the end of this round: three reference customers running a full month at L3 — the entire HR operation, AI switched off, no capability loss.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3108960" y="4297680"/>
            <a:ext cx="5943600" cy="5943600"/>
          </a:xfrm>
          <a:prstGeom prst="ellipse">
            <a:avLst/>
          </a:prstGeom>
          <a:solidFill>
            <a:srgbClr val="141B45"/>
          </a:solidFill>
          <a:ln/>
        </p:spPr>
      </p:sp>
      <p:sp>
        <p:nvSpPr>
          <p:cNvPr id="3" name="Text 1"/>
          <p:cNvSpPr txBox="1"/>
          <p:nvPr/>
        </p:nvSpPr>
        <p:spPr>
          <a:xfrm>
            <a:off x="640080" y="1783080"/>
            <a:ext cx="10515600" cy="1371600"/>
          </a:xfrm>
          <a:prstGeom prst="rect">
            <a:avLst/>
          </a:prstGeom>
          <a:noFill/>
          <a:ln/>
        </p:spPr>
        <p:txBody>
          <a:bodyPr wrap="square" lIns="0" tIns="0" rIns="0" bIns="0" rtlCol="0" anchor="ctr"/>
          <a:lstStyle/>
          <a:p>
            <a:pPr indent="0" marL="0">
              <a:lnSpc>
                <a:spcPts val="4800"/>
              </a:lnSpc>
              <a:buNone/>
            </a:pPr>
            <a:r>
              <a:rPr lang="en-US" sz="3600" b="1" dirty="0">
                <a:solidFill>
                  <a:srgbClr val="FFFFFF"/>
                </a:solidFill>
                <a:latin typeface="Cambria" pitchFamily="34" charset="0"/>
                <a:ea typeface="Cambria" pitchFamily="34" charset="-122"/>
                <a:cs typeface="Cambria" pitchFamily="34" charset="-120"/>
              </a:rPr>
              <a:t>The only HR system you can safely</a:t>
            </a:r>
            <a:endParaRPr lang="en-US" sz="3600" dirty="0"/>
          </a:p>
          <a:p>
            <a:pPr indent="0" marL="0">
              <a:lnSpc>
                <a:spcPts val="4800"/>
              </a:lnSpc>
              <a:buNone/>
            </a:pPr>
            <a:r>
              <a:rPr lang="en-US" sz="3600" b="1" dirty="0">
                <a:solidFill>
                  <a:srgbClr val="FFFFFF"/>
                </a:solidFill>
                <a:latin typeface="Cambria" pitchFamily="34" charset="0"/>
                <a:ea typeface="Cambria" pitchFamily="34" charset="-122"/>
                <a:cs typeface="Cambria" pitchFamily="34" charset="-120"/>
              </a:rPr>
              <a:t>give autonomy to —</a:t>
            </a:r>
            <a:endParaRPr lang="en-US" sz="3600" dirty="0"/>
          </a:p>
        </p:txBody>
      </p:sp>
      <p:sp>
        <p:nvSpPr>
          <p:cNvPr id="4" name="Text 2"/>
          <p:cNvSpPr txBox="1"/>
          <p:nvPr/>
        </p:nvSpPr>
        <p:spPr>
          <a:xfrm>
            <a:off x="640080" y="3401568"/>
            <a:ext cx="10515600" cy="1280160"/>
          </a:xfrm>
          <a:prstGeom prst="rect">
            <a:avLst/>
          </a:prstGeom>
          <a:noFill/>
          <a:ln/>
        </p:spPr>
        <p:txBody>
          <a:bodyPr wrap="square" lIns="0" tIns="0" rIns="0" bIns="0" rtlCol="0" anchor="ctr"/>
          <a:lstStyle/>
          <a:p>
            <a:pPr indent="0" marL="0">
              <a:lnSpc>
                <a:spcPts val="4800"/>
              </a:lnSpc>
              <a:buNone/>
            </a:pPr>
            <a:r>
              <a:rPr lang="en-US" sz="3600" b="1" dirty="0">
                <a:solidFill>
                  <a:srgbClr val="F5A623"/>
                </a:solidFill>
                <a:latin typeface="Cambria" pitchFamily="34" charset="0"/>
                <a:ea typeface="Cambria" pitchFamily="34" charset="-122"/>
                <a:cs typeface="Cambria" pitchFamily="34" charset="-120"/>
              </a:rPr>
              <a:t>because it's the only one you can safely take autonomy away from.</a:t>
            </a:r>
            <a:endParaRPr lang="en-US" sz="3600" dirty="0"/>
          </a:p>
        </p:txBody>
      </p:sp>
      <p:sp>
        <p:nvSpPr>
          <p:cNvPr id="5" name="Shape 3"/>
          <p:cNvSpPr/>
          <p:nvPr/>
        </p:nvSpPr>
        <p:spPr>
          <a:xfrm>
            <a:off x="640080" y="5029200"/>
            <a:ext cx="1371600" cy="32004"/>
          </a:xfrm>
          <a:prstGeom prst="rect">
            <a:avLst/>
          </a:prstGeom>
          <a:solidFill>
            <a:srgbClr val="FFFFFF"/>
          </a:solidFill>
          <a:ln/>
        </p:spPr>
      </p:sp>
      <p:sp>
        <p:nvSpPr>
          <p:cNvPr id="6" name="Text 4"/>
          <p:cNvSpPr txBox="1"/>
          <p:nvPr/>
        </p:nvSpPr>
        <p:spPr>
          <a:xfrm>
            <a:off x="640080" y="5303520"/>
            <a:ext cx="91440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KEEL  ·  Agents on top. Deterministic core underneath.</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KEEL — The Agentic HR Operating System</dc:title>
  <dc:subject>PptxGenJS Presentation</dc:subject>
  <dc:creator>KEEL</dc:creator>
  <cp:lastModifiedBy>KEEL</cp:lastModifiedBy>
  <cp:revision>1</cp:revision>
  <dcterms:created xsi:type="dcterms:W3CDTF">2026-08-28T03:20:56Z</dcterms:created>
  <dcterms:modified xsi:type="dcterms:W3CDTF">2026-08-28T03:20:56Z</dcterms:modified>
</cp:coreProperties>
</file>